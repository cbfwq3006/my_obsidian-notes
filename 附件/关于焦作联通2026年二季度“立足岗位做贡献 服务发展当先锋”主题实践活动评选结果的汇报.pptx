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handoutMasterIdLst>
    <p:handoutMasterId r:id="rId18"/>
  </p:handoutMasterIdLst>
  <p:sldIdLst>
    <p:sldId id="11096347" r:id="rId3"/>
    <p:sldId id="11096921" r:id="rId4"/>
    <p:sldId id="11096955" r:id="rId6"/>
    <p:sldId id="11096956" r:id="rId7"/>
    <p:sldId id="11096957" r:id="rId8"/>
    <p:sldId id="11096958" r:id="rId9"/>
    <p:sldId id="11096959" r:id="rId10"/>
    <p:sldId id="11096963" r:id="rId11"/>
    <p:sldId id="11096964" r:id="rId12"/>
    <p:sldId id="11096965" r:id="rId13"/>
    <p:sldId id="11096966" r:id="rId14"/>
    <p:sldId id="11096967" r:id="rId15"/>
    <p:sldId id="11096968" r:id="rId16"/>
    <p:sldId id="11096904" r:id="rId17"/>
  </p:sldIdLst>
  <p:sldSz cx="12192000" cy="6858000"/>
  <p:notesSz cx="6858000" cy="9144000"/>
  <p:custDataLst>
    <p:tags r:id="rId2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2" userDrawn="1">
          <p15:clr>
            <a:srgbClr val="A4A3A4"/>
          </p15:clr>
        </p15:guide>
        <p15:guide id="2" pos="351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健君" initials="" lastIdx="2" clrIdx="0"/>
  <p:cmAuthor id="1" name="634274005@qq.com" initials="6" lastIdx="1" clrIdx="0"/>
  <p:cmAuthor id="2" name="lenovo" initials="l" lastIdx="1" clrIdx="1"/>
  <p:cmAuthor id="3" name="张向征" initials="牛滢滢" lastIdx="1" clrIdx="2"/>
  <p:cmAuthor id="4" name="王习习" initials="王" lastIdx="2" clrIdx="0"/>
  <p:cmAuthor id="5" name="宋洁然" initials="宋" lastIdx="2" clrIdx="1"/>
  <p:cmAuthor id="191251535" name="沈霄雷" initials="沈" lastIdx="833089" clrIdx="0"/>
  <p:cmAuthor id="6" name="ming qiu" initials="m" lastIdx="17" clrIdx="1"/>
  <p:cmAuthor id="191251536" name="李奇" initials="奇奇" lastIdx="1" clrIdx="23"/>
  <p:cmAuthor id="7" name="1206988966@qq.com" initials="1" lastIdx="1" clrIdx="2"/>
  <p:cmAuthor id="191251537" name="郭 浩" initials="郭" lastIdx="2" clrIdx="25"/>
  <p:cmAuthor id="8" name="姜伟光" initials="姜" lastIdx="1" clrIdx="0"/>
  <p:cmAuthor id="191251538" name="渠沛" initials="渠" lastIdx="1" clrIdx="35"/>
  <p:cmAuthor id="9" name="董 荟" initials="董" lastIdx="1" clrIdx="3"/>
  <p:cmAuthor id="10" name="Admin" initials="A" lastIdx="1" clrIdx="9"/>
  <p:cmAuthor id="11" name="刘 波" initials="刘" lastIdx="0" clrIdx="0"/>
  <p:cmAuthor id="12" name="dd" initials="d" lastIdx="44" clrIdx="11"/>
  <p:cmAuthor id="13" name="Administrator" initials="A" lastIdx="1" clrIdx="12"/>
  <p:cmAuthor id="14" name="刘永国" initials="刘" lastIdx="1" clrIdx="13"/>
  <p:cmAuthor id="15" name="13686" initials="1" lastIdx="1" clrIdx="14"/>
  <p:cmAuthor id="16" name="FAN" initials="F" lastIdx="1" clrIdx="15"/>
  <p:cmAuthor id="17" name="黄黎" initials="黄" lastIdx="1" clrIdx="16"/>
  <p:cmAuthor id="18" name="sx_xuzx" initials="s" lastIdx="26" clrIdx="17"/>
  <p:cmAuthor id="19" name="tplife" initials="t" lastIdx="2" clrIdx="0"/>
  <p:cmAuthor id="20" name="孟 昕" initials="孟" lastIdx="1" clrIdx="18"/>
  <p:cmAuthor id="21" name="楷彦" initials="l" lastIdx="1" clrIdx="20"/>
  <p:cmAuthor id="22" name="wangql56" initials="w" lastIdx="1" clrIdx="21"/>
  <p:cmAuthor id="2000" name="潘永学_zqEffEZJ" initials="authorId_234645887" lastIdx="1115237080" clrIdx="0"/>
  <p:cmAuthor id="23" name="lyf" initials="l" lastIdx="1" clrIdx="22"/>
  <p:cmAuthor id="2001" name="潘 晨" initials="潘" lastIdx="2" clrIdx="18"/>
  <p:cmAuthor id="2002" name="song manyi" initials="sm" lastIdx="4" clrIdx="19"/>
  <p:cmAuthor id="24" name="XiHu木鱼" initials="X" lastIdx="1" clrIdx="23"/>
  <p:cmAuthor id="25" name="朱芳芳" initials="朱" lastIdx="1" clrIdx="24"/>
  <p:cmAuthor id="26" name="王倩" initials="王" lastIdx="1" clrIdx="25"/>
  <p:cmAuthor id="27" name="yl" initials="y" lastIdx="1" clrIdx="26"/>
  <p:cmAuthor id="31" name="Author" initials="A" lastIdx="0" clrIdx="30"/>
  <p:cmAuthor id="75" name="作者" initials="A" lastIdx="0" clrIdx="24"/>
  <p:cmAuthor id="32" name="李楠10047711" initials="李楠10047711" lastIdx="2" clrIdx="31"/>
  <p:cmAuthor id="76" name="go640" initials="g" lastIdx="1" clrIdx="25"/>
  <p:cmAuthor id="77" name="zheng zheng" initials="zz" lastIdx="1" clrIdx="26"/>
  <p:cmAuthor id="78" name="xingwei hou" initials="xh" lastIdx="6" clrIdx="34"/>
  <p:cmAuthor id="35" name="吕娜娜" initials="吕" lastIdx="1" clrIdx="34"/>
  <p:cmAuthor id="39" name="段英英" initials="段" lastIdx="1" clrIdx="38"/>
  <p:cmAuthor id="28" name="IKKI" initials="I" lastIdx="1" clrIdx="0"/>
  <p:cmAuthor id="29" name="於宝泉" initials="於" lastIdx="0" clrIdx="2"/>
  <p:cmAuthor id="33" name="李金夏" initials="李" lastIdx="1" clrIdx="32"/>
  <p:cmAuthor id="34" name="马媛" initials="马" lastIdx="1" clrIdx="33"/>
  <p:cmAuthor id="43" name="liubh" initials="l" lastIdx="1" clrIdx="42"/>
  <p:cmAuthor id="36" name="My" initials="M" lastIdx="1" clrIdx="36"/>
  <p:cmAuthor id="38" name="hami251" initials="h" lastIdx="2" clrIdx="37"/>
  <p:cmAuthor id="41" name="123123" initials="1" lastIdx="2" clrIdx="40"/>
  <p:cmAuthor id="42" name="liu" initials="l" lastIdx="1" clrIdx="41"/>
  <p:cmAuthor id="53" name="牛滢滢" initials="牛" lastIdx="1" clrIdx="52"/>
  <p:cmAuthor id="2003" name="梁鹏" initials="u" lastIdx="1" clrIdx="35"/>
  <p:cmAuthor id="2004" name="范 斌" initials="范" lastIdx="1" clrIdx="36"/>
  <p:cmAuthor id="2005" name="毕邺" initials="党委办公室" lastIdx="2" clrIdx="37"/>
  <p:cmAuthor id="2006" name="jiaru tiger" initials="jt" lastIdx="2" clrIdx="38"/>
  <p:cmAuthor id="30" name="10056791" initials="ZTE" lastIdx="1" clrIdx="29"/>
  <p:cmAuthor id="47" name="雷宇" initials="雷" lastIdx="1" clrIdx="46"/>
  <p:cmAuthor id="691587970" name="小延魔法师" initials="小" lastIdx="1126286" clrIdx="0"/>
  <p:cmAuthor id="1411827" name="黄晓平" initials="黄" lastIdx="0" clrIdx="0"/>
  <p:cmAuthor id="37" name="张燕00036635" initials="张燕00036635" lastIdx="1" clrIdx="37"/>
  <p:cmAuthor id="40" name="10054047" initials="1" lastIdx="1" clrIdx="39"/>
  <p:cmAuthor id="56" name="连艳利" initials="连" lastIdx="1" clrIdx="55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287643681" name="殷格非" initials="殷" lastIdx="2" clrIdx="0"/>
  <p:cmAuthor id="287643682" name="z r" initials="zr" lastIdx="5" clrIdx="12"/>
  <p:cmAuthor id="44" name="10092163" initials="1" lastIdx="2" clrIdx="43"/>
  <p:cmAuthor id="45" name="10157624" initials="1" lastIdx="1" clrIdx="44"/>
  <p:cmAuthor id="46" name="未知的使用者79" initials="" lastIdx="0" clrIdx="1"/>
  <p:cmAuthor id="48" name="未知的使用者80" initials="" lastIdx="0" clrIdx="0"/>
  <p:cmAuthor id="49" name="未知用户51" initials="" lastIdx="1" clrIdx="1"/>
  <p:cmAuthor id="50" name="未知的使用者82" initials="" lastIdx="1" clrIdx="0"/>
  <p:cmAuthor id="52" name="未知的使用者83" initials="" lastIdx="1" clrIdx="0"/>
  <p:cmAuthor id="54" name="未知的使用者84" initials="" lastIdx="1" clrIdx="1"/>
  <p:cmAuthor id="55" name="未知的使用者70" initials="" lastIdx="1" clrIdx="0"/>
  <p:cmAuthor id="57" name="未知的使用者40" initials="" lastIdx="1" clrIdx="0"/>
  <p:cmAuthor id="58" name="未知的使用者87" initials="" lastIdx="1" clrIdx="0"/>
  <p:cmAuthor id="59" name="曾红" initials="" lastIdx="0" clrIdx="0"/>
  <p:cmAuthor id="60" name="未知的使用者90" initials="" lastIdx="8" clrIdx="0"/>
  <p:cmAuthor id="61" name="未知的使用者29" initials="" lastIdx="1" clrIdx="0"/>
  <p:cmAuthor id="62" name="未知的使用者91" initials="" lastIdx="1" clrIdx="0"/>
  <p:cmAuthor id="63" name="未知的使用者98" initials="" lastIdx="1" clrIdx="0"/>
  <p:cmAuthor id="64" name="CHRISYU" initials="" lastIdx="1" clrIdx="0"/>
  <p:cmAuthor id="65" name="未知的使用者113" initials="" lastIdx="1" clrIdx="2"/>
  <p:cmAuthor id="66" name="liucunri" initials="" lastIdx="1" clrIdx="0"/>
  <p:cmAuthor id="67" name="未知用户9" initials="" lastIdx="1" clrIdx="0"/>
  <p:cmAuthor id="68" name="Unknown User48" initials="" lastIdx="8" clrIdx="0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Unknown User50" initials="" lastIdx="1" clrIdx="0"/>
  <p:cmAuthor id="73" name="未知的使用者120" initials="" lastIdx="1" clrIdx="0"/>
  <p:cmAuthor id="74" name="px" initials="" lastIdx="3" clrIdx="1"/>
  <p:cmAuthor id="79" name="微软用户" initials="" lastIdx="1" clrIdx="0"/>
  <p:cmAuthor id="80" name="未知的使用者73" initials="" lastIdx="1" clrIdx="0"/>
  <p:cmAuthor id="81" name="未知的使用者24" initials="" lastIdx="8" clrIdx="0"/>
  <p:cmAuthor id="82" name="未知用户16" initials="" lastIdx="1" clrIdx="0"/>
  <p:cmAuthor id="83" name="Mary Feil-Jacobs" initials="" lastIdx="43" clrIdx="1"/>
  <p:cmAuthor id="84" name="LiuHui" initials="" lastIdx="1" clrIdx="0"/>
  <p:cmAuthor id="85" name="未知的使用者45" initials="" lastIdx="1" clrIdx="0"/>
  <p:cmAuthor id="86" name="王鹏凯" initials="" lastIdx="1" clrIdx="0"/>
  <p:cmAuthor id="87" name="未知用户104" initials="" lastIdx="1" clrIdx="0"/>
  <p:cmAuthor id="88" name="未知用户5" initials="" lastIdx="1" clrIdx="0"/>
  <p:cmAuthor id="89" name="未知的使用者10" initials="" lastIdx="3" clrIdx="1"/>
  <p:cmAuthor id="90" name="未知的使用者93" initials="" lastIdx="1" clrIdx="1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1" name="未知用户19" initials="" lastIdx="1" clrIdx="0"/>
  <p:cmAuthor id="122" name="周宏達JerryChou" initials="" lastIdx="6" clrIdx="2"/>
  <p:cmAuthor id="124" name="未知用户7" initials="" lastIdx="1" clrIdx="0"/>
  <p:cmAuthor id="125" name="未知的使用者56" initials="" lastIdx="1" clrIdx="0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未知用户6" initials="" lastIdx="8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168" name="未知用户116" initials="" lastIdx="1" clrIdx="1"/>
  <p:cmAuthor id="691587972" name="li hui" initials="lh" lastIdx="1" clrIdx="50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2" name="Daniel Wuu" initials="" lastIdx="1" clrIdx="0"/>
  <p:cmAuthor id="213" name="未知用户56" initials="" lastIdx="1" clrIdx="0"/>
  <p:cmAuthor id="214" name="未知的使用者14" initials="" lastIdx="2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1411828" name="徐琳00159163" initials="徐琳00159163" lastIdx="1" clrIdx="37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691587971" name="徐 安柯" initials="徐" lastIdx="2" clrIdx="41"/>
  <p:cmAuthor id="691587973" name="王统" initials="王" lastIdx="1" clrIdx="69158797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BF2F2"/>
    <a:srgbClr val="F2F2F2"/>
    <a:srgbClr val="E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63" autoAdjust="0"/>
    <p:restoredTop sz="94460" autoAdjust="0"/>
  </p:normalViewPr>
  <p:slideViewPr>
    <p:cSldViewPr snapToGrid="0" showGuides="1">
      <p:cViewPr>
        <p:scale>
          <a:sx n="120" d="100"/>
          <a:sy n="120" d="100"/>
        </p:scale>
        <p:origin x="520" y="-24"/>
      </p:cViewPr>
      <p:guideLst>
        <p:guide orient="horz" pos="1612"/>
        <p:guide pos="35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16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fld id="{CB09E585-6508-421B-823F-707C309E9C95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二级</a:t>
            </a:r>
            <a:endParaRPr lang="zh-CN" altLang="en-US" noProof="0"/>
          </a:p>
          <a:p>
            <a:pPr lvl="2"/>
            <a:r>
              <a:rPr lang="zh-CN" altLang="en-US" noProof="0"/>
              <a:t>三级</a:t>
            </a:r>
            <a:endParaRPr lang="zh-CN" altLang="en-US" noProof="0"/>
          </a:p>
          <a:p>
            <a:pPr lvl="3"/>
            <a:r>
              <a:rPr lang="zh-CN" altLang="en-US" noProof="0"/>
              <a:t>四级</a:t>
            </a:r>
            <a:endParaRPr lang="zh-CN" altLang="en-US" noProof="0"/>
          </a:p>
          <a:p>
            <a:pPr lvl="4"/>
            <a:r>
              <a:rPr lang="zh-CN" altLang="en-US" noProof="0"/>
              <a:t>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fld id="{B4373238-B3F0-417C-A8EF-E5DFE22F894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image" Target="../media/image9.png"/><Relationship Id="rId4" Type="http://schemas.openxmlformats.org/officeDocument/2006/relationships/tags" Target="../tags/tag1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E9A4D-03E4-4FC1-AF59-73DB79BAA37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89D87E-2AF4-4B16-B343-53F5018C575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BE4395-7E9D-4075-96D0-A74AF520B0C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9EB6FE-583E-4A9B-B2F5-F8B9279F362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FDAF01-F376-4D50-8B3E-2C22CD1F1D8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110304-0B4C-47A5-9B21-D5BC10642A0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B3061B-50E1-429F-91A5-B21343D397A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235CDC-A263-4CE6-AF86-85455FD1207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4F67A-C533-4560-8CAA-84A7276AED1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92AF18-D336-4E9F-8570-B3CA760EBDF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78FD3F-D7FA-4D54-ABE2-BFA441A4FB3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冬奥联通版范例一-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"/>
          <p:cNvGrpSpPr/>
          <p:nvPr userDrawn="1"/>
        </p:nvGrpSpPr>
        <p:grpSpPr bwMode="auto">
          <a:xfrm>
            <a:off x="6350" y="123825"/>
            <a:ext cx="12185650" cy="876300"/>
            <a:chOff x="9" y="196"/>
            <a:chExt cx="19190" cy="1378"/>
          </a:xfrm>
        </p:grpSpPr>
        <p:pic>
          <p:nvPicPr>
            <p:cNvPr id="13" name="图片 2" descr="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" y="196"/>
              <a:ext cx="14381" cy="1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图片 4" descr="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" y="196"/>
              <a:ext cx="14381" cy="1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文本框 3"/>
          <p:cNvSpPr txBox="1">
            <a:spLocks noChangeArrowheads="1"/>
          </p:cNvSpPr>
          <p:nvPr userDrawn="1"/>
        </p:nvSpPr>
        <p:spPr bwMode="auto">
          <a:xfrm>
            <a:off x="6350" y="6561138"/>
            <a:ext cx="5014913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IT</a:t>
            </a:r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系统五经六脉疏通，数据血液千场万景贯通，敏捷赋能三个一切畅通</a:t>
            </a:r>
            <a:endParaRPr lang="zh-CN" altLang="en-US" sz="120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8581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624421" y="205740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8582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24417" y="431760"/>
            <a:ext cx="3168248" cy="432564"/>
          </a:xfr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858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624421" y="258595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8584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624421" y="311450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8585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624421" y="360495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8586" name="Text Placeholder 17"/>
          <p:cNvSpPr>
            <a:spLocks noGrp="1"/>
          </p:cNvSpPr>
          <p:nvPr>
            <p:ph type="body" sz="quarter" idx="16"/>
          </p:nvPr>
        </p:nvSpPr>
        <p:spPr>
          <a:xfrm>
            <a:off x="2561516" y="205740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1048587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2561516" y="258595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1048588" name="Text Placeholder 17"/>
          <p:cNvSpPr>
            <a:spLocks noGrp="1"/>
          </p:cNvSpPr>
          <p:nvPr>
            <p:ph type="body" sz="quarter" idx="18"/>
          </p:nvPr>
        </p:nvSpPr>
        <p:spPr>
          <a:xfrm>
            <a:off x="2561512" y="311450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1048589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2561512" y="360495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1048590" name="Text Placeholder 23"/>
          <p:cNvSpPr>
            <a:spLocks noGrp="1"/>
          </p:cNvSpPr>
          <p:nvPr>
            <p:ph type="body" sz="quarter" idx="20"/>
          </p:nvPr>
        </p:nvSpPr>
        <p:spPr>
          <a:xfrm>
            <a:off x="9956619" y="6480452"/>
            <a:ext cx="1536700" cy="80686"/>
          </a:xfrm>
        </p:spPr>
        <p:txBody>
          <a:bodyPr lIns="0" tIns="0" rIns="0" bIns="0">
            <a:normAutofit/>
          </a:bodyPr>
          <a:lstStyle>
            <a:lvl1pPr marL="0" indent="0" algn="r">
              <a:buNone/>
              <a:defRPr sz="85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 err="1"/>
              <a:t>单击此处编辑母版文本样式</a:t>
            </a:r>
            <a:endParaRPr lang="zh-CN" altLang="en-US" dirty="0" err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冬奥联通版范例一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0" y="390998"/>
            <a:ext cx="12192634" cy="519102"/>
            <a:chOff x="0" y="2301"/>
            <a:chExt cx="19227" cy="737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0" y="2960"/>
              <a:ext cx="19227" cy="28"/>
            </a:xfrm>
            <a:prstGeom prst="line">
              <a:avLst/>
            </a:prstGeom>
            <a:ln w="60325">
              <a:solidFill>
                <a:srgbClr val="E8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5411" y="2301"/>
              <a:ext cx="2695" cy="737"/>
            </a:xfrm>
            <a:prstGeom prst="rect">
              <a:avLst/>
            </a:prstGeom>
          </p:spPr>
        </p:pic>
      </p:grpSp>
      <p:sp>
        <p:nvSpPr>
          <p:cNvPr id="11" name="矩形 10"/>
          <p:cNvSpPr/>
          <p:nvPr userDrawn="1"/>
        </p:nvSpPr>
        <p:spPr>
          <a:xfrm>
            <a:off x="0" y="0"/>
            <a:ext cx="1181735" cy="855345"/>
          </a:xfrm>
          <a:prstGeom prst="rect">
            <a:avLst/>
          </a:prstGeom>
          <a:solidFill>
            <a:srgbClr val="E80000"/>
          </a:solidFill>
          <a:ln>
            <a:noFill/>
          </a:ln>
        </p:spPr>
        <p:txBody>
          <a:bodyPr wrap="square" anchor="ctr" anchorCtr="1">
            <a:noAutofit/>
          </a:bodyPr>
          <a:lstStyle/>
          <a:p>
            <a:pPr algn="l" fontAlgn="b"/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1"/>
          <p:cNvSpPr txBox="1"/>
          <p:nvPr userDrawn="1"/>
        </p:nvSpPr>
        <p:spPr bwMode="auto">
          <a:xfrm>
            <a:off x="11760183" y="6581001"/>
            <a:ext cx="4315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ctr" anchorCtr="0" compatLnSpc="1">
            <a:spAutoFit/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100" b="1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4572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9040C6-963D-4B80-83DC-4E43C55D1E51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冬奥联通版范例一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0" y="230408"/>
            <a:ext cx="12192634" cy="681101"/>
            <a:chOff x="0" y="2073"/>
            <a:chExt cx="19227" cy="967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0" y="2960"/>
              <a:ext cx="19227" cy="28"/>
            </a:xfrm>
            <a:prstGeom prst="line">
              <a:avLst/>
            </a:prstGeom>
            <a:ln w="60325">
              <a:solidFill>
                <a:srgbClr val="E8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5411" y="2073"/>
              <a:ext cx="3260" cy="967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开始页">
    <p:bg>
      <p:bgPr>
        <a:solidFill>
          <a:srgbClr val="E60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联通版-分隔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635" y="0"/>
            <a:ext cx="12305030" cy="6882765"/>
          </a:xfrm>
          <a:prstGeom prst="rect">
            <a:avLst/>
          </a:prstGeom>
          <a:solidFill>
            <a:srgbClr val="F1EB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1168400" y="3333717"/>
            <a:ext cx="10515600" cy="277584"/>
          </a:xfrm>
        </p:spPr>
        <p:txBody>
          <a:bodyPr lIns="0" tIns="0" rIns="0" bIns="0">
            <a:normAutofit/>
          </a:bodyPr>
          <a:lstStyle>
            <a:lvl1pPr marL="0" indent="0" algn="r"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部分标题</a:t>
            </a:r>
            <a:endParaRPr lang="en-US" dirty="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168400" y="1812930"/>
            <a:ext cx="10515600" cy="1325563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buNone/>
              <a:defRPr sz="32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第一部分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联通版范例一-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365" cy="87503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-635" y="0"/>
            <a:ext cx="1960880" cy="875030"/>
          </a:xfrm>
          <a:prstGeom prst="rect">
            <a:avLst/>
          </a:prstGeom>
          <a:solidFill>
            <a:srgbClr val="D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pitchFamily="34" charset="-122"/>
            </a:endParaRPr>
          </a:p>
        </p:txBody>
      </p:sp>
      <p:pic>
        <p:nvPicPr>
          <p:cNvPr id="4" name="图片 3" descr="7"/>
          <p:cNvPicPr>
            <a:picLocks noChangeAspect="1"/>
          </p:cNvPicPr>
          <p:nvPr userDrawn="1"/>
        </p:nvPicPr>
        <p:blipFill>
          <a:blip r:embed="rId2" cstate="print"/>
          <a:srcRect r="28326"/>
          <a:stretch>
            <a:fillRect/>
          </a:stretch>
        </p:blipFill>
        <p:spPr>
          <a:xfrm>
            <a:off x="5549265" y="0"/>
            <a:ext cx="5989955" cy="8750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26065" y="-635"/>
            <a:ext cx="1639570" cy="8902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冬奥联通版范例一-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6"/>
          <p:cNvGrpSpPr/>
          <p:nvPr userDrawn="1"/>
        </p:nvGrpSpPr>
        <p:grpSpPr bwMode="auto">
          <a:xfrm>
            <a:off x="6350" y="123825"/>
            <a:ext cx="12185650" cy="876300"/>
            <a:chOff x="9" y="196"/>
            <a:chExt cx="19190" cy="1378"/>
          </a:xfrm>
        </p:grpSpPr>
        <p:pic>
          <p:nvPicPr>
            <p:cNvPr id="20" name="图片 7" descr="7"/>
            <p:cNvPicPr>
              <a:picLocks noChangeAspect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" y="196"/>
              <a:ext cx="14381" cy="1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" name="图片 8" descr="7"/>
            <p:cNvPicPr>
              <a:picLocks noChangeAspect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819" y="196"/>
              <a:ext cx="14381" cy="1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624421" y="205740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24417" y="431760"/>
            <a:ext cx="3168248" cy="432564"/>
          </a:xfr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624421" y="258595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624421" y="311450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624421" y="360495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6"/>
          </p:nvPr>
        </p:nvSpPr>
        <p:spPr>
          <a:xfrm>
            <a:off x="2561516" y="205740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2561516" y="258595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8"/>
          </p:nvPr>
        </p:nvSpPr>
        <p:spPr>
          <a:xfrm>
            <a:off x="2561512" y="311450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2561512" y="360495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冬奥联通版范例一-内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/>
          <p:nvPr userDrawn="1"/>
        </p:nvGrpSpPr>
        <p:grpSpPr bwMode="auto">
          <a:xfrm>
            <a:off x="6350" y="123825"/>
            <a:ext cx="12185650" cy="876300"/>
            <a:chOff x="9" y="196"/>
            <a:chExt cx="19190" cy="1378"/>
          </a:xfrm>
        </p:grpSpPr>
        <p:pic>
          <p:nvPicPr>
            <p:cNvPr id="3" name="图片 7" descr="7"/>
            <p:cNvPicPr>
              <a:picLocks noChangeAspect="1"/>
            </p:cNvPicPr>
            <p:nvPr userDrawn="1"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9" y="196"/>
              <a:ext cx="14381" cy="1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" name="图片 8" descr="7"/>
            <p:cNvPicPr>
              <a:picLocks noChangeAspect="1"/>
            </p:cNvPicPr>
            <p:nvPr userDrawn="1"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4819" y="196"/>
              <a:ext cx="14381" cy="1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" name="灯片编号占位符 2"/>
          <p:cNvSpPr txBox="1"/>
          <p:nvPr userDrawn="1"/>
        </p:nvSpPr>
        <p:spPr>
          <a:xfrm>
            <a:off x="11568113" y="6453188"/>
            <a:ext cx="460375" cy="365125"/>
          </a:xfrm>
          <a:prstGeom prst="rect">
            <a:avLst/>
          </a:prstGeom>
        </p:spPr>
        <p:txBody>
          <a:bodyPr lIns="91423" tIns="45714" rIns="91423" bIns="45714" anchor="ctr"/>
          <a:lstStyle/>
          <a:p>
            <a:pPr algn="ctr" eaLnBrk="1" hangingPunct="1"/>
            <a:fld id="{B2C8CAFF-DAB8-4B5F-A162-D42FDBCA511F}" type="slidenum">
              <a:rPr kumimoji="1" lang="zh-CN" altLang="en-US" sz="11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en-US" altLang="zh-CN" sz="11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任意多边形: 形状 13"/>
          <p:cNvSpPr/>
          <p:nvPr userDrawn="1"/>
        </p:nvSpPr>
        <p:spPr>
          <a:xfrm>
            <a:off x="0" y="0"/>
            <a:ext cx="1250950" cy="1000125"/>
          </a:xfrm>
          <a:custGeom>
            <a:avLst/>
            <a:gdLst>
              <a:gd name="connsiteX0" fmla="*/ 0 w 890016"/>
              <a:gd name="connsiteY0" fmla="*/ 0 h 630947"/>
              <a:gd name="connsiteX1" fmla="*/ 622341 w 890016"/>
              <a:gd name="connsiteY1" fmla="*/ 0 h 630947"/>
              <a:gd name="connsiteX2" fmla="*/ 890016 w 890016"/>
              <a:gd name="connsiteY2" fmla="*/ 630947 h 630947"/>
              <a:gd name="connsiteX3" fmla="*/ 168896 w 890016"/>
              <a:gd name="connsiteY3" fmla="*/ 630947 h 630947"/>
              <a:gd name="connsiteX4" fmla="*/ 0 w 890016"/>
              <a:gd name="connsiteY4" fmla="*/ 630947 h 63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16" h="630947">
                <a:moveTo>
                  <a:pt x="0" y="0"/>
                </a:moveTo>
                <a:lnTo>
                  <a:pt x="622341" y="0"/>
                </a:lnTo>
                <a:lnTo>
                  <a:pt x="890016" y="630947"/>
                </a:lnTo>
                <a:lnTo>
                  <a:pt x="168896" y="630947"/>
                </a:lnTo>
                <a:lnTo>
                  <a:pt x="0" y="630947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联通PPT模板 1_画板 1 副本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985" y="0"/>
            <a:ext cx="12198985" cy="6859231"/>
          </a:xfrm>
          <a:prstGeom prst="rect">
            <a:avLst/>
          </a:prstGeom>
        </p:spPr>
      </p:pic>
      <p:sp>
        <p:nvSpPr>
          <p:cNvPr id="8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3321050" y="2284413"/>
            <a:ext cx="5549900" cy="82708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dist"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联通工作汇报标题文字</a:t>
            </a:r>
            <a:endParaRPr lang="zh-CN" altLang="en-US" dirty="0"/>
          </a:p>
        </p:txBody>
      </p:sp>
      <p:sp>
        <p:nvSpPr>
          <p:cNvPr id="9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3321050" y="3203576"/>
            <a:ext cx="5549900" cy="58896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部门名称</a:t>
            </a:r>
            <a:endParaRPr lang="zh-CN" altLang="en-US" dirty="0"/>
          </a:p>
        </p:txBody>
      </p:sp>
      <p:sp>
        <p:nvSpPr>
          <p:cNvPr id="10" name="文本占位符 17"/>
          <p:cNvSpPr>
            <a:spLocks noGrp="1"/>
          </p:cNvSpPr>
          <p:nvPr>
            <p:ph type="body" sz="quarter" idx="15" hasCustomPrompt="1"/>
          </p:nvPr>
        </p:nvSpPr>
        <p:spPr>
          <a:xfrm>
            <a:off x="3321050" y="4203700"/>
            <a:ext cx="554990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2022.5.6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56" y="278267"/>
            <a:ext cx="2819794" cy="1076475"/>
          </a:xfrm>
          <a:prstGeom prst="rect">
            <a:avLst/>
          </a:prstGeom>
        </p:spPr>
      </p:pic>
      <p:pic>
        <p:nvPicPr>
          <p:cNvPr id="14" name="图片 13" descr="2022新logo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screen"/>
          <a:srcRect/>
          <a:stretch>
            <a:fillRect/>
          </a:stretch>
        </p:blipFill>
        <p:spPr>
          <a:xfrm>
            <a:off x="9186726" y="132991"/>
            <a:ext cx="2401366" cy="1199595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462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-27940" y="1942465"/>
            <a:ext cx="12228830" cy="284988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  <a:prstDash val="dash"/>
          </a:ln>
        </p:spPr>
        <p:txBody>
          <a:bodyPr wrap="square" rtlCol="0">
            <a:noAutofit/>
          </a:bodyPr>
          <a:p>
            <a:pPr marL="0" indent="0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SzTx/>
              <a:buFont typeface="微软雅黑" panose="020B0503020204020204" pitchFamily="34" charset="-122"/>
              <a:buNone/>
            </a:pPr>
            <a:endParaRPr lang="zh-CN" altLang="en-US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67927" y="1591818"/>
            <a:ext cx="7459980" cy="390144"/>
          </a:xfrm>
        </p:spPr>
        <p:txBody>
          <a:bodyPr vert="horz" rtlCol="0">
            <a:normAutofit/>
          </a:bodyPr>
          <a:lstStyle>
            <a:lvl1pPr marL="0" marR="0" algn="l" defTabSz="82296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1680" b="1" i="0" u="none" strike="noStrike" kern="1200" cap="none" spc="0" normalizeH="0" baseline="0" noProof="1" smtClean="0">
                <a:solidFill>
                  <a:schemeClr val="tx1"/>
                </a:solidFill>
                <a:latin typeface="+mj-lt"/>
                <a:ea typeface="+mj-ea"/>
                <a:cs typeface="微软雅黑" panose="020B0503020204020204" pitchFamily="34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69046" y="181510"/>
            <a:ext cx="3026652" cy="684810"/>
            <a:chOff x="264872" y="205272"/>
            <a:chExt cx="3026652" cy="684810"/>
          </a:xfrm>
        </p:grpSpPr>
        <p:grpSp>
          <p:nvGrpSpPr>
            <p:cNvPr id="10" name="组合 9"/>
            <p:cNvGrpSpPr/>
            <p:nvPr userDrawn="1"/>
          </p:nvGrpSpPr>
          <p:grpSpPr>
            <a:xfrm>
              <a:off x="264872" y="205272"/>
              <a:ext cx="618188" cy="684810"/>
              <a:chOff x="854419" y="2169592"/>
              <a:chExt cx="1823073" cy="2019545"/>
            </a:xfrm>
          </p:grpSpPr>
          <p:sp>
            <p:nvSpPr>
              <p:cNvPr id="11" name="矩形 10"/>
              <p:cNvSpPr/>
              <p:nvPr userDrawn="1"/>
            </p:nvSpPr>
            <p:spPr>
              <a:xfrm>
                <a:off x="1016198" y="2169592"/>
                <a:ext cx="1536200" cy="201954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  <a:cs typeface="微软雅黑" panose="020B0503020204020204" pitchFamily="34" charset="-122"/>
                </a:endParaRPr>
              </a:p>
            </p:txBody>
          </p:sp>
          <p:sp>
            <p:nvSpPr>
              <p:cNvPr id="12" name="矩形 11"/>
              <p:cNvSpPr/>
              <p:nvPr userDrawn="1"/>
            </p:nvSpPr>
            <p:spPr>
              <a:xfrm>
                <a:off x="854419" y="2372660"/>
                <a:ext cx="1823073" cy="1599007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  <a:cs typeface="微软雅黑" panose="020B0503020204020204" pitchFamily="34" charset="-122"/>
                </a:endParaRPr>
              </a:p>
            </p:txBody>
          </p:sp>
        </p:grpSp>
        <p:sp>
          <p:nvSpPr>
            <p:cNvPr id="13" name="矩形 12"/>
            <p:cNvSpPr/>
            <p:nvPr userDrawn="1"/>
          </p:nvSpPr>
          <p:spPr>
            <a:xfrm>
              <a:off x="918251" y="288022"/>
              <a:ext cx="2373273" cy="52339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/>
            <a:p>
              <a:pPr>
                <a:lnSpc>
                  <a:spcPts val="6000"/>
                </a:lnSpc>
                <a:spcBef>
                  <a:spcPct val="0"/>
                </a:spcBef>
              </a:pPr>
              <a:r>
                <a:rPr lang="zh-CN" altLang="en-US" sz="3200" b="1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手机</a:t>
              </a:r>
              <a:endParaRPr lang="zh-CN" altLang="en-US" sz="3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6" name="直接连接符 5"/>
            <p:cNvCxnSpPr/>
            <p:nvPr userDrawn="1"/>
          </p:nvCxnSpPr>
          <p:spPr>
            <a:xfrm>
              <a:off x="2057591" y="274131"/>
              <a:ext cx="0" cy="52339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fld id="{EEEDB396-17E6-4C0F-A528-FA69C75CDB4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slide" Target="slide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3321050" y="5110480"/>
            <a:ext cx="5549900" cy="688340"/>
          </a:xfrm>
        </p:spPr>
        <p:txBody>
          <a:bodyPr/>
          <a:lstStyle/>
          <a:p>
            <a:r>
              <a:rPr lang="zh-CN" altLang="en-US" sz="1800" dirty="0">
                <a:solidFill>
                  <a:schemeClr val="tx1"/>
                </a:solidFill>
              </a:rPr>
              <a:t>党建工作部 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1800" b="0" dirty="0">
                <a:solidFill>
                  <a:schemeClr val="tx1"/>
                </a:solidFill>
              </a:rPr>
              <a:t>2026</a:t>
            </a:r>
            <a:r>
              <a:rPr lang="zh-CN" altLang="en-US" sz="1800" b="0" dirty="0">
                <a:solidFill>
                  <a:schemeClr val="tx1"/>
                </a:solidFill>
              </a:rPr>
              <a:t>年</a:t>
            </a:r>
            <a:r>
              <a:rPr lang="en-US" altLang="zh-CN" sz="1800" b="0" dirty="0">
                <a:solidFill>
                  <a:schemeClr val="tx1"/>
                </a:solidFill>
              </a:rPr>
              <a:t> 7</a:t>
            </a:r>
            <a:r>
              <a:rPr lang="zh-CN" altLang="en-US" sz="1800" b="0" dirty="0">
                <a:solidFill>
                  <a:schemeClr val="tx1"/>
                </a:solidFill>
              </a:rPr>
              <a:t>月</a:t>
            </a:r>
            <a:endParaRPr lang="zh-CN" altLang="en-US" sz="1800" b="0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4345" y="2426970"/>
            <a:ext cx="11337290" cy="150939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关于焦作联通</a:t>
            </a:r>
            <a:r>
              <a:rPr lang="en-US" altLang="zh-CN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2026</a:t>
            </a:r>
            <a:r>
              <a:rPr lang="zh-CN" alt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年二</a:t>
            </a:r>
            <a:r>
              <a:rPr lang="zh-CN" alt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季度</a:t>
            </a:r>
            <a:r>
              <a:rPr lang="en-US" altLang="zh-CN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立足岗位做贡献、服务发展当先锋</a:t>
            </a:r>
            <a:r>
              <a:rPr lang="en-US" altLang="zh-CN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endParaRPr lang="en-US" altLang="zh-CN" sz="2800" b="1" dirty="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主题实践活动评选结果的汇报</a:t>
            </a:r>
            <a:endParaRPr lang="zh-CN" altLang="en-US" sz="2800" b="1" dirty="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/>
          <p:nvPr>
            <p:custDataLst>
              <p:tags r:id="rId1"/>
            </p:custDataLst>
          </p:nvPr>
        </p:nvSpPr>
        <p:spPr>
          <a:xfrm>
            <a:off x="1393825" y="261620"/>
            <a:ext cx="8423910" cy="5029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工作背景</a:t>
            </a:r>
            <a:endParaRPr kumimoji="1" lang="zh-CN" sz="28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>
            <a:hlinkClick r:id="rId2" action="ppaction://hlinksldjump"/>
          </p:cNvPr>
          <p:cNvSpPr txBox="1"/>
          <p:nvPr/>
        </p:nvSpPr>
        <p:spPr>
          <a:xfrm>
            <a:off x="528320" y="1031875"/>
            <a:ext cx="11147425" cy="114173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285750" marR="0" lvl="1" indent="-285750" algn="l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0000"/>
              </a:buClr>
              <a:buSzTx/>
              <a:buFont typeface="Wingdings" panose="05000000000000000000" charset="0"/>
              <a:buChar char="n"/>
              <a:defRPr/>
            </a:pP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为深入学习贯彻党的二十届三中全会精神，落实融合创新战略，引导广大党员立足岗位、创先争优，充分发挥引领示范作用，为推动公司高质量发展贡献力量，</a:t>
            </a:r>
            <a:r>
              <a:rPr kumimoji="1"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市公司下发了《关于开展</a:t>
            </a:r>
            <a:r>
              <a:rPr kumimoji="1"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kumimoji="1"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立足岗位做贡献、服务发展当先锋</a:t>
            </a:r>
            <a:r>
              <a:rPr kumimoji="1"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kumimoji="1"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主题实践活动的通知》（焦作联通党建办〔</a:t>
            </a:r>
            <a:r>
              <a:rPr kumimoji="1"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kumimoji="1"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〕</a:t>
            </a:r>
            <a:r>
              <a:rPr kumimoji="1"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1"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号）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单圆角矩形 2"/>
          <p:cNvSpPr/>
          <p:nvPr/>
        </p:nvSpPr>
        <p:spPr>
          <a:xfrm>
            <a:off x="1725295" y="3088640"/>
            <a:ext cx="2773680" cy="522605"/>
          </a:xfrm>
          <a:prstGeom prst="round1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 anchorCtr="1">
            <a:noAutofit/>
          </a:bodyPr>
          <a:p>
            <a:pPr algn="l" fontAlgn="b"/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党员先锋岗申报</a:t>
            </a:r>
            <a:r>
              <a: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75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</a:t>
            </a:r>
            <a:endParaRPr lang="zh-CN" altLang="en-US" sz="1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左大括号 9"/>
          <p:cNvSpPr/>
          <p:nvPr/>
        </p:nvSpPr>
        <p:spPr>
          <a:xfrm>
            <a:off x="4719955" y="2920365"/>
            <a:ext cx="142240" cy="1098550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970780" y="2752090"/>
            <a:ext cx="4846955" cy="146113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noAutofit/>
          </a:bodyPr>
          <a:p>
            <a:pPr marL="0" indent="0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SzTx/>
              <a:buFont typeface="微软雅黑" panose="020B0503020204020204" pitchFamily="34" charset="-122"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职能服务党员先锋岗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人：评选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</a:t>
            </a:r>
            <a:endParaRPr lang="zh-CN" altLang="en-US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SzTx/>
              <a:buFont typeface="微软雅黑" panose="020B0503020204020204" pitchFamily="34" charset="-122"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技术支撑党员先锋岗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26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人：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评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14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</a:t>
            </a:r>
            <a:endParaRPr lang="zh-CN" altLang="en-US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SzTx/>
              <a:buFont typeface="微软雅黑" panose="020B0503020204020204" pitchFamily="34" charset="-122"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业务发展党员先锋岗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29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人：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评选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</a:t>
            </a:r>
            <a:endParaRPr lang="zh-CN" altLang="en-US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96290" y="2259330"/>
            <a:ext cx="10756900" cy="4699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 anchorCtr="1">
            <a:noAutofit/>
          </a:bodyPr>
          <a:p>
            <a:pPr algn="l" fontAlgn="b"/>
            <a:r>
              <a:rPr lang="zh-CN" altLang="en-US" sz="18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一、党员先锋岗评定</a:t>
            </a:r>
            <a:endParaRPr lang="zh-CN" altLang="en-US" sz="1800" b="1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17550" y="4385945"/>
            <a:ext cx="10756900" cy="4699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 anchorCtr="1">
            <a:noAutofit/>
          </a:bodyPr>
          <a:p>
            <a:pPr algn="l" fontAlgn="b"/>
            <a:r>
              <a:rPr lang="zh-CN" altLang="en-US" sz="18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二、党员先锋队</a:t>
            </a:r>
            <a:endParaRPr lang="zh-CN" altLang="en-US" sz="1800" b="1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AutoShape 3"/>
          <p:cNvSpPr/>
          <p:nvPr>
            <p:custDataLst>
              <p:tags r:id="rId3"/>
            </p:custDataLst>
          </p:nvPr>
        </p:nvSpPr>
        <p:spPr>
          <a:xfrm>
            <a:off x="795655" y="4980305"/>
            <a:ext cx="10679430" cy="1112520"/>
          </a:xfrm>
          <a:prstGeom prst="roundRect">
            <a:avLst>
              <a:gd name="adj" fmla="val 9080"/>
            </a:avLst>
          </a:prstGeom>
          <a:solidFill>
            <a:srgbClr val="B40607">
              <a:alpha val="5000"/>
            </a:srgbClr>
          </a:solidFill>
          <a:ln w="9525">
            <a:noFill/>
          </a:ln>
        </p:spPr>
        <p:txBody>
          <a:bodyPr vert="horz" wrap="square" lIns="91440" tIns="45720" rIns="91440" bIns="45720" rtlCol="0" anchor="t"/>
          <a:p>
            <a:pPr marL="0" indent="0" algn="l">
              <a:lnSpc>
                <a:spcPct val="100000"/>
              </a:lnSpc>
              <a:buNone/>
            </a:pPr>
            <a:endParaRPr 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TextBox 5"/>
          <p:cNvSpPr/>
          <p:nvPr>
            <p:custDataLst>
              <p:tags r:id="rId4"/>
            </p:custDataLst>
          </p:nvPr>
        </p:nvSpPr>
        <p:spPr>
          <a:xfrm>
            <a:off x="795655" y="5028565"/>
            <a:ext cx="10421620" cy="850265"/>
          </a:xfrm>
          <a:prstGeom prst="rect">
            <a:avLst/>
          </a:prstGeom>
          <a:noFill/>
        </p:spPr>
        <p:txBody>
          <a:bodyPr vert="horz" wrap="square" lIns="123825" tIns="123825" rIns="57150" bIns="123825" rtlCol="0" anchor="t"/>
          <a:p>
            <a:pPr marL="285750" indent="-285750" algn="l" latinLnBrk="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市场线成立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支先锋队、政企线成立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支先锋队、网络线组建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支先锋队，各从成员单位中根据考核排名选出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先进党组织，共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14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个。各激励党建经费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1000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元。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/>
          <p:nvPr>
            <p:custDataLst>
              <p:tags r:id="rId1"/>
            </p:custDataLst>
          </p:nvPr>
        </p:nvSpPr>
        <p:spPr>
          <a:xfrm>
            <a:off x="1393825" y="261620"/>
            <a:ext cx="8423910" cy="5029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党员先锋岗评定</a:t>
            </a:r>
            <a:endParaRPr kumimoji="1" lang="zh-CN" altLang="en-US" sz="28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4085" y="1118870"/>
            <a:ext cx="7075170" cy="33718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>
            <a:spAutoFit/>
          </a:bodyPr>
          <a:p>
            <a:pPr algn="l" fontAlgn="ctr"/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技术支撑党员先锋岗：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26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人选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14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3246755" y="1597533"/>
          <a:ext cx="6446520" cy="5120640"/>
        </p:xfrm>
        <a:graphic>
          <a:graphicData uri="http://schemas.openxmlformats.org/drawingml/2006/table">
            <a:tbl>
              <a:tblPr/>
              <a:tblGrid>
                <a:gridCol w="485140"/>
                <a:gridCol w="1333500"/>
                <a:gridCol w="848995"/>
                <a:gridCol w="1697355"/>
                <a:gridCol w="605790"/>
                <a:gridCol w="727710"/>
              </a:tblGrid>
              <a:tr h="161925">
                <a:tc gridSpan="6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26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申报人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创建岗位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得分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是否评定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企业客户营销中心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马诗琪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96.5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数字化与稽核中心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李中华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网络运营中心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邱莹莹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网络运营中心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明伟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99.7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机动通信局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杨光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机动通信局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马壮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机动通信局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詹利波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交付中心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朱敏璋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交付中心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赵勇明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薛培延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董茜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程亚浦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武陟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李祖光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武陟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常佳佳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武陟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朱琛星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沁阳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周利华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沁阳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文玉庆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博爱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孙卫东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孟州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汤立峰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孟州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冯永江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孟州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周泽艺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修武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范东东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解放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范川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解放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李秀丽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马村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徐江华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温县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刘勇军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技术支撑党员先锋岗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/>
          <p:nvPr>
            <p:custDataLst>
              <p:tags r:id="rId1"/>
            </p:custDataLst>
          </p:nvPr>
        </p:nvSpPr>
        <p:spPr>
          <a:xfrm>
            <a:off x="1393825" y="261620"/>
            <a:ext cx="8423910" cy="5029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党员先锋岗评定</a:t>
            </a:r>
            <a:endParaRPr kumimoji="1" lang="zh-CN" altLang="en-US" sz="28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4085" y="1118870"/>
            <a:ext cx="8121015" cy="33718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>
            <a:spAutoFit/>
          </a:bodyPr>
          <a:p>
            <a:pPr algn="l" fontAlgn="ctr"/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职能服务党员先锋岗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人选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2755900" y="1908810"/>
          <a:ext cx="6446520" cy="4023360"/>
        </p:xfrm>
        <a:graphic>
          <a:graphicData uri="http://schemas.openxmlformats.org/drawingml/2006/table">
            <a:tbl>
              <a:tblPr/>
              <a:tblGrid>
                <a:gridCol w="548640"/>
                <a:gridCol w="1508760"/>
                <a:gridCol w="960120"/>
                <a:gridCol w="1920240"/>
                <a:gridCol w="685800"/>
                <a:gridCol w="822960"/>
              </a:tblGrid>
              <a:tr h="182880">
                <a:tc gridSpan="6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人）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申报人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创建岗位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得分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是否评定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政企客户事业部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姬晶晶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政企客户事业部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陈英杰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99.8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客户服务部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杜跃敏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99.6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人力资源部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张媛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纪检审计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刘志纲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纪检审计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马逍磊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办公室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王永旗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办公室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余新生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财务部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封文静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财务部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薛娟娟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财务部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袁华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市场部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陈玙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98.2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市场部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申旺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97.2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市场部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刘高铭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93.6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市场部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程媛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90.4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武陟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慕东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博爱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何亮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博爱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孙生生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修武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王小海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党建工作部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申琳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职能服务党员先锋岗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/>
          <p:nvPr>
            <p:custDataLst>
              <p:tags r:id="rId1"/>
            </p:custDataLst>
          </p:nvPr>
        </p:nvSpPr>
        <p:spPr>
          <a:xfrm>
            <a:off x="1393825" y="261620"/>
            <a:ext cx="8423910" cy="5029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党员先锋岗评定</a:t>
            </a:r>
            <a:endParaRPr kumimoji="1" lang="zh-CN" altLang="en-US" sz="28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4085" y="1118870"/>
            <a:ext cx="5950585" cy="33718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>
            <a:spAutoFit/>
          </a:bodyPr>
          <a:p>
            <a:pPr algn="l" fontAlgn="ctr"/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业务发展党员先锋岗：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29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人选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2493010" y="1456055"/>
          <a:ext cx="6176645" cy="4704715"/>
        </p:xfrm>
        <a:graphic>
          <a:graphicData uri="http://schemas.openxmlformats.org/drawingml/2006/table">
            <a:tbl>
              <a:tblPr/>
              <a:tblGrid>
                <a:gridCol w="525780"/>
                <a:gridCol w="1445895"/>
                <a:gridCol w="919480"/>
                <a:gridCol w="1839595"/>
                <a:gridCol w="657225"/>
                <a:gridCol w="788670"/>
              </a:tblGrid>
              <a:tr h="151765">
                <a:tc gridSpan="6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29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人）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申报人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创建岗位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得分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是否评定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政要客户营销中心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企业客户营销中心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姚秀丽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97.5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企业客户营销中心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刘冬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96.2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校园客户营销中心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创新业务支撑中心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马孟超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97.7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创新业务支撑中心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夏绍义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综合服务支撑中心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马艳丽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综合服务支撑中心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王杰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99.7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数字化与稽核中心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崔有生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沁阳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张立房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沁阳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白娓娓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沁阳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黄晓敏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沁阳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刘明明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沁阳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王冰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孟州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张莹莹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孟州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王志刚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孟州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梁燕红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孟州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薛丽娜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修武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庞二军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解放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张静静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山阳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樊军亭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99.2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山阳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孙明辉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98.8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山阳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梁莉珺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中站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许刘杰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98.7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中站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刘大鹏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马村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王文静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温县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郭志刚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温县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赵利娟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76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温县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马建周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业务发展党员先锋岗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/>
          <p:nvPr>
            <p:custDataLst>
              <p:tags r:id="rId1"/>
            </p:custDataLst>
          </p:nvPr>
        </p:nvSpPr>
        <p:spPr>
          <a:xfrm>
            <a:off x="1393825" y="261620"/>
            <a:ext cx="8423910" cy="5029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党员先锋队评定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市场线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1/2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kumimoji="1" lang="zh-CN" altLang="en-US" sz="28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7335" y="1118870"/>
            <a:ext cx="11145520" cy="33718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>
            <a:spAutoFit/>
          </a:bodyPr>
          <a:p>
            <a:pPr algn="l" fontAlgn="ctr"/>
            <a:r>
              <a:rPr 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市场线：推选中站区分公司党支部为农村市场先锋队、中站区分公司为社区市场先锋队、沁阳市分公司为商户市场</a:t>
            </a:r>
            <a:r>
              <a:rPr 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先锋队</a:t>
            </a:r>
            <a:endParaRPr lang="zh-CN" sz="16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699453" y="2052638"/>
          <a:ext cx="10793095" cy="2752725"/>
        </p:xfrm>
        <a:graphic>
          <a:graphicData uri="http://schemas.openxmlformats.org/drawingml/2006/table">
            <a:tbl>
              <a:tblPr/>
              <a:tblGrid>
                <a:gridCol w="754380"/>
                <a:gridCol w="754380"/>
                <a:gridCol w="754380"/>
                <a:gridCol w="754380"/>
                <a:gridCol w="754380"/>
                <a:gridCol w="754380"/>
                <a:gridCol w="660400"/>
                <a:gridCol w="639445"/>
                <a:gridCol w="754380"/>
                <a:gridCol w="691515"/>
                <a:gridCol w="681355"/>
                <a:gridCol w="754380"/>
                <a:gridCol w="754380"/>
                <a:gridCol w="670560"/>
                <a:gridCol w="660400"/>
              </a:tblGrid>
              <a:tr h="200025"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农村市场先锋队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社区市场先锋队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商户市场先锋队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千村达标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份额破局达标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有效活动达标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合计得分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小区达标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小区份额提升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新模式活动达标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合计得分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宽带发展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标准动作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合计得分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博爱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27.80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22.50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78.40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9.67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93.67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14.70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58.70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孟州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15.60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20.50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21.50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57.60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22.22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14.67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21.12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58.01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沁阳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16.30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28.80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13.33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11.33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27.52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52.19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温县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21.80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35.80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21.50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79.20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44.44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34.67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28.96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108.07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16.50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62.50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武陟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8.30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8.60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17.90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34.80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6.33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23.04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29.37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16.40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64.40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修武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3.80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17.80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24.90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15.50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18.40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53.90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11.70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67.70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中站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20.60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80.60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112.00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马村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17.90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47.90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13.33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20.44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46.78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11.30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65.30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解放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20.74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11.89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25.85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58.48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4.60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56.60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山阳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13.30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28.30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51.60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18.83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16.45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37.51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63.10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15.30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20.20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56.60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15.98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25.97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61.95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71.10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/>
          <p:nvPr>
            <p:custDataLst>
              <p:tags r:id="rId1"/>
            </p:custDataLst>
          </p:nvPr>
        </p:nvSpPr>
        <p:spPr>
          <a:xfrm>
            <a:off x="1393825" y="261620"/>
            <a:ext cx="8423910" cy="5029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党员先锋队评定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市场线（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/2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kumimoji="1" lang="zh-CN" altLang="en-US" sz="28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4085" y="1118870"/>
            <a:ext cx="10648315" cy="61785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>
            <a:noAutofit/>
          </a:bodyPr>
          <a:p>
            <a:pPr algn="l" fontAlgn="ctr"/>
            <a:r>
              <a:rPr 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市场线：推选修武县分公司党支部为营业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先锋队、温县分公司为渠道先锋队、修武县分公司为客户服务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先锋队</a:t>
            </a:r>
            <a:endParaRPr lang="zh-CN" altLang="en-US" sz="16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68630" y="2722880"/>
          <a:ext cx="11113770" cy="3066415"/>
        </p:xfrm>
        <a:graphic>
          <a:graphicData uri="http://schemas.openxmlformats.org/drawingml/2006/table">
            <a:tbl>
              <a:tblPr/>
              <a:tblGrid>
                <a:gridCol w="596900"/>
                <a:gridCol w="596265"/>
                <a:gridCol w="692785"/>
                <a:gridCol w="693420"/>
                <a:gridCol w="595630"/>
                <a:gridCol w="596900"/>
                <a:gridCol w="522605"/>
                <a:gridCol w="505460"/>
                <a:gridCol w="596900"/>
                <a:gridCol w="546735"/>
                <a:gridCol w="538480"/>
                <a:gridCol w="596265"/>
                <a:gridCol w="596900"/>
                <a:gridCol w="530225"/>
                <a:gridCol w="521970"/>
                <a:gridCol w="596265"/>
                <a:gridCol w="596900"/>
                <a:gridCol w="596265"/>
                <a:gridCol w="596900"/>
              </a:tblGrid>
              <a:tr h="209550">
                <a:tc rowSpan="2"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营业先锋队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渠道先锋队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客户服务先锋队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492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移网发展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宽带发展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存量百元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手机终端合约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合计得分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重点发展指标完成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有销渠道规模覆盖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移宽融合渗透率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合计得分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春雷服务工单投诉压降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服务工单综合评价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工信部来量压降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综合满意度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扣分项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合计得分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018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博爱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23.14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13.40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30.00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23.77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90.31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55.26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21.88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97.14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51.03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孟州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14.66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11.04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25.75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20.92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72.36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46.85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28.97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95.81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9.48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83.48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018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沁阳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22.31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12.54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24.11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17.01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75.97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27.18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81.19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8.62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57.62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温县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16.09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11.04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21.01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30.00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78.14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51.42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25.77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97.19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75.80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018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武陟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16.94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11.67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20.59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17.69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66.89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27.93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21.47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15.86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65.26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6.85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48.85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91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30.00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14.39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28.98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28.33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101.71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37.46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77.51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21.32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96.32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中站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7.92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6.07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11.64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6.41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32.04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17.86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54.36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46.14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018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马村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23.88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12.37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21.14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30.00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87.38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22.42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18.06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60.48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19.05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94.05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解放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19.55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19.76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21.54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14.97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75.82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20.32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13.68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15.26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49.26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17.34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66.34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018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山阳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22.03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24.44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30.00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20.92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97.39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20.41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14.74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35.16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14.37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85.37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19.60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13.76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24.05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22.18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79.58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35.48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22.05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23.50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82.40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/>
          <p:nvPr>
            <p:custDataLst>
              <p:tags r:id="rId1"/>
            </p:custDataLst>
          </p:nvPr>
        </p:nvSpPr>
        <p:spPr>
          <a:xfrm>
            <a:off x="1393825" y="261620"/>
            <a:ext cx="8423910" cy="5029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党员先锋队评定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政企线（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/5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kumimoji="1" lang="zh-CN" altLang="en-US" sz="28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4085" y="1118870"/>
            <a:ext cx="6968490" cy="33718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>
            <a:spAutoFit/>
          </a:bodyPr>
          <a:p>
            <a:pPr algn="l" fontAlgn="ctr"/>
            <a:r>
              <a:rPr 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政企线：推选政要客户营销中心党支部为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工作手机六万户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先锋队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2526030" y="1601470"/>
          <a:ext cx="7291070" cy="4665980"/>
        </p:xfrm>
        <a:graphic>
          <a:graphicData uri="http://schemas.openxmlformats.org/drawingml/2006/table">
            <a:tbl>
              <a:tblPr/>
              <a:tblGrid>
                <a:gridCol w="634365"/>
                <a:gridCol w="755650"/>
                <a:gridCol w="1645920"/>
                <a:gridCol w="1183005"/>
                <a:gridCol w="1438275"/>
                <a:gridCol w="854075"/>
                <a:gridCol w="779780"/>
              </a:tblGrid>
              <a:tr h="402590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“工作手机六万户”先锋队打分表   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发展目标完成率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(50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移网净增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(10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云犀净增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(40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合计得分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05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目标完成率＜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，不得分；目标完成率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≥60%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，线性计分，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倍封顶。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移网出账用户净增为正，得基本分；移网出账用户净增为负，扣基本分。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目标完成率＜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，不得分；目标完成率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≥60%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，线性计分，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倍封顶。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68275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FE0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41.5 </a:t>
                      </a:r>
                      <a:endParaRPr lang="en-US" altLang="zh-CN" sz="1000" b="0" i="0">
                        <a:solidFill>
                          <a:srgbClr val="FE03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99.5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12725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中站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FE0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60.0 </a:t>
                      </a:r>
                      <a:endParaRPr lang="en-US" altLang="zh-CN" sz="1000" b="0" i="0">
                        <a:solidFill>
                          <a:srgbClr val="FE03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70.5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09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温县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FE0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43.1 </a:t>
                      </a:r>
                      <a:endParaRPr lang="en-US" altLang="zh-CN" sz="1000" b="0" i="0">
                        <a:solidFill>
                          <a:srgbClr val="FE03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53.1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725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山阳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FE0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39.5 </a:t>
                      </a:r>
                      <a:endParaRPr lang="en-US" altLang="zh-CN" sz="1000" b="0" i="0">
                        <a:solidFill>
                          <a:srgbClr val="FE03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52.6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725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孟州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FE0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 </a:t>
                      </a:r>
                      <a:endParaRPr lang="en-US" altLang="zh-CN" sz="1000" b="0" i="0">
                        <a:solidFill>
                          <a:srgbClr val="FE03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46.0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725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政企部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FE0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24.6 </a:t>
                      </a:r>
                      <a:endParaRPr lang="en-US" altLang="zh-CN" sz="1000" b="0" i="0">
                        <a:solidFill>
                          <a:srgbClr val="FE03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34.6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725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武陟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FE0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33.0 </a:t>
                      </a:r>
                      <a:endParaRPr lang="en-US" altLang="zh-CN" sz="1000" b="0" i="0">
                        <a:solidFill>
                          <a:srgbClr val="FE03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33.0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09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企业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FE0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19.6 </a:t>
                      </a:r>
                      <a:endParaRPr lang="en-US" altLang="zh-CN" sz="1000" b="0" i="0">
                        <a:solidFill>
                          <a:srgbClr val="FE03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29.6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725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修武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FE0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16.8 </a:t>
                      </a:r>
                      <a:endParaRPr lang="en-US" altLang="zh-CN" sz="1000" b="0" i="0">
                        <a:solidFill>
                          <a:srgbClr val="FE03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26.8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725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马村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FE0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11.1 </a:t>
                      </a:r>
                      <a:endParaRPr lang="en-US" altLang="zh-CN" sz="1000" b="0" i="0">
                        <a:solidFill>
                          <a:srgbClr val="FE03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21.1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725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博爱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FE0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8.5 </a:t>
                      </a:r>
                      <a:endParaRPr lang="en-US" altLang="zh-CN" sz="1000" b="0" i="0">
                        <a:solidFill>
                          <a:srgbClr val="FE03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18.5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09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沁阳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FE0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5.5 </a:t>
                      </a:r>
                      <a:endParaRPr lang="en-US" altLang="zh-CN" sz="1000" b="0" i="0">
                        <a:solidFill>
                          <a:srgbClr val="FE03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15.5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725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解放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FE0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3.9 </a:t>
                      </a:r>
                      <a:endParaRPr lang="en-US" altLang="zh-CN" sz="1000" b="0" i="0">
                        <a:solidFill>
                          <a:srgbClr val="FE03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13.9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725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校园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FE0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3.7 </a:t>
                      </a:r>
                      <a:endParaRPr lang="en-US" altLang="zh-CN" sz="1000" b="0" i="0">
                        <a:solidFill>
                          <a:srgbClr val="FE03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3.7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/>
          <p:nvPr>
            <p:custDataLst>
              <p:tags r:id="rId1"/>
            </p:custDataLst>
          </p:nvPr>
        </p:nvSpPr>
        <p:spPr>
          <a:xfrm>
            <a:off x="1393825" y="261620"/>
            <a:ext cx="8423910" cy="5029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党员先锋队评定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政企线（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/5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kumimoji="1" lang="zh-CN" altLang="en-US" sz="28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4085" y="1118870"/>
            <a:ext cx="5950585" cy="33718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>
            <a:spAutoFit/>
          </a:bodyPr>
          <a:p>
            <a:pPr algn="l" fontAlgn="ctr"/>
            <a:r>
              <a:rPr 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政企线：推选温县分公司党支部为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专线联网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5+1”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先锋队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781300" y="1764030"/>
          <a:ext cx="6629400" cy="4061460"/>
        </p:xfrm>
        <a:graphic>
          <a:graphicData uri="http://schemas.openxmlformats.org/drawingml/2006/table">
            <a:tbl>
              <a:tblPr/>
              <a:tblGrid>
                <a:gridCol w="731520"/>
                <a:gridCol w="660400"/>
                <a:gridCol w="1089660"/>
                <a:gridCol w="1131570"/>
                <a:gridCol w="1414780"/>
                <a:gridCol w="869950"/>
                <a:gridCol w="731520"/>
              </a:tblGrid>
              <a:tr h="297180">
                <a:tc gridSpan="7"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“专线联网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5+1”</a:t>
                      </a: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先锋队打分表 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双线发展完成率（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重点企业渗透率提升（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双线净增（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合计得分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线性计分，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倍封顶。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线性计分，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倍封顶。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线性计分，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倍封顶。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812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27.3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111.3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812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110.0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孟州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22.6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106.6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56.4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106.4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政企部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49.1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22.2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95.3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修武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40.8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29.7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94.4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博爱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30.3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27.7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82.1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41.2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14.2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79.4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沁阳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45.8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26.6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73.5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企业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16.3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65.3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中站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25.6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22.6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6.6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54.8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校园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16.7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46.7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21.3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23.8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45.1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马村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13.6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21.2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34.7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/>
          <p:nvPr>
            <p:custDataLst>
              <p:tags r:id="rId1"/>
            </p:custDataLst>
          </p:nvPr>
        </p:nvSpPr>
        <p:spPr>
          <a:xfrm>
            <a:off x="1393825" y="261620"/>
            <a:ext cx="8423910" cy="5029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党员先锋队评定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政企线（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/5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kumimoji="1" lang="zh-CN" altLang="en-US" sz="28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4085" y="1118870"/>
            <a:ext cx="5950585" cy="33718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>
            <a:spAutoFit/>
          </a:bodyPr>
          <a:p>
            <a:pPr algn="l" fontAlgn="ctr"/>
            <a:r>
              <a:rPr 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政企线：推选中站区分公司党支部为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算网增收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先锋队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587183" y="1600391"/>
          <a:ext cx="9108440" cy="4526280"/>
        </p:xfrm>
        <a:graphic>
          <a:graphicData uri="http://schemas.openxmlformats.org/drawingml/2006/table">
            <a:tbl>
              <a:tblPr/>
              <a:tblGrid>
                <a:gridCol w="705485"/>
                <a:gridCol w="871220"/>
                <a:gridCol w="2420620"/>
                <a:gridCol w="2350770"/>
                <a:gridCol w="1189355"/>
                <a:gridCol w="1480185"/>
              </a:tblGrid>
              <a:tr h="301625">
                <a:tc gridSpan="6"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“算网增收”先锋队打分表         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1625"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签约额（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算网收入（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60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合计得分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57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目标完成率＜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60%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，不得分；目标完成率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≥60%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，线性计分，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倍封顶。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目标完成率＜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60%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，不得分；目标完成率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≥60%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，线性计分，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倍封顶。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859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中站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48.0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72.0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120.0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2669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42.6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72.0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114.6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企业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38.6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72.0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110.6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69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校园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35.8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62.1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97.8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29.3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67.1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96.4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32.4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63.0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95.4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69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创新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72.0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沁阳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15.7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72.0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87.7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69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政企部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63.9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84.0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修武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56.6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82.7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24.9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59.5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69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孟州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16.7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56.3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马村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23.3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69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博爱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9.7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/>
          <p:nvPr>
            <p:custDataLst>
              <p:tags r:id="rId1"/>
            </p:custDataLst>
          </p:nvPr>
        </p:nvSpPr>
        <p:spPr>
          <a:xfrm>
            <a:off x="1393825" y="261620"/>
            <a:ext cx="8423910" cy="5029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党员先锋队评定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政企线（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/5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kumimoji="1" lang="zh-CN" altLang="en-US" sz="28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71525" y="1057910"/>
            <a:ext cx="10848340" cy="33718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>
            <a:spAutoFit/>
          </a:bodyPr>
          <a:p>
            <a:pPr algn="l" fontAlgn="ctr"/>
            <a:r>
              <a:rPr 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政企线：推选山阳区分公司党支部为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应收账款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先锋队。（山阳新发展表现较为突出）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1290955" y="1601343"/>
          <a:ext cx="10030460" cy="4724400"/>
        </p:xfrm>
        <a:graphic>
          <a:graphicData uri="http://schemas.openxmlformats.org/drawingml/2006/table">
            <a:tbl>
              <a:tblPr/>
              <a:tblGrid>
                <a:gridCol w="1030605"/>
                <a:gridCol w="1057275"/>
                <a:gridCol w="1699895"/>
                <a:gridCol w="1633220"/>
                <a:gridCol w="1465580"/>
                <a:gridCol w="976630"/>
                <a:gridCol w="1746885"/>
              </a:tblGrid>
              <a:tr h="584200">
                <a:tc gridSpan="7">
                  <a:txBody>
                    <a:bodyPr/>
                    <a:p>
                      <a:pPr algn="ctr" fontAlgn="ctr"/>
                      <a:r>
                        <a:rPr lang="zh-CN" altLang="en-US" sz="15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“应收账款”先锋队打分表   </a:t>
                      </a:r>
                      <a:endParaRPr lang="zh-CN" altLang="en-US" sz="15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应收账款回款（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存量应收账款回款（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项目新增应收账款回款（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合计得分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线性得分，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倍封顶。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线性得分，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倍封顶。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线性得分，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倍封顶。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1907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54.82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114.82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政企部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50.49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30.01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104.50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企业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56.59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0.27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92.86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博爱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37.95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27.59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89.54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中站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34.01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18.15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9.07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61.22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校园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23.58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59.58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修武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-30.44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53.56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马村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23.33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4.65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51.98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22.66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0.15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50.81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21.02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2.30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50.32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沁阳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25.34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20.65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45.99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孟州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11.83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7.46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20.95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/>
          <p:nvPr>
            <p:custDataLst>
              <p:tags r:id="rId1"/>
            </p:custDataLst>
          </p:nvPr>
        </p:nvSpPr>
        <p:spPr>
          <a:xfrm>
            <a:off x="1393825" y="261620"/>
            <a:ext cx="8423910" cy="5029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党员先锋队评定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政企线（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/5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kumimoji="1" lang="zh-CN" altLang="en-US" sz="28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4085" y="1118870"/>
            <a:ext cx="9016365" cy="37338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>
            <a:noAutofit/>
          </a:bodyPr>
          <a:p>
            <a:pPr algn="l" fontAlgn="ctr"/>
            <a:r>
              <a:rPr 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政企线：推选政企客户事业部（含商企中心）党支部为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强企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先锋队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2857500" y="1628140"/>
          <a:ext cx="6196330" cy="4808220"/>
        </p:xfrm>
        <a:graphic>
          <a:graphicData uri="http://schemas.openxmlformats.org/drawingml/2006/table">
            <a:tbl>
              <a:tblPr/>
              <a:tblGrid>
                <a:gridCol w="732155"/>
                <a:gridCol w="657860"/>
                <a:gridCol w="1363345"/>
                <a:gridCol w="1445895"/>
                <a:gridCol w="996950"/>
                <a:gridCol w="1000125"/>
              </a:tblGrid>
              <a:tr h="294640">
                <a:tc gridSpan="6"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“强企”先锋队打分表     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大企业市场拓展综合评价（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商企市场拓展综合评价（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合计得分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29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评分规则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按照综合评分办法计分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评分规则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按照综合评分办法计分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9464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政企部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24.48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45.92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70.40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9400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64.12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64.12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64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孟州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18.70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36.77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55.47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64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55.24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55.24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00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中站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28.21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19.46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47.67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64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45.92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45.92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64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企业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45.34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45.34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64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修武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9.62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34.84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44.46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00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7.81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35.22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43.03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64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沁阳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15.04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24.76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39.80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64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16.49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23.16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39.65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00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博爱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11.96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25.09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37.05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64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马村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19.73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25.43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/>
          <p:nvPr>
            <p:custDataLst>
              <p:tags r:id="rId1"/>
            </p:custDataLst>
          </p:nvPr>
        </p:nvSpPr>
        <p:spPr>
          <a:xfrm>
            <a:off x="1393825" y="261620"/>
            <a:ext cx="8423910" cy="5029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党员先锋队评定</a:t>
            </a:r>
            <a:r>
              <a:rPr kumimoji="1" lang="en-US" altLang="zh-CN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网络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</a:t>
            </a:r>
            <a:endParaRPr kumimoji="1" lang="zh-CN" altLang="en-US" sz="28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4085" y="1118870"/>
            <a:ext cx="10953115" cy="58356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>
            <a:spAutoFit/>
          </a:bodyPr>
          <a:p>
            <a:pPr algn="l" fontAlgn="ctr"/>
            <a:r>
              <a:rPr 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网络线：推选沁阳市分公司为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客户感知提升先锋队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；孟州市分公司</a:t>
            </a:r>
            <a:r>
              <a:rPr 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党支部为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网络安全先锋队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沁阳市分公司为智家暖心行动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先锋队。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003935" y="2167255"/>
          <a:ext cx="3147060" cy="4511040"/>
        </p:xfrm>
        <a:graphic>
          <a:graphicData uri="http://schemas.openxmlformats.org/drawingml/2006/table">
            <a:tbl>
              <a:tblPr/>
              <a:tblGrid>
                <a:gridCol w="737870"/>
                <a:gridCol w="1671320"/>
                <a:gridCol w="737870"/>
              </a:tblGrid>
              <a:tr h="3759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客户感知提升先锋队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59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沁阳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96.58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759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95.35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59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修武县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89.82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59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孟州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86.52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59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山阳区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85.81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59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83.50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59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博爱县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79.11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59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解放区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67.93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59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中站区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62.20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59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马村区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53.20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59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武陟县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51.09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8372475" y="2164080"/>
          <a:ext cx="3134995" cy="4518660"/>
        </p:xfrm>
        <a:graphic>
          <a:graphicData uri="http://schemas.openxmlformats.org/drawingml/2006/table">
            <a:tbl>
              <a:tblPr/>
              <a:tblGrid>
                <a:gridCol w="735330"/>
                <a:gridCol w="1664335"/>
                <a:gridCol w="735330"/>
              </a:tblGrid>
              <a:tr h="37655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智家暖心行动先锋队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沁阳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98.64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解放区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98.04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博爱县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96.44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修武县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95.77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95.47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孟州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94.55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山阳区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82.39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武陟县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71.68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中站区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67.61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马村区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61.66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/>
          <p:nvPr/>
        </p:nvGraphicFramePr>
        <p:xfrm>
          <a:off x="4551045" y="2165350"/>
          <a:ext cx="3148965" cy="4521200"/>
        </p:xfrm>
        <a:graphic>
          <a:graphicData uri="http://schemas.openxmlformats.org/drawingml/2006/table">
            <a:tbl>
              <a:tblPr/>
              <a:tblGrid>
                <a:gridCol w="1271905"/>
                <a:gridCol w="1136650"/>
                <a:gridCol w="740410"/>
              </a:tblGrid>
              <a:tr h="4521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网络安全先锋队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1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孟州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521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山马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1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解中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1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博爱县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1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修武县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1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1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沁阳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1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网络运营中心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94.12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1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武陟县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72.00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70785" y="2694940"/>
            <a:ext cx="7452995" cy="193738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noAutofit/>
          </a:bodyPr>
          <a:p>
            <a:pPr marL="0" indent="0" 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SzTx/>
              <a:buFont typeface="微软雅黑" panose="020B0503020204020204" pitchFamily="34" charset="-122"/>
              <a:buNone/>
            </a:pP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守正创新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行稳致远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729,&quot;width&quot;:3946}"/>
</p:tagLst>
</file>

<file path=ppt/tags/tag2.xml><?xml version="1.0" encoding="utf-8"?>
<p:tagLst xmlns:p="http://schemas.openxmlformats.org/presentationml/2006/main">
  <p:tag name="KSO_WM_FULL_TEXT_BEAUTIFY_COPY_ID" val="8"/>
</p:tagLst>
</file>

<file path=ppt/tags/tag3.xml><?xml version="1.0" encoding="utf-8"?>
<p:tagLst xmlns:p="http://schemas.openxmlformats.org/presentationml/2006/main">
  <p:tag name="KSO_WM_DIAGRAM_VIRTUALLY_FRAME" val="{&quot;height&quot;:305.21968503937006,&quot;left&quot;:58.591496062992135,&quot;top&quot;:168.98031496062993,&quot;width&quot;:855.7585039370078}"/>
</p:tagLst>
</file>

<file path=ppt/tags/tag4.xml><?xml version="1.0" encoding="utf-8"?>
<p:tagLst xmlns:p="http://schemas.openxmlformats.org/presentationml/2006/main">
  <p:tag name="KSO_WM_DIAGRAM_VIRTUALLY_FRAME" val="{&quot;height&quot;:305.21968503937006,&quot;left&quot;:58.591496062992135,&quot;top&quot;:168.98031496062993,&quot;width&quot;:855.7585039370078}"/>
</p:tagLst>
</file>

<file path=ppt/tags/tag5.xml><?xml version="1.0" encoding="utf-8"?>
<p:tagLst xmlns:p="http://schemas.openxmlformats.org/presentationml/2006/main">
  <p:tag name="KSO_WM_FULL_TEXT_BEAUTIFY_COPY_ID" val="8"/>
</p:tagLst>
</file>

<file path=ppt/tags/tag6.xml><?xml version="1.0" encoding="utf-8"?>
<p:tagLst xmlns:p="http://schemas.openxmlformats.org/presentationml/2006/main">
  <p:tag name="KSO_WM_FULL_TEXT_BEAUTIFY_COPY_ID" val="8"/>
</p:tagLst>
</file>

<file path=ppt/tags/tag7.xml><?xml version="1.0" encoding="utf-8"?>
<p:tagLst xmlns:p="http://schemas.openxmlformats.org/presentationml/2006/main">
  <p:tag name="KSO_WM_FULL_TEXT_BEAUTIFY_COPY_ID" val="8"/>
</p:tagLst>
</file>

<file path=ppt/tags/tag8.xml><?xml version="1.0" encoding="utf-8"?>
<p:tagLst xmlns:p="http://schemas.openxmlformats.org/presentationml/2006/main">
  <p:tag name="KSO_WM_FULL_TEXT_BEAUTIFY_COPY_ID" val="8"/>
</p:tagLst>
</file>

<file path=ppt/tags/tag9.xml><?xml version="1.0" encoding="utf-8"?>
<p:tagLst xmlns:p="http://schemas.openxmlformats.org/presentationml/2006/main">
  <p:tag name="KSO_WM_FULL_TEXT_BEAUTIFY_COPY_ID" val="8"/>
</p:tagLst>
</file>

<file path=ppt/tags/tag10.xml><?xml version="1.0" encoding="utf-8"?>
<p:tagLst xmlns:p="http://schemas.openxmlformats.org/presentationml/2006/main">
  <p:tag name="KSO_WM_FULL_TEXT_BEAUTIFY_COPY_ID" val="8"/>
</p:tagLst>
</file>

<file path=ppt/tags/tag11.xml><?xml version="1.0" encoding="utf-8"?>
<p:tagLst xmlns:p="http://schemas.openxmlformats.org/presentationml/2006/main">
  <p:tag name="KSO_WM_FULL_TEXT_BEAUTIFY_COPY_ID" val="8"/>
</p:tagLst>
</file>

<file path=ppt/tags/tag12.xml><?xml version="1.0" encoding="utf-8"?>
<p:tagLst xmlns:p="http://schemas.openxmlformats.org/presentationml/2006/main">
  <p:tag name="KSO_WM_FULL_TEXT_BEAUTIFY_COPY_ID" val="8"/>
</p:tagLst>
</file>

<file path=ppt/tags/tag13.xml><?xml version="1.0" encoding="utf-8"?>
<p:tagLst xmlns:p="http://schemas.openxmlformats.org/presentationml/2006/main">
  <p:tag name="KSO_WM_FULL_TEXT_BEAUTIFY_COPY_ID" val="8"/>
</p:tagLst>
</file>

<file path=ppt/tags/tag14.xml><?xml version="1.0" encoding="utf-8"?>
<p:tagLst xmlns:p="http://schemas.openxmlformats.org/presentationml/2006/main">
  <p:tag name="KSO_WM_FULL_TEXT_BEAUTIFY_COPY_ID" val="8"/>
</p:tagLst>
</file>

<file path=ppt/tags/tag15.xml><?xml version="1.0" encoding="utf-8"?>
<p:tagLst xmlns:p="http://schemas.openxmlformats.org/presentationml/2006/main">
  <p:tag name="KSO_WM_FULL_TEXT_BEAUTIFY_COPY_ID" val="8"/>
</p:tagLst>
</file>

<file path=ppt/tags/tag16.xml><?xml version="1.0" encoding="utf-8"?>
<p:tagLst xmlns:p="http://schemas.openxmlformats.org/presentationml/2006/main">
  <p:tag name="KSO_WPP_MARK_KEY" val="f52ea893-6e4d-4e93-b2fc-1c30c87d03b5"/>
  <p:tag name="COMMONDATA" val="eyJoZGlkIjoiMWVjNmQxMjEzOTE2ZTJiMzNkNTZlYTE5Mjk4ZTM0ODMifQ=="/>
  <p:tag name="resource_record_key" val="{&quot;13&quot;:[4364928,4364912]}"/>
</p:tagLst>
</file>

<file path=ppt/theme/theme1.xml><?xml version="1.0" encoding="utf-8"?>
<a:theme xmlns:a="http://schemas.openxmlformats.org/drawingml/2006/main" name="Office 主题​​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  <a:ln>
          <a:noFill/>
        </a:ln>
      </a:spPr>
      <a:bodyPr wrap="square" anchor="ctr" anchorCtr="1">
        <a:noAutofit/>
      </a:bodyPr>
      <a:lstStyle>
        <a:defPPr algn="l" fontAlgn="b">
          <a:defRPr lang="en-US" altLang="zh-CN" sz="16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defRPr>
        </a:defPPr>
      </a:lstStyle>
    </a:spDef>
    <a:txDef>
      <a:spPr>
        <a:noFill/>
        <a:ln>
          <a:noFill/>
          <a:prstDash val="dash"/>
        </a:ln>
      </a:spPr>
      <a:bodyPr wrap="square" rtlCol="0">
        <a:noAutofit/>
      </a:bodyPr>
      <a:lstStyle>
        <a:defPPr marL="0" indent="0">
          <a:lnSpc>
            <a:spcPct val="150000"/>
          </a:lnSpc>
          <a:spcBef>
            <a:spcPts val="300"/>
          </a:spcBef>
          <a:buClr>
            <a:srgbClr val="C00000"/>
          </a:buClr>
          <a:buSzTx/>
          <a:buFont typeface="微软雅黑" panose="020B0503020204020204" pitchFamily="34" charset="-122"/>
          <a:buNone/>
          <a:defRPr lang="zh-CN" altLang="en-US" sz="2000" b="1" dirty="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7608</Words>
  <Application>WPS 演示</Application>
  <PresentationFormat>宽屏</PresentationFormat>
  <Paragraphs>3182</Paragraphs>
  <Slides>14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等线 Light</vt:lpstr>
      <vt:lpstr>Times New Roman</vt:lpstr>
      <vt:lpstr>楷体_GB2312</vt:lpstr>
      <vt:lpstr>新宋体</vt:lpstr>
      <vt:lpstr>Helvetica</vt:lpstr>
      <vt:lpstr>HYDaHeiJ</vt:lpstr>
      <vt:lpstr>Wingdings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王宏宇</dc:creator>
  <cp:lastModifiedBy> </cp:lastModifiedBy>
  <cp:revision>3026</cp:revision>
  <dcterms:created xsi:type="dcterms:W3CDTF">2022-04-26T02:25:00Z</dcterms:created>
  <dcterms:modified xsi:type="dcterms:W3CDTF">2026-07-24T10:09:36Z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43EF60BA021F4AD99BB51DA3AB3E8176_13</vt:lpwstr>
  </property>
  <property fmtid="{D5CDD505-2E9C-101B-9397-08002B2CF9AE}" pid="3" name="KSOProductBuildVer">
    <vt:lpwstr>2052-12.1.0.24657</vt:lpwstr>
  </property>
</Properties>
</file>