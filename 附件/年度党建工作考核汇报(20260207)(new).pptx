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xlsx" ContentType="application/vnd.openxmlformats-officedocument.spreadsheetml.sheet"/>
  <Default Extension="bin" ContentType="application/vnd.openxmlformats-officedocument.oleObject"/>
  <Default Extension="emf" ContentType="image/x-emf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24"/>
  </p:handoutMasterIdLst>
  <p:sldIdLst>
    <p:sldId id="259" r:id="rId3"/>
    <p:sldId id="314" r:id="rId4"/>
    <p:sldId id="260" r:id="rId5"/>
    <p:sldId id="315" r:id="rId7"/>
    <p:sldId id="272" r:id="rId8"/>
    <p:sldId id="316" r:id="rId9"/>
    <p:sldId id="287" r:id="rId10"/>
    <p:sldId id="317" r:id="rId11"/>
    <p:sldId id="318" r:id="rId12"/>
    <p:sldId id="319" r:id="rId13"/>
    <p:sldId id="334" r:id="rId14"/>
    <p:sldId id="335" r:id="rId15"/>
    <p:sldId id="321" r:id="rId16"/>
    <p:sldId id="322" r:id="rId17"/>
    <p:sldId id="323" r:id="rId18"/>
    <p:sldId id="324" r:id="rId19"/>
    <p:sldId id="329" r:id="rId20"/>
    <p:sldId id="330" r:id="rId21"/>
    <p:sldId id="331" r:id="rId22"/>
    <p:sldId id="333" r:id="rId23"/>
  </p:sldIdLst>
  <p:sldSz cx="12192635" cy="6858000"/>
  <p:notesSz cx="7103745" cy="10234295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jf" initials="M" lastIdx="1" clrIdx="0"/>
  <p:cmAuthor id="1" name="陈婷" initials="陈" lastIdx="7" clrIdx="0"/>
  <p:cmAuthor id="2" name="Unicom" initials="U" lastIdx="1" clrIdx="0"/>
  <p:cmAuthor id="3" name="周志浩" initials="Edmond" lastIdx="1" clrIdx="2"/>
  <p:cmAuthor id="4" name="Xing Zhang" initials="XZ" lastIdx="1" clrIdx="3"/>
  <p:cmAuthor id="5" name="Jet 张" initials="J张" lastIdx="1" clrIdx="3"/>
  <p:cmAuthor id="6" name="Administrator" initials="A" lastIdx="1" clrIdx="5"/>
  <p:cmAuthor id="7" name="gd-zengxy10@outlook.com" initials="g" lastIdx="1" clrIdx="6"/>
  <p:cmAuthor id="8" name="AW" initials="A" lastIdx="1" clrIdx="7"/>
  <p:cmAuthor id="9" name="lixr110" initials="l" lastIdx="1" clrIdx="8"/>
  <p:cmAuthor id="10" name="unicom" initials="u" lastIdx="1" clrIdx="9"/>
  <p:cmAuthor id="11" name="A4512" initials="A" lastIdx="1" clrIdx="10"/>
  <p:cmAuthor id="12" name="郭俊明" initials="WU" lastIdx="1" clrIdx="11"/>
  <p:cmAuthor id="13" name="chen trista" initials="ct" lastIdx="1" clrIdx="12"/>
  <p:cmAuthor id="14" name="刘永国" initials="刘" lastIdx="1" clrIdx="13"/>
  <p:cmAuthor id="16" name="FAN" initials="F" lastIdx="1" clrIdx="15"/>
  <p:cmAuthor id="75" name="作者" initials="A" lastIdx="0" clrIdx="24"/>
  <p:cmAuthor id="76" name="go640" initials="g" lastIdx="1" clrIdx="25"/>
  <p:cmAuthor id="17" name="yuxi" initials="y" lastIdx="1" clrIdx="16"/>
  <p:cmAuthor id="18" name="40130" initials="4" lastIdx="1" clrIdx="17"/>
  <p:cmAuthor id="77" name="MSI" initials="M" lastIdx="1" clrIdx="26"/>
  <p:cmAuthor id="21" name="崔恒昌" initials="崔" lastIdx="1" clrIdx="20"/>
  <p:cmAuthor id="191251535" name="沈霄雷" initials="沈" lastIdx="833089" clrIdx="0"/>
  <p:cmAuthor id="19" name="LENOVO" initials="L" lastIdx="1" clrIdx="18"/>
  <p:cmAuthor id="15" name="13686" initials="1" lastIdx="1" clrIdx="14"/>
  <p:cmAuthor id="20" name="孟 昕" initials="孟" lastIdx="1" clrIdx="18"/>
  <p:cmAuthor id="22" name="郭中梅" initials="郭" lastIdx="3" clrIdx="0"/>
  <p:cmAuthor id="2000" name="贾胜峰" initials="authorId_2049990" lastIdx="0" clrIdx="0"/>
  <p:cmAuthor id="23" name="ASUS" initials="A" lastIdx="1" clrIdx="22"/>
  <p:cmAuthor id="2001" name="潘 晨" initials="潘" lastIdx="2" clrIdx="18"/>
  <p:cmAuthor id="2002" name="song manyi" initials="sm" lastIdx="4" clrIdx="19"/>
  <p:cmAuthor id="24" name="XiHu木鱼" initials="X" lastIdx="1" clrIdx="23"/>
  <p:cmAuthor id="25" name="l" initials="l" lastIdx="1" clrIdx="24"/>
  <p:cmAuthor id="26" name="姜龙玉" initials="姜" lastIdx="2" clrIdx="23"/>
  <p:cmAuthor id="27" name="东" initials="东" lastIdx="1" clrIdx="25"/>
  <p:cmAuthor id="31" name="Author" initials="A" lastIdx="0" clrIdx="30"/>
  <p:cmAuthor id="32" name="王凯10177225" initials="王凯10177225" lastIdx="2" clrIdx="31"/>
  <p:cmAuthor id="28" name="IKKI" initials="I" lastIdx="1" clrIdx="0"/>
  <p:cmAuthor id="29" name="於宝泉" initials="於" lastIdx="0" clrIdx="2"/>
  <p:cmAuthor id="191251536" name="dell" initials="d" lastIdx="2" clrIdx="27"/>
  <p:cmAuthor id="35" name="吕娜娜" initials="吕" lastIdx="1" clrIdx="34"/>
  <p:cmAuthor id="36" name="陈微" initials="陈" lastIdx="1" clrIdx="35"/>
  <p:cmAuthor id="191251537" name="郭 浩" initials="郭" lastIdx="2" clrIdx="25"/>
  <p:cmAuthor id="191251538" name="渠沛" initials="渠" lastIdx="1" clrIdx="35"/>
  <p:cmAuthor id="78" name="xingwei hou" initials="xh" lastIdx="6" clrIdx="34"/>
  <p:cmAuthor id="39" name="段英英" initials="段" lastIdx="1" clrIdx="38"/>
  <p:cmAuthor id="33" name="李金夏" initials="李" lastIdx="1" clrIdx="32"/>
  <p:cmAuthor id="34" name="马媛" initials="马" lastIdx="1" clrIdx="33"/>
  <p:cmAuthor id="43" name="liubh" initials="l" lastIdx="1" clrIdx="42"/>
  <p:cmAuthor id="38" name="hami251" initials="h" lastIdx="2" clrIdx="37"/>
  <p:cmAuthor id="41" name="123123" initials="1" lastIdx="2" clrIdx="40"/>
  <p:cmAuthor id="42" name="liu" initials="l" lastIdx="1" clrIdx="41"/>
  <p:cmAuthor id="53" name="牛滢滢" initials="牛" lastIdx="1" clrIdx="52"/>
  <p:cmAuthor id="2003" name="梁鹏" initials="u" lastIdx="1" clrIdx="35"/>
  <p:cmAuthor id="2004" name="范 斌" initials="范" lastIdx="1" clrIdx="36"/>
  <p:cmAuthor id="2005" name="毕邺" initials="党委办公室" lastIdx="2" clrIdx="37"/>
  <p:cmAuthor id="2006" name="jiaru tiger" initials="jt" lastIdx="2" clrIdx="38"/>
  <p:cmAuthor id="30" name="10056791" initials="ZTE" lastIdx="1" clrIdx="29"/>
  <p:cmAuthor id="47" name="雷宇" initials="雷" lastIdx="1" clrIdx="46"/>
  <p:cmAuthor id="691587970" name="小延魔法师" initials="小" lastIdx="1126286" clrIdx="0"/>
  <p:cmAuthor id="1411827" name="黄晓平" initials="黄" lastIdx="0" clrIdx="0"/>
  <p:cmAuthor id="37" name="张燕00036635" initials="张燕00036635" lastIdx="1" clrIdx="37"/>
  <p:cmAuthor id="40" name="10054047" initials="1" lastIdx="1" clrIdx="39"/>
  <p:cmAuthor id="56" name="连艳利" initials="连" lastIdx="1" clrIdx="55"/>
  <p:cmAuthor id="307" name="未知用户93" initials="" lastIdx="1" clrIdx="0"/>
  <p:cmAuthor id="308" name="未知用户90" initials="" lastIdx="5" clrIdx="1"/>
  <p:cmAuthor id="309" name="未知用户91" initials="" lastIdx="0" clrIdx="1"/>
  <p:cmAuthor id="310" name="未知用户92" initials="" lastIdx="1" clrIdx="0"/>
  <p:cmAuthor id="311" name="未知用户74" initials="" lastIdx="5" clrIdx="1"/>
  <p:cmAuthor id="312" name="未知用户75" initials="" lastIdx="8" clrIdx="0"/>
  <p:cmAuthor id="313" name="未知用户76" initials="" lastIdx="1" clrIdx="0"/>
  <p:cmAuthor id="314" name="未知用户77" initials="" lastIdx="8" clrIdx="0"/>
  <p:cmAuthor id="315" name="未知用户78" initials="" lastIdx="8" clrIdx="0"/>
  <p:cmAuthor id="316" name="未知用户79" initials="" lastIdx="1" clrIdx="0"/>
  <p:cmAuthor id="317" name="未知用户80" initials="" lastIdx="1" clrIdx="0"/>
  <p:cmAuthor id="318" name="Harry xu" initials="" lastIdx="1" clrIdx="0"/>
  <p:cmAuthor id="319" name="未知用户27" initials="未" lastIdx="1" clrIdx="0"/>
  <p:cmAuthor id="320" name="未知用户35" initials="未" lastIdx="1" clrIdx="0"/>
  <p:cmAuthor id="321" name="未知用户111" initials="未" lastIdx="1" clrIdx="1"/>
  <p:cmAuthor id="287643681" name="殷格非" initials="殷" lastIdx="2" clrIdx="0"/>
  <p:cmAuthor id="287643682" name="z r" initials="zr" lastIdx="5" clrIdx="12"/>
  <p:cmAuthor id="44" name="10092163" initials="1" lastIdx="2" clrIdx="43"/>
  <p:cmAuthor id="45" name="10157624" initials="1" lastIdx="1" clrIdx="44"/>
  <p:cmAuthor id="46" name="未知的使用者79" initials="" lastIdx="0" clrIdx="1"/>
  <p:cmAuthor id="48" name="未知的使用者80" initials="" lastIdx="0" clrIdx="0"/>
  <p:cmAuthor id="49" name="未知用户51" initials="" lastIdx="1" clrIdx="1"/>
  <p:cmAuthor id="50" name="未知的使用者82" initials="" lastIdx="1" clrIdx="0"/>
  <p:cmAuthor id="52" name="未知的使用者83" initials="" lastIdx="1" clrIdx="0"/>
  <p:cmAuthor id="54" name="未知的使用者84" initials="" lastIdx="1" clrIdx="1"/>
  <p:cmAuthor id="55" name="未知的使用者70" initials="" lastIdx="1" clrIdx="0"/>
  <p:cmAuthor id="57" name="未知的使用者40" initials="" lastIdx="1" clrIdx="0"/>
  <p:cmAuthor id="58" name="未知的使用者87" initials="" lastIdx="1" clrIdx="0"/>
  <p:cmAuthor id="59" name="曾红" initials="" lastIdx="0" clrIdx="0"/>
  <p:cmAuthor id="60" name="未知的使用者90" initials="" lastIdx="8" clrIdx="0"/>
  <p:cmAuthor id="61" name="未知的使用者29" initials="" lastIdx="1" clrIdx="0"/>
  <p:cmAuthor id="62" name="未知的使用者91" initials="" lastIdx="1" clrIdx="0"/>
  <p:cmAuthor id="63" name="未知的使用者98" initials="" lastIdx="1" clrIdx="0"/>
  <p:cmAuthor id="64" name="CHRISYU" initials="" lastIdx="1" clrIdx="0"/>
  <p:cmAuthor id="65" name="未知的使用者113" initials="" lastIdx="1" clrIdx="2"/>
  <p:cmAuthor id="66" name="liucunri" initials="" lastIdx="1" clrIdx="0"/>
  <p:cmAuthor id="67" name="未知用户9" initials="" lastIdx="1" clrIdx="0"/>
  <p:cmAuthor id="68" name="Unknown User48" initials="" lastIdx="8" clrIdx="0"/>
  <p:cmAuthor id="69" name="未知用户103" initials="" lastIdx="1" clrIdx="0"/>
  <p:cmAuthor id="70" name="Unknown User52" initials="" lastIdx="1" clrIdx="0"/>
  <p:cmAuthor id="71" name="未知的使用者42" initials="" lastIdx="1" clrIdx="0"/>
  <p:cmAuthor id="72" name="Unknown User50" initials="" lastIdx="1" clrIdx="0"/>
  <p:cmAuthor id="73" name="未知的使用者120" initials="" lastIdx="1" clrIdx="0"/>
  <p:cmAuthor id="74" name="px" initials="" lastIdx="3" clrIdx="1"/>
  <p:cmAuthor id="79" name="微软用户" initials="" lastIdx="1" clrIdx="0"/>
  <p:cmAuthor id="80" name="未知的使用者73" initials="" lastIdx="1" clrIdx="0"/>
  <p:cmAuthor id="81" name="未知的使用者24" initials="" lastIdx="8" clrIdx="0"/>
  <p:cmAuthor id="82" name="未知用户16" initials="" lastIdx="1" clrIdx="0"/>
  <p:cmAuthor id="83" name="Mary Feil-Jacobs" initials="" lastIdx="43" clrIdx="1"/>
  <p:cmAuthor id="84" name="LiuHui" initials="" lastIdx="1" clrIdx="0"/>
  <p:cmAuthor id="85" name="未知的使用者45" initials="" lastIdx="1" clrIdx="0"/>
  <p:cmAuthor id="86" name="王鹏凯" initials="" lastIdx="1" clrIdx="0"/>
  <p:cmAuthor id="87" name="未知用户104" initials="" lastIdx="1" clrIdx="0"/>
  <p:cmAuthor id="88" name="未知用户5" initials="" lastIdx="1" clrIdx="0"/>
  <p:cmAuthor id="89" name="未知的使用者10" initials="" lastIdx="3" clrIdx="1"/>
  <p:cmAuthor id="90" name="未知的使用者93" initials="" lastIdx="1" clrIdx="1"/>
  <p:cmAuthor id="92" name="LeeElva" initials="" lastIdx="1" clrIdx="0"/>
  <p:cmAuthor id="93" name="未知用户99" initials="" lastIdx="1" clrIdx="2"/>
  <p:cmAuthor id="94" name="未知的使用者34" initials="" lastIdx="1" clrIdx="0"/>
  <p:cmAuthor id="95" name="未知的使用者115" initials="" lastIdx="1" clrIdx="1"/>
  <p:cmAuthor id="96" name="未知用户57" initials="" lastIdx="1" clrIdx="0"/>
  <p:cmAuthor id="97" name="lianghb" initials="" lastIdx="19" clrIdx="0"/>
  <p:cmAuthor id="98" name="未知用户17" initials="" lastIdx="0" clrIdx="1"/>
  <p:cmAuthor id="99" name="Deanna Schuler (Bookey Consulting)" initials="" lastIdx="2" clrIdx="0"/>
  <p:cmAuthor id="100" name="未知的使用者57" initials="" lastIdx="1" clrIdx="0"/>
  <p:cmAuthor id="101" name="未知的使用者16" initials="" lastIdx="6" clrIdx="0"/>
  <p:cmAuthor id="102" name="未知的使用者35" initials="" lastIdx="1" clrIdx="0"/>
  <p:cmAuthor id="103" name="未知用户102" initials="" lastIdx="1" clrIdx="1"/>
  <p:cmAuthor id="104" name="maxine" initials="" lastIdx="0" clrIdx="0"/>
  <p:cmAuthor id="105" name="未知的使用者121" initials="" lastIdx="1" clrIdx="1"/>
  <p:cmAuthor id="106" name="未知的使用者12" initials="" lastIdx="1" clrIdx="0"/>
  <p:cmAuthor id="107" name="周元元" initials="" lastIdx="5" clrIdx="0"/>
  <p:cmAuthor id="108" name="未知的使用者27" initials="" lastIdx="8" clrIdx="0"/>
  <p:cmAuthor id="110" name="未知的使用者30" initials="" lastIdx="8" clrIdx="0"/>
  <p:cmAuthor id="111" name="未知的使用者53" initials="" lastIdx="1" clrIdx="0"/>
  <p:cmAuthor id="112" name="未知用户58" initials="" lastIdx="5" clrIdx="1"/>
  <p:cmAuthor id="113" name="未知的使用者25" initials="" lastIdx="1" clrIdx="0"/>
  <p:cmAuthor id="114" name="liupeng" initials="" lastIdx="1" clrIdx="1"/>
  <p:cmAuthor id="115" name="未知用户24" initials="" lastIdx="1" clrIdx="0"/>
  <p:cmAuthor id="116" name="AbuSina" initials="" lastIdx="2" clrIdx="0"/>
  <p:cmAuthor id="117" name="hl sun" initials="" lastIdx="1" clrIdx="0"/>
  <p:cmAuthor id="118" name="未知的使用者94" initials="" lastIdx="1" clrIdx="2"/>
  <p:cmAuthor id="119" name="未知用户66" initials="" lastIdx="1" clrIdx="0"/>
  <p:cmAuthor id="121" name="未知用户19" initials="" lastIdx="1" clrIdx="0"/>
  <p:cmAuthor id="122" name="周宏達JerryChou" initials="" lastIdx="6" clrIdx="2"/>
  <p:cmAuthor id="124" name="未知用户7" initials="" lastIdx="1" clrIdx="0"/>
  <p:cmAuthor id="125" name="未知的使用者56" initials="" lastIdx="1" clrIdx="0"/>
  <p:cmAuthor id="127" name="未知的使用者119" initials="" lastIdx="1" clrIdx="2"/>
  <p:cmAuthor id="128" name="未知用户59" initials="" lastIdx="0" clrIdx="1"/>
  <p:cmAuthor id="129" name="未知的使用者22" initials="" lastIdx="8" clrIdx="0"/>
  <p:cmAuthor id="130" name="未知的使用者103" initials="" lastIdx="8" clrIdx="0"/>
  <p:cmAuthor id="131" name="Wenwen" initials="" lastIdx="1" clrIdx="1"/>
  <p:cmAuthor id="132" name="未知的使用者117" initials="" lastIdx="1" clrIdx="0"/>
  <p:cmAuthor id="133" name="未知的使用者33" initials="" lastIdx="1" clrIdx="0"/>
  <p:cmAuthor id="134" name="未知的使用者28" initials="" lastIdx="1" clrIdx="0"/>
  <p:cmAuthor id="135" name="未知用户67" initials="" lastIdx="1" clrIdx="0"/>
  <p:cmAuthor id="136" name="未知用户114" initials="" lastIdx="1" clrIdx="0"/>
  <p:cmAuthor id="137" name="未知用户18" initials="" lastIdx="10" clrIdx="0"/>
  <p:cmAuthor id="138" name="未知的使用者67" initials="" lastIdx="1" clrIdx="0"/>
  <p:cmAuthor id="139" name="未知的使用者46" initials="" lastIdx="1" clrIdx="1"/>
  <p:cmAuthor id="140" name="未知的使用者26" initials="" lastIdx="1" clrIdx="0"/>
  <p:cmAuthor id="141" name="未知的使用者43" initials="" lastIdx="1" clrIdx="0"/>
  <p:cmAuthor id="142" name="未知的使用者9" initials="" lastIdx="1" clrIdx="0"/>
  <p:cmAuthor id="143" name="未知用户62" initials="" lastIdx="1" clrIdx="1"/>
  <p:cmAuthor id="144" name="yuanzh" initials="" lastIdx="1" clrIdx="1"/>
  <p:cmAuthor id="145" name="不明使用者57" initials="" lastIdx="1" clrIdx="0"/>
  <p:cmAuthor id="146" name="未知用户108" initials="" lastIdx="1" clrIdx="0"/>
  <p:cmAuthor id="147" name="未知的使用者110" initials="" lastIdx="1" clrIdx="0"/>
  <p:cmAuthor id="148" name="linyd" initials="" lastIdx="3" clrIdx="1"/>
  <p:cmAuthor id="149" name="未知用户8" initials="" lastIdx="1" clrIdx="0"/>
  <p:cmAuthor id="150" name="未知的使用者31" initials="" lastIdx="1" clrIdx="0"/>
  <p:cmAuthor id="151" name="未知用户81" initials="" lastIdx="1" clrIdx="0"/>
  <p:cmAuthor id="152" name="未知用户115" initials="" lastIdx="1" clrIdx="0"/>
  <p:cmAuthor id="153" name="未知用户21" initials="" lastIdx="1" clrIdx="0"/>
  <p:cmAuthor id="154" name="未知的使用者68" initials="" lastIdx="1" clrIdx="0"/>
  <p:cmAuthor id="155" name="mm" initials="" lastIdx="1" clrIdx="0"/>
  <p:cmAuthor id="156" name="未知用户15" initials="" lastIdx="1" clrIdx="0"/>
  <p:cmAuthor id="157" name="朱晓瑜" initials="" lastIdx="54" clrIdx="0"/>
  <p:cmAuthor id="158" name="不明使用者20" initials="" lastIdx="1" clrIdx="0"/>
  <p:cmAuthor id="159" name="未知用户82" initials="" lastIdx="1" clrIdx="0"/>
  <p:cmAuthor id="160" name="未知的使用者7" initials="" lastIdx="2" clrIdx="0"/>
  <p:cmAuthor id="161" name="未知用户6" initials="" lastIdx="8" clrIdx="0"/>
  <p:cmAuthor id="162" name="未知的使用者55" initials="" lastIdx="1" clrIdx="0"/>
  <p:cmAuthor id="163" name="未知的使用者111" initials="" lastIdx="1" clrIdx="0"/>
  <p:cmAuthor id="164" name="未知的使用者50" initials="" lastIdx="1" clrIdx="0"/>
  <p:cmAuthor id="165" name="未知的使用者11" initials="" lastIdx="1" clrIdx="0"/>
  <p:cmAuthor id="166" name="未知用户47" initials="" lastIdx="6" clrIdx="0"/>
  <p:cmAuthor id="167" name="未知用户106" initials="未" lastIdx="1" clrIdx="0"/>
  <p:cmAuthor id="168" name="未知用户116" initials="" lastIdx="1" clrIdx="1"/>
  <p:cmAuthor id="691587972" name="li hui" initials="lh" lastIdx="1" clrIdx="50"/>
  <p:cmAuthor id="169" name="未知的使用者150" initials="未" lastIdx="1" clrIdx="0"/>
  <p:cmAuthor id="170" name="未知的使用者69" initials="" lastIdx="1" clrIdx="1"/>
  <p:cmAuthor id="171" name="未知的使用者112" initials="" lastIdx="1" clrIdx="1"/>
  <p:cmAuthor id="173" name="Kevin Hu" initials="" lastIdx="1" clrIdx="0"/>
  <p:cmAuthor id="174" name="未知的使用者38" initials="" lastIdx="1" clrIdx="0"/>
  <p:cmAuthor id="175" name="唐可欣" initials="" lastIdx="1" clrIdx="0"/>
  <p:cmAuthor id="176" name="未知的使用者8" initials="" lastIdx="1" clrIdx="0"/>
  <p:cmAuthor id="177" name="不明使用者56" initials="" lastIdx="1" clrIdx="0"/>
  <p:cmAuthor id="178" name="P00035_jeremy" initials="" lastIdx="1" clrIdx="0"/>
  <p:cmAuthor id="179" name="Unknown User7" initials="" lastIdx="1" clrIdx="0"/>
  <p:cmAuthor id="180" name="muzi wei" initials="" lastIdx="1" clrIdx="0"/>
  <p:cmAuthor id="181" name="未知的使用者41" initials="" lastIdx="1" clrIdx="0"/>
  <p:cmAuthor id="182" name="未知的使用者13" initials="" lastIdx="1" clrIdx="0"/>
  <p:cmAuthor id="183" name="djj" initials="" lastIdx="2" clrIdx="0"/>
  <p:cmAuthor id="184" name="未知用户117" initials="" lastIdx="1" clrIdx="2"/>
  <p:cmAuthor id="186" name="未知用户13" initials="" lastIdx="1" clrIdx="0"/>
  <p:cmAuthor id="187" name="不明使用者21" initials="" lastIdx="1" clrIdx="0"/>
  <p:cmAuthor id="188" name="YUMINGNJ" initials="" lastIdx="3" clrIdx="0"/>
  <p:cmAuthor id="189" name="未知的使用者52" initials="" lastIdx="1" clrIdx="1"/>
  <p:cmAuthor id="190" name="未知用户109" initials="" lastIdx="1" clrIdx="1"/>
  <p:cmAuthor id="191" name="Unknown User117" initials="U" lastIdx="10" clrIdx="0"/>
  <p:cmAuthor id="192" name="thomas" initials="" lastIdx="1" clrIdx="49"/>
  <p:cmAuthor id="193" name="未知的使用者3" initials="" lastIdx="7" clrIdx="1"/>
  <p:cmAuthor id="194" name="未知用户14" initials="" lastIdx="1" clrIdx="0"/>
  <p:cmAuthor id="195" name="Unknown User65" initials="U" lastIdx="1" clrIdx="0"/>
  <p:cmAuthor id="196" name="未知用户98" initials="" lastIdx="1" clrIdx="2"/>
  <p:cmAuthor id="198" name="未知用户83" initials="" lastIdx="1" clrIdx="1"/>
  <p:cmAuthor id="199" name="未知用户61" initials="" lastIdx="8" clrIdx="0"/>
  <p:cmAuthor id="200" name="張秀娟" initials="" lastIdx="1" clrIdx="2"/>
  <p:cmAuthor id="201" name="Jason Wang" initials="" lastIdx="1" clrIdx="0"/>
  <p:cmAuthor id="202" name="不明使用者18" initials="" lastIdx="0" clrIdx="1"/>
  <p:cmAuthor id="203" name="未知用户28" initials="未" lastIdx="5" clrIdx="1"/>
  <p:cmAuthor id="204" name="未知的使用者72" initials="" lastIdx="1" clrIdx="0"/>
  <p:cmAuthor id="205" name="未知的使用者48" initials="" lastIdx="1" clrIdx="0"/>
  <p:cmAuthor id="206" name="未知的使用者104" initials="" lastIdx="1" clrIdx="0"/>
  <p:cmAuthor id="207" name="未知用户60" initials="" lastIdx="1" clrIdx="0"/>
  <p:cmAuthor id="208" name="未知的使用者39" initials="未" lastIdx="10" clrIdx="0"/>
  <p:cmAuthor id="209" name="Shawna Strickland" initials="" lastIdx="2" clrIdx="0"/>
  <p:cmAuthor id="210" name="未知的使用者36" initials="" lastIdx="3" clrIdx="1"/>
  <p:cmAuthor id="212" name="Daniel Wuu" initials="" lastIdx="1" clrIdx="0"/>
  <p:cmAuthor id="213" name="未知用户56" initials="" lastIdx="1" clrIdx="0"/>
  <p:cmAuthor id="214" name="未知的使用者14" initials="" lastIdx="2" clrIdx="0"/>
  <p:cmAuthor id="217" name="Ashley Eberenz" initials="" lastIdx="7" clrIdx="1"/>
  <p:cmAuthor id="218" name="不明使用者19" initials="" lastIdx="1" clrIdx="0"/>
  <p:cmAuthor id="219" name="qiantong" initials="" lastIdx="3" clrIdx="1"/>
  <p:cmAuthor id="220" name="未知的使用者74" initials="" lastIdx="1" clrIdx="0"/>
  <p:cmAuthor id="221" name="未知的使用者23" initials="" lastIdx="1" clrIdx="0"/>
  <p:cmAuthor id="222" name="未知的使用者1" initials="" lastIdx="8" clrIdx="0"/>
  <p:cmAuthor id="223" name="116304" initials="" lastIdx="1" clrIdx="1"/>
  <p:cmAuthor id="224" name="未知用户31" initials="未" lastIdx="1" clrIdx="1"/>
  <p:cmAuthor id="225" name="R affer" initials="" lastIdx="1" clrIdx="0"/>
  <p:cmAuthor id="226" name="qihua-DCMS" initials="" lastIdx="0" clrIdx="0"/>
  <p:cmAuthor id="227" name="未知用户55" initials="" lastIdx="1" clrIdx="0"/>
  <p:cmAuthor id="228" name="未知的使用者95" initials="" lastIdx="1" clrIdx="0"/>
  <p:cmAuthor id="230" name="未知的使用者32" initials="" lastIdx="1" clrIdx="0"/>
  <p:cmAuthor id="231" name="未知的使用者49" initials="" lastIdx="1" clrIdx="0"/>
  <p:cmAuthor id="232" name="Unknown User26" initials="U" lastIdx="1" clrIdx="1"/>
  <p:cmAuthor id="233" name="yuexuejun" initials="" lastIdx="3" clrIdx="0"/>
  <p:cmAuthor id="234" name="未知的使用者71" initials="" lastIdx="1" clrIdx="1"/>
  <p:cmAuthor id="235" name="未知的使用者105" initials="" lastIdx="1" clrIdx="0"/>
  <p:cmAuthor id="236" name="Unknown User70" initials="" lastIdx="1" clrIdx="0"/>
  <p:cmAuthor id="237" name="clinchen" initials="" lastIdx="0" clrIdx="1"/>
  <p:cmAuthor id="238" name="未知用户23" initials="" lastIdx="1" clrIdx="0"/>
  <p:cmAuthor id="239" name="hanjuncompany" initials="" lastIdx="1" clrIdx="0"/>
  <p:cmAuthor id="240" name="kathy chen" initials="" lastIdx="3" clrIdx="0"/>
  <p:cmAuthor id="241" name="未知的使用者63" initials="" lastIdx="1" clrIdx="0"/>
  <p:cmAuthor id="1411828" name="徐琳00159163" initials="徐琳00159163" lastIdx="1" clrIdx="37"/>
  <p:cmAuthor id="242" name="未知的使用者64" initials="" lastIdx="3" clrIdx="1"/>
  <p:cmAuthor id="243" name="未知的使用者47" initials="" lastIdx="1" clrIdx="0"/>
  <p:cmAuthor id="244" name="未知的使用者60" initials="" lastIdx="8" clrIdx="0"/>
  <p:cmAuthor id="245" name="未知的使用者59" initials="" lastIdx="1" clrIdx="0"/>
  <p:cmAuthor id="246" name="未知的使用者54" initials="" lastIdx="1" clrIdx="0"/>
  <p:cmAuthor id="247" name="未知的使用者66" initials="" lastIdx="8" clrIdx="0"/>
  <p:cmAuthor id="248" name="未知的使用者65" initials="" lastIdx="1" clrIdx="0"/>
  <p:cmAuthor id="249" name="未知的使用者106" initials="" lastIdx="3" clrIdx="1"/>
  <p:cmAuthor id="250" name="未知的使用者107" initials="" lastIdx="1" clrIdx="1"/>
  <p:cmAuthor id="251" name="未知的使用者108" initials="" lastIdx="1" clrIdx="0"/>
  <p:cmAuthor id="252" name="未知的使用者86" initials="" lastIdx="1" clrIdx="0"/>
  <p:cmAuthor id="253" name="未知的使用者116" initials="" lastIdx="1" clrIdx="1"/>
  <p:cmAuthor id="254" name="未知的使用者44" initials="" lastIdx="1" clrIdx="0"/>
  <p:cmAuthor id="255" name="未知的使用者37" initials="" lastIdx="1" clrIdx="0"/>
  <p:cmAuthor id="256" name="未知的使用者126" initials="" lastIdx="1" clrIdx="0"/>
  <p:cmAuthor id="257" name="未知的使用者127" initials="" lastIdx="3" clrIdx="1"/>
  <p:cmAuthor id="258" name="未知的使用者128" initials="" lastIdx="1" clrIdx="1"/>
  <p:cmAuthor id="259" name="未知的使用者124" initials="" lastIdx="1" clrIdx="0"/>
  <p:cmAuthor id="260" name="未知的使用者125" initials="" lastIdx="1" clrIdx="0"/>
  <p:cmAuthor id="261" name="Sara Chen" initials="" lastIdx="1" clrIdx="0"/>
  <p:cmAuthor id="262" name="huang gerrard" initials="" lastIdx="1" clrIdx="0"/>
  <p:cmAuthor id="263" name="未知用户170" initials="" lastIdx="1" clrIdx="0"/>
  <p:cmAuthor id="264" name="未知用户171" initials="" lastIdx="5" clrIdx="1"/>
  <p:cmAuthor id="265" name="未知用户172" initials="" lastIdx="1" clrIdx="1"/>
  <p:cmAuthor id="266" name="未知用户173" initials="" lastIdx="1" clrIdx="0"/>
  <p:cmAuthor id="267" name="未知用户149" initials="" lastIdx="1" clrIdx="0"/>
  <p:cmAuthor id="268" name="未知用户150" initials="" lastIdx="1" clrIdx="0"/>
  <p:cmAuthor id="269" name="未知用户151" initials="" lastIdx="2" clrIdx="0"/>
  <p:cmAuthor id="270" name="未知用户152" initials="" lastIdx="8" clrIdx="0"/>
  <p:cmAuthor id="271" name="未知用户153" initials="" lastIdx="8" clrIdx="0"/>
  <p:cmAuthor id="272" name="未知用户154" initials="" lastIdx="1" clrIdx="0"/>
  <p:cmAuthor id="273" name="未知用户155" initials="" lastIdx="1" clrIdx="0"/>
  <p:cmAuthor id="274" name="未知用户41" initials="" lastIdx="8" clrIdx="0"/>
  <p:cmAuthor id="275" name="未知用户44" initials="" lastIdx="1" clrIdx="0"/>
  <p:cmAuthor id="276" name="未知用户45" initials="" lastIdx="1" clrIdx="0"/>
  <p:cmAuthor id="277" name="未知用户156" initials="" lastIdx="10" clrIdx="0"/>
  <p:cmAuthor id="278" name="未知用户64" initials="" lastIdx="1" clrIdx="0"/>
  <p:cmAuthor id="279" name="未知用户65" initials="" lastIdx="1" clrIdx="0"/>
  <p:cmAuthor id="280" name="未知用户68" initials="" lastIdx="1" clrIdx="0"/>
  <p:cmAuthor id="281" name="未知用户69" initials="" lastIdx="2" clrIdx="0"/>
  <p:cmAuthor id="282" name="未知用户70" initials="" lastIdx="1" clrIdx="1"/>
  <p:cmAuthor id="283" name="未知用户71" initials="" lastIdx="1" clrIdx="0"/>
  <p:cmAuthor id="284" name="未知用户72" initials="" lastIdx="1" clrIdx="0"/>
  <p:cmAuthor id="285" name="未知用户73" initials="" lastIdx="2" clrIdx="0"/>
  <p:cmAuthor id="286" name="未知用户49" initials="" lastIdx="1" clrIdx="0"/>
  <p:cmAuthor id="287" name="未知用户50" initials="" lastIdx="1" clrIdx="0"/>
  <p:cmAuthor id="288" name="未知用户52" initials="" lastIdx="1" clrIdx="0"/>
  <p:cmAuthor id="289" name="MA15" initials="" lastIdx="1" clrIdx="0"/>
  <p:cmAuthor id="290" name="未知用户53" initials="" lastIdx="10" clrIdx="0"/>
  <p:cmAuthor id="291" name="未知用户96" initials="" lastIdx="1" clrIdx="0"/>
  <p:cmAuthor id="292" name="未知用户48" initials="" lastIdx="1" clrIdx="0"/>
  <p:cmAuthor id="293" name="未知用户97" initials="" lastIdx="2" clrIdx="0"/>
  <p:cmAuthor id="294" name="未知用户40" initials="" lastIdx="5" clrIdx="1"/>
  <p:cmAuthor id="295" name="未知用户43" initials="" lastIdx="1" clrIdx="0"/>
  <p:cmAuthor id="296" name="未知用户100" initials="" lastIdx="1" clrIdx="0"/>
  <p:cmAuthor id="297" name="未知用户101" initials="" lastIdx="1" clrIdx="0"/>
  <p:cmAuthor id="298" name="未知用户26" initials="" lastIdx="1" clrIdx="0"/>
  <p:cmAuthor id="299" name="未知用户29" initials="" lastIdx="1" clrIdx="0"/>
  <p:cmAuthor id="300" name="未知用户32" initials="" lastIdx="1" clrIdx="0"/>
  <p:cmAuthor id="301" name="未知用户33" initials="" lastIdx="1" clrIdx="0"/>
  <p:cmAuthor id="302" name="未知用户34" initials="" lastIdx="2" clrIdx="0"/>
  <p:cmAuthor id="303" name="未知用户42" initials="" lastIdx="1" clrIdx="0"/>
  <p:cmAuthor id="304" name="未知的使用者109" initials="" lastIdx="5" clrIdx="1"/>
  <p:cmAuthor id="305" name="未知的使用者122" initials="" lastIdx="1" clrIdx="0"/>
  <p:cmAuthor id="306" name="未知的使用者123" initials="" lastIdx="8" clrIdx="0"/>
  <p:cmAuthor id="691587971" name="徐 安柯" initials="徐" lastIdx="2" clrIdx="41"/>
  <p:cmAuthor id="328" name="焦蕊蕊" initials="焦" lastIdx="1" clrIdx="327"/>
  <p:cmAuthor id="51" name="董雪娥" initials="董" lastIdx="1" clrIdx="50"/>
  <p:cmAuthor id="324" name="李锦" initials="李" lastIdx="2" clrIdx="323"/>
  <p:cmAuthor id="691587973" name="ZHAI TING" initials="ZT" lastIdx="1" clrIdx="57"/>
  <p:cmAuthor id="191251539" name="席琛" initials="" lastIdx="0" clrIdx="58"/>
  <p:cmAuthor id="146566726" name="高飞" initials="高" lastIdx="0" clrIdx="0"/>
  <p:cmAuthor id="146566727" name="xzb1" initials="x" lastIdx="1" clrIdx="1"/>
  <p:cmAuthor id="210492765" name="施普希（菜菜）" initials="施" lastIdx="0" clrIdx="0"/>
  <p:cmAuthor id="210492766" name="yu 1" initials="y1" lastIdx="1" clrIdx="19"/>
  <p:cmAuthor id="8535702" name="曾蓓/贝贝" initials="曾" lastIdx="0" clrIdx="0"/>
  <p:cmAuthor id="322" name="K4-IML" initials="K" lastIdx="1" clrIdx="321"/>
  <p:cmAuthor id="691587974" name="陈文华" initials="u" lastIdx="0" clrIdx="322"/>
  <p:cmAuthor id="210492767" name="李 嘉" initials="李" lastIdx="1" clrIdx="26"/>
  <p:cmAuthor id="47245820" name="Windows 用户" initials="W用" lastIdx="1" clrIdx="16"/>
  <p:cmAuthor id="47245821" name="江莉萍|jiangliping" initials="W用" lastIdx="4" clrIdx="26"/>
  <p:cmAuthor id="331" name="liutAO" initials="l" lastIdx="1" clrIdx="330"/>
  <p:cmAuthor id="287643683" name="王 曦" initials="王" lastIdx="1" clrIdx="13"/>
  <p:cmAuthor id="327" name="liuq" initials="l" lastIdx="1" clrIdx="326"/>
  <p:cmAuthor id="191251540" name="韩剑侠" initials="P" lastIdx="1" clrIdx="41"/>
  <p:cmAuthor id="91" name="范作霖" initials="范" lastIdx="1" clrIdx="22"/>
  <p:cmAuthor id="109" name="刘豹" initials="刘" lastIdx="0" clrIdx="0"/>
  <p:cmAuthor id="120" name="郑汝鸿" initials="郑" lastIdx="2" clrIdx="0"/>
  <p:cmAuthor id="123" name="邢辰凤" initials="邢" lastIdx="45" clrIdx="7"/>
  <p:cmAuthor id="126" name="未知用户46" initials="未" lastIdx="1" clrIdx="1"/>
  <p:cmAuthor id="394525608" name="仇怿俊" initials="仇" lastIdx="0" clrIdx="0"/>
  <p:cmAuthor id="353158055" name="韩雨" initials="韩" lastIdx="0" clrIdx="0"/>
  <p:cmAuthor id="335" name="杜晓云" initials="杜" lastIdx="1" clrIdx="334"/>
  <p:cmAuthor id="343" name="张广利" initials="张" lastIdx="1" clrIdx="342"/>
  <p:cmAuthor id="287643684" name="韩 俊" initials="韩" lastIdx="1" clrIdx="33"/>
  <p:cmAuthor id="394525610" name="10356" initials="1" lastIdx="2" clrIdx="45"/>
  <p:cmAuthor id="330" name="guanxiaoyu" initials="g" lastIdx="1" clrIdx="329"/>
  <p:cmAuthor id="340" name="CZLTFZ002" initials="C" lastIdx="1" clrIdx="339"/>
  <p:cmAuthor id="334" name="何伟" initials="何" lastIdx="1" clrIdx="333"/>
  <p:cmAuthor id="323" name="ethel" initials="e" lastIdx="2" clrIdx="322"/>
  <p:cmAuthor id="325" name="25720" initials="2" lastIdx="1" clrIdx="324"/>
  <p:cmAuthor id="326" name="10546" initials="1" lastIdx="1" clrIdx="325"/>
  <p:cmAuthor id="345" name="孟闪飞" initials="孟" lastIdx="1" clrIdx="344"/>
  <p:cmAuthor id="691587975" name="junqing li" initials="jl" lastIdx="1" clrIdx="331"/>
  <p:cmAuthor id="333" name="曹辰" initials="曹" lastIdx="2" clrIdx="332"/>
  <p:cmAuthor id="475196944" name="姚琳" initials="姚" lastIdx="1133934" clrIdx="0"/>
  <p:cmAuthor id="475196945" name="chen" initials="c" lastIdx="1" clrIdx="2"/>
  <p:cmAuthor id="332" name="Liu, Hongqing (NSB - CN/Shanghai)" initials="L" lastIdx="1" clrIdx="41"/>
  <p:cmAuthor id="348" name="鲁晓芳" initials="鲁" lastIdx="1" clrIdx="347"/>
  <p:cmAuthor id="1411829" name="任涛10036216" initials="任涛10036216" lastIdx="1" clrIdx="4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080"/>
        <p:guide pos="380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gs" Target="tags/tag40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945" y="1279525"/>
            <a:ext cx="614176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7803" y="741363"/>
            <a:ext cx="6582070" cy="370205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8371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574" tIns="45784" rIns="91574" bIns="45784" anchor="t"/>
          <a:lstStyle/>
          <a:p>
            <a:pPr lvl="0"/>
            <a:endParaRPr lang="zh-CN" altLang="en-US" dirty="0"/>
          </a:p>
        </p:txBody>
      </p:sp>
      <p:sp>
        <p:nvSpPr>
          <p:cNvPr id="583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</a:ln>
        </p:spPr>
        <p:txBody>
          <a:bodyPr lIns="91574" tIns="45784" rIns="91574" bIns="45784" anchor="b"/>
          <a:lstStyle/>
          <a:p>
            <a:pPr lvl="0" algn="r" defTabSz="909955" eaLnBrk="1" hangingPunct="1"/>
            <a:fld id="{9A0DB2DC-4C9A-4742-B13C-FB6460FD3503}" type="slidenum">
              <a:rPr lang="zh-CN" altLang="en-US" sz="1200" dirty="0">
                <a:solidFill>
                  <a:srgbClr val="000000"/>
                </a:solidFill>
                <a:latin typeface="Calibri" panose="020F0502020204030204" pitchFamily="34" charset="0"/>
              </a:rPr>
            </a:fld>
            <a:endParaRPr lang="zh-CN" altLang="en-US" sz="1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7803" y="741363"/>
            <a:ext cx="6582070" cy="370205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8371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574" tIns="45784" rIns="91574" bIns="45784" anchor="t"/>
          <a:lstStyle/>
          <a:p>
            <a:pPr lvl="0"/>
            <a:endParaRPr lang="zh-CN" altLang="en-US" dirty="0"/>
          </a:p>
        </p:txBody>
      </p:sp>
      <p:sp>
        <p:nvSpPr>
          <p:cNvPr id="583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</a:ln>
        </p:spPr>
        <p:txBody>
          <a:bodyPr lIns="91574" tIns="45784" rIns="91574" bIns="45784" anchor="b"/>
          <a:lstStyle/>
          <a:p>
            <a:pPr lvl="0" algn="r" defTabSz="909955" eaLnBrk="1" hangingPunct="1"/>
            <a:fld id="{9A0DB2DC-4C9A-4742-B13C-FB6460FD3503}" type="slidenum">
              <a:rPr lang="zh-CN" altLang="en-US" sz="1200" dirty="0">
                <a:solidFill>
                  <a:srgbClr val="000000"/>
                </a:solidFill>
                <a:latin typeface="Calibri" panose="020F0502020204030204" pitchFamily="34" charset="0"/>
              </a:rPr>
            </a:fld>
            <a:endParaRPr lang="zh-CN" altLang="en-US" sz="1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7803" y="741363"/>
            <a:ext cx="6582070" cy="370205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8371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574" tIns="45784" rIns="91574" bIns="45784" anchor="t"/>
          <a:lstStyle/>
          <a:p>
            <a:pPr lvl="0"/>
            <a:endParaRPr lang="zh-CN" altLang="en-US" dirty="0"/>
          </a:p>
        </p:txBody>
      </p:sp>
      <p:sp>
        <p:nvSpPr>
          <p:cNvPr id="583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</a:ln>
        </p:spPr>
        <p:txBody>
          <a:bodyPr lIns="91574" tIns="45784" rIns="91574" bIns="45784" anchor="b"/>
          <a:lstStyle/>
          <a:p>
            <a:pPr lvl="0" algn="r" defTabSz="909955" eaLnBrk="1" hangingPunct="1"/>
            <a:fld id="{9A0DB2DC-4C9A-4742-B13C-FB6460FD3503}" type="slidenum">
              <a:rPr lang="zh-CN" altLang="en-US" sz="1200" dirty="0">
                <a:solidFill>
                  <a:srgbClr val="000000"/>
                </a:solidFill>
                <a:latin typeface="Calibri" panose="020F0502020204030204" pitchFamily="34" charset="0"/>
              </a:rPr>
            </a:fld>
            <a:endParaRPr lang="zh-CN" altLang="en-US" sz="1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7803" y="741363"/>
            <a:ext cx="6582070" cy="370205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8371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574" tIns="45784" rIns="91574" bIns="45784" anchor="t"/>
          <a:lstStyle/>
          <a:p>
            <a:pPr lvl="0"/>
            <a:endParaRPr lang="zh-CN" altLang="en-US" dirty="0"/>
          </a:p>
        </p:txBody>
      </p:sp>
      <p:sp>
        <p:nvSpPr>
          <p:cNvPr id="583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</a:ln>
        </p:spPr>
        <p:txBody>
          <a:bodyPr lIns="91574" tIns="45784" rIns="91574" bIns="45784" anchor="b"/>
          <a:lstStyle/>
          <a:p>
            <a:pPr lvl="0" algn="r" defTabSz="909955" eaLnBrk="1" hangingPunct="1"/>
            <a:fld id="{9A0DB2DC-4C9A-4742-B13C-FB6460FD3503}" type="slidenum">
              <a:rPr lang="zh-CN" altLang="en-US" sz="1200" dirty="0">
                <a:solidFill>
                  <a:srgbClr val="000000"/>
                </a:solidFill>
                <a:latin typeface="Calibri" panose="020F0502020204030204" pitchFamily="34" charset="0"/>
              </a:rPr>
            </a:fld>
            <a:endParaRPr lang="zh-CN" altLang="en-US" sz="1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7803" y="741363"/>
            <a:ext cx="6582070" cy="370205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8371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574" tIns="45784" rIns="91574" bIns="45784" anchor="t"/>
          <a:lstStyle/>
          <a:p>
            <a:pPr lvl="0"/>
            <a:endParaRPr lang="zh-CN" altLang="en-US" dirty="0"/>
          </a:p>
        </p:txBody>
      </p:sp>
      <p:sp>
        <p:nvSpPr>
          <p:cNvPr id="583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</a:ln>
        </p:spPr>
        <p:txBody>
          <a:bodyPr lIns="91574" tIns="45784" rIns="91574" bIns="45784" anchor="b"/>
          <a:lstStyle/>
          <a:p>
            <a:pPr lvl="0" algn="r" defTabSz="909955" eaLnBrk="1" hangingPunct="1"/>
            <a:fld id="{9A0DB2DC-4C9A-4742-B13C-FB6460FD3503}" type="slidenum">
              <a:rPr lang="zh-CN" altLang="en-US" sz="1200" dirty="0">
                <a:solidFill>
                  <a:srgbClr val="000000"/>
                </a:solidFill>
                <a:latin typeface="Calibri" panose="020F0502020204030204" pitchFamily="34" charset="0"/>
              </a:rPr>
            </a:fld>
            <a:endParaRPr lang="zh-CN" altLang="en-US" sz="1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7803" y="741363"/>
            <a:ext cx="6582070" cy="370205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8371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574" tIns="45784" rIns="91574" bIns="45784" anchor="t"/>
          <a:lstStyle/>
          <a:p>
            <a:pPr lvl="0"/>
            <a:endParaRPr lang="zh-CN" altLang="en-US" dirty="0"/>
          </a:p>
        </p:txBody>
      </p:sp>
      <p:sp>
        <p:nvSpPr>
          <p:cNvPr id="583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</a:ln>
        </p:spPr>
        <p:txBody>
          <a:bodyPr lIns="91574" tIns="45784" rIns="91574" bIns="45784" anchor="b"/>
          <a:lstStyle/>
          <a:p>
            <a:pPr lvl="0" algn="r" defTabSz="909955" eaLnBrk="1" hangingPunct="1"/>
            <a:fld id="{9A0DB2DC-4C9A-4742-B13C-FB6460FD3503}" type="slidenum">
              <a:rPr lang="zh-CN" altLang="en-US" sz="1200" dirty="0">
                <a:solidFill>
                  <a:srgbClr val="000000"/>
                </a:solidFill>
                <a:latin typeface="Calibri" panose="020F0502020204030204" pitchFamily="34" charset="0"/>
              </a:rPr>
            </a:fld>
            <a:endParaRPr lang="zh-CN" altLang="en-US" sz="1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7803" y="741363"/>
            <a:ext cx="6582070" cy="370205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8371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574" tIns="45784" rIns="91574" bIns="45784" anchor="t"/>
          <a:lstStyle/>
          <a:p>
            <a:pPr lvl="0"/>
            <a:endParaRPr lang="zh-CN" altLang="en-US" dirty="0"/>
          </a:p>
        </p:txBody>
      </p:sp>
      <p:sp>
        <p:nvSpPr>
          <p:cNvPr id="583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</a:ln>
        </p:spPr>
        <p:txBody>
          <a:bodyPr lIns="91574" tIns="45784" rIns="91574" bIns="45784" anchor="b"/>
          <a:lstStyle/>
          <a:p>
            <a:pPr lvl="0" algn="r" defTabSz="909955" eaLnBrk="1" hangingPunct="1"/>
            <a:fld id="{9A0DB2DC-4C9A-4742-B13C-FB6460FD3503}" type="slidenum">
              <a:rPr lang="zh-CN" altLang="en-US" sz="1200" dirty="0">
                <a:solidFill>
                  <a:srgbClr val="000000"/>
                </a:solidFill>
                <a:latin typeface="Calibri" panose="020F0502020204030204" pitchFamily="34" charset="0"/>
              </a:rPr>
            </a:fld>
            <a:endParaRPr lang="zh-CN" altLang="en-US" sz="1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7803" y="741363"/>
            <a:ext cx="6582070" cy="370205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8371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574" tIns="45784" rIns="91574" bIns="45784" anchor="t"/>
          <a:lstStyle/>
          <a:p>
            <a:pPr lvl="0"/>
            <a:endParaRPr lang="zh-CN" altLang="en-US" dirty="0"/>
          </a:p>
        </p:txBody>
      </p:sp>
      <p:sp>
        <p:nvSpPr>
          <p:cNvPr id="583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</a:ln>
        </p:spPr>
        <p:txBody>
          <a:bodyPr lIns="91574" tIns="45784" rIns="91574" bIns="45784" anchor="b"/>
          <a:lstStyle/>
          <a:p>
            <a:pPr lvl="0" algn="r" defTabSz="909955" eaLnBrk="1" hangingPunct="1"/>
            <a:fld id="{9A0DB2DC-4C9A-4742-B13C-FB6460FD3503}" type="slidenum">
              <a:rPr lang="zh-CN" altLang="en-US" sz="1200" dirty="0">
                <a:solidFill>
                  <a:srgbClr val="000000"/>
                </a:solidFill>
                <a:latin typeface="Calibri" panose="020F0502020204030204" pitchFamily="34" charset="0"/>
              </a:rPr>
            </a:fld>
            <a:endParaRPr lang="zh-CN" altLang="en-US" sz="1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7803" y="741363"/>
            <a:ext cx="6582070" cy="370205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8371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574" tIns="45784" rIns="91574" bIns="45784" anchor="t"/>
          <a:lstStyle/>
          <a:p>
            <a:pPr lvl="0"/>
            <a:endParaRPr lang="zh-CN" altLang="en-US" dirty="0"/>
          </a:p>
        </p:txBody>
      </p:sp>
      <p:sp>
        <p:nvSpPr>
          <p:cNvPr id="583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</a:ln>
        </p:spPr>
        <p:txBody>
          <a:bodyPr lIns="91574" tIns="45784" rIns="91574" bIns="45784" anchor="b"/>
          <a:lstStyle/>
          <a:p>
            <a:pPr lvl="0" algn="r" defTabSz="909955" eaLnBrk="1" hangingPunct="1"/>
            <a:fld id="{9A0DB2DC-4C9A-4742-B13C-FB6460FD3503}" type="slidenum">
              <a:rPr lang="zh-CN" altLang="en-US" sz="1200" dirty="0">
                <a:solidFill>
                  <a:srgbClr val="000000"/>
                </a:solidFill>
                <a:latin typeface="Calibri" panose="020F0502020204030204" pitchFamily="34" charset="0"/>
              </a:rPr>
            </a:fld>
            <a:endParaRPr lang="zh-CN" altLang="en-US" sz="1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7803" y="741363"/>
            <a:ext cx="6582070" cy="370205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8371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574" tIns="45784" rIns="91574" bIns="45784" anchor="t"/>
          <a:lstStyle/>
          <a:p>
            <a:pPr lvl="0"/>
            <a:endParaRPr lang="zh-CN" altLang="en-US" dirty="0"/>
          </a:p>
        </p:txBody>
      </p:sp>
      <p:sp>
        <p:nvSpPr>
          <p:cNvPr id="583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</a:ln>
        </p:spPr>
        <p:txBody>
          <a:bodyPr lIns="91574" tIns="45784" rIns="91574" bIns="45784" anchor="b"/>
          <a:lstStyle/>
          <a:p>
            <a:pPr lvl="0" algn="r" defTabSz="909955" eaLnBrk="1" hangingPunct="1"/>
            <a:fld id="{9A0DB2DC-4C9A-4742-B13C-FB6460FD3503}" type="slidenum">
              <a:rPr lang="zh-CN" altLang="en-US" sz="1200" dirty="0">
                <a:solidFill>
                  <a:srgbClr val="000000"/>
                </a:solidFill>
                <a:latin typeface="Calibri" panose="020F0502020204030204" pitchFamily="34" charset="0"/>
              </a:rPr>
            </a:fld>
            <a:endParaRPr lang="zh-CN" altLang="en-US" sz="1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7803" y="741363"/>
            <a:ext cx="6582070" cy="370205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8371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574" tIns="45784" rIns="91574" bIns="45784" anchor="t"/>
          <a:lstStyle/>
          <a:p>
            <a:pPr lvl="0"/>
            <a:endParaRPr lang="zh-CN" altLang="en-US" dirty="0"/>
          </a:p>
        </p:txBody>
      </p:sp>
      <p:sp>
        <p:nvSpPr>
          <p:cNvPr id="583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</a:ln>
        </p:spPr>
        <p:txBody>
          <a:bodyPr lIns="91574" tIns="45784" rIns="91574" bIns="45784" anchor="b"/>
          <a:lstStyle/>
          <a:p>
            <a:pPr lvl="0" algn="r" defTabSz="909955" eaLnBrk="1" hangingPunct="1"/>
            <a:fld id="{9A0DB2DC-4C9A-4742-B13C-FB6460FD3503}" type="slidenum">
              <a:rPr lang="zh-CN" altLang="en-US" sz="1200" dirty="0">
                <a:solidFill>
                  <a:srgbClr val="000000"/>
                </a:solidFill>
                <a:latin typeface="Calibri" panose="020F0502020204030204" pitchFamily="34" charset="0"/>
              </a:rPr>
            </a:fld>
            <a:endParaRPr lang="zh-CN" altLang="en-US" sz="1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7803" y="741363"/>
            <a:ext cx="6582070" cy="370205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8371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574" tIns="45784" rIns="91574" bIns="45784" anchor="t"/>
          <a:lstStyle/>
          <a:p>
            <a:pPr lvl="0"/>
            <a:endParaRPr lang="zh-CN" altLang="en-US" dirty="0"/>
          </a:p>
        </p:txBody>
      </p:sp>
      <p:sp>
        <p:nvSpPr>
          <p:cNvPr id="583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</a:ln>
        </p:spPr>
        <p:txBody>
          <a:bodyPr lIns="91574" tIns="45784" rIns="91574" bIns="45784" anchor="b"/>
          <a:lstStyle/>
          <a:p>
            <a:pPr lvl="0" algn="r" defTabSz="909955" eaLnBrk="1" hangingPunct="1"/>
            <a:fld id="{9A0DB2DC-4C9A-4742-B13C-FB6460FD3503}" type="slidenum">
              <a:rPr lang="zh-CN" altLang="en-US" sz="1200" dirty="0">
                <a:solidFill>
                  <a:srgbClr val="000000"/>
                </a:solidFill>
                <a:latin typeface="Calibri" panose="020F0502020204030204" pitchFamily="34" charset="0"/>
              </a:rPr>
            </a:fld>
            <a:endParaRPr lang="zh-CN" altLang="en-US" sz="1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7803" y="741363"/>
            <a:ext cx="6582070" cy="370205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8371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574" tIns="45784" rIns="91574" bIns="45784" anchor="t"/>
          <a:lstStyle/>
          <a:p>
            <a:pPr lvl="0"/>
            <a:endParaRPr lang="zh-CN" altLang="en-US" dirty="0"/>
          </a:p>
        </p:txBody>
      </p:sp>
      <p:sp>
        <p:nvSpPr>
          <p:cNvPr id="583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</a:ln>
        </p:spPr>
        <p:txBody>
          <a:bodyPr lIns="91574" tIns="45784" rIns="91574" bIns="45784" anchor="b"/>
          <a:lstStyle/>
          <a:p>
            <a:pPr lvl="0" algn="r" defTabSz="909955" eaLnBrk="1" hangingPunct="1"/>
            <a:fld id="{9A0DB2DC-4C9A-4742-B13C-FB6460FD3503}" type="slidenum">
              <a:rPr lang="zh-CN" altLang="en-US" sz="1200" dirty="0">
                <a:solidFill>
                  <a:srgbClr val="000000"/>
                </a:solidFill>
                <a:latin typeface="Calibri" panose="020F0502020204030204" pitchFamily="34" charset="0"/>
              </a:rPr>
            </a:fld>
            <a:endParaRPr lang="zh-CN" altLang="en-US" sz="1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7803" y="741363"/>
            <a:ext cx="6582070" cy="370205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8371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574" tIns="45784" rIns="91574" bIns="45784" anchor="t"/>
          <a:lstStyle/>
          <a:p>
            <a:pPr lvl="0"/>
            <a:endParaRPr lang="zh-CN" altLang="en-US" dirty="0"/>
          </a:p>
        </p:txBody>
      </p:sp>
      <p:sp>
        <p:nvSpPr>
          <p:cNvPr id="583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</a:ln>
        </p:spPr>
        <p:txBody>
          <a:bodyPr lIns="91574" tIns="45784" rIns="91574" bIns="45784" anchor="b"/>
          <a:lstStyle/>
          <a:p>
            <a:pPr lvl="0" algn="r" defTabSz="909955" eaLnBrk="1" hangingPunct="1"/>
            <a:fld id="{9A0DB2DC-4C9A-4742-B13C-FB6460FD3503}" type="slidenum">
              <a:rPr lang="zh-CN" altLang="en-US" sz="1200" dirty="0">
                <a:solidFill>
                  <a:srgbClr val="000000"/>
                </a:solidFill>
                <a:latin typeface="Calibri" panose="020F0502020204030204" pitchFamily="34" charset="0"/>
              </a:rPr>
            </a:fld>
            <a:endParaRPr lang="zh-CN" altLang="en-US" sz="1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7803" y="741363"/>
            <a:ext cx="6582070" cy="370205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58371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574" tIns="45784" rIns="91574" bIns="45784" anchor="t"/>
          <a:lstStyle/>
          <a:p>
            <a:pPr lvl="0"/>
            <a:endParaRPr lang="zh-CN" altLang="en-US" dirty="0"/>
          </a:p>
        </p:txBody>
      </p:sp>
      <p:sp>
        <p:nvSpPr>
          <p:cNvPr id="583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  <a:noFill/>
          <a:ln w="9525">
            <a:noFill/>
          </a:ln>
        </p:spPr>
        <p:txBody>
          <a:bodyPr lIns="91574" tIns="45784" rIns="91574" bIns="45784" anchor="b"/>
          <a:lstStyle/>
          <a:p>
            <a:pPr lvl="0" algn="r" defTabSz="909955" eaLnBrk="1" hangingPunct="1"/>
            <a:fld id="{9A0DB2DC-4C9A-4742-B13C-FB6460FD3503}" type="slidenum">
              <a:rPr lang="zh-CN" altLang="en-US" sz="1200" dirty="0">
                <a:solidFill>
                  <a:srgbClr val="000000"/>
                </a:solidFill>
                <a:latin typeface="Calibri" panose="020F0502020204030204" pitchFamily="34" charset="0"/>
              </a:rPr>
            </a:fld>
            <a:endParaRPr lang="zh-CN" altLang="en-US" sz="12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7"/>
          <p:cNvPicPr>
            <a:picLocks noChangeAspect="1"/>
          </p:cNvPicPr>
          <p:nvPr userDrawn="1"/>
        </p:nvPicPr>
        <p:blipFill rotWithShape="1">
          <a:blip r:embed="rId2"/>
          <a:srcRect l="73055" r="16743" b="39023"/>
          <a:stretch>
            <a:fillRect/>
          </a:stretch>
        </p:blipFill>
        <p:spPr>
          <a:xfrm>
            <a:off x="9765793" y="177390"/>
            <a:ext cx="2067164" cy="124690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正文页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46094" y="126218"/>
            <a:ext cx="1695484" cy="988207"/>
          </a:xfrm>
          <a:prstGeom prst="rect">
            <a:avLst/>
          </a:prstGeom>
        </p:spPr>
      </p:pic>
      <p:sp>
        <p:nvSpPr>
          <p:cNvPr id="3" name="幻灯片编号"/>
          <p:cNvSpPr txBox="1">
            <a:spLocks noGrp="1"/>
          </p:cNvSpPr>
          <p:nvPr>
            <p:ph type="sldNum" sz="quarter" idx="4"/>
          </p:nvPr>
        </p:nvSpPr>
        <p:spPr>
          <a:xfrm>
            <a:off x="11470396" y="6431915"/>
            <a:ext cx="597622" cy="307975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defTabSz="457200" hangingPunct="0">
              <a:defRPr/>
            </a:pPr>
            <a:fld id="{86CB4B4D-7CA3-9044-876B-883B54F8677D}" type="slidenum">
              <a:rPr lang="en-US" altLang="zh-CN" kern="0" smtClean="0">
                <a:cs typeface="Calibri" panose="020F0502020204030204"/>
                <a:sym typeface="Calibri" panose="020F0502020204030204"/>
              </a:rPr>
            </a:fld>
            <a:endParaRPr lang="zh-CN" altLang="en-US" kern="0" dirty="0"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7868" y="526290"/>
            <a:ext cx="1491937" cy="438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3529802-C3F8-5541-BD5F-197197AB57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3529802-C3F8-5541-BD5F-197197AB57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055" descr="色条 拷贝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67597"/>
            <a:ext cx="12193766" cy="3546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618" r="69166" b="38391"/>
          <a:stretch>
            <a:fillRect/>
          </a:stretch>
        </p:blipFill>
        <p:spPr>
          <a:xfrm>
            <a:off x="9063398" y="302260"/>
            <a:ext cx="2675643" cy="9023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联通版范例一-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17"/>
          <p:cNvSpPr txBox="1"/>
          <p:nvPr userDrawn="1"/>
        </p:nvSpPr>
        <p:spPr>
          <a:xfrm>
            <a:off x="13798962" y="6599238"/>
            <a:ext cx="308610" cy="422275"/>
          </a:xfrm>
          <a:prstGeom prst="rect">
            <a:avLst/>
          </a:prstGeom>
          <a:noFill/>
        </p:spPr>
        <p:txBody>
          <a:bodyPr wrap="none" lIns="91422" tIns="45710" rIns="91422" bIns="4571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1" lang="zh-CN" altLang="en-US" sz="2160" dirty="0">
              <a:solidFill>
                <a:prstClr val="black"/>
              </a:solidFill>
              <a:latin typeface="+mn-lt"/>
              <a:ea typeface="+mn-ea"/>
            </a:endParaRPr>
          </a:p>
        </p:txBody>
      </p:sp>
      <p:grpSp>
        <p:nvGrpSpPr>
          <p:cNvPr id="4" name="组合 5"/>
          <p:cNvGrpSpPr/>
          <p:nvPr userDrawn="1"/>
        </p:nvGrpSpPr>
        <p:grpSpPr bwMode="auto">
          <a:xfrm>
            <a:off x="0" y="332735"/>
            <a:ext cx="12193766" cy="800100"/>
            <a:chOff x="-41" y="503"/>
            <a:chExt cx="19251" cy="1260"/>
          </a:xfrm>
        </p:grpSpPr>
        <p:pic>
          <p:nvPicPr>
            <p:cNvPr id="5" name="图片 8" descr="8"/>
            <p:cNvPicPr>
              <a:picLocks noChangeAspect="1"/>
            </p:cNvPicPr>
            <p:nvPr userDrawn="1"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-41" y="503"/>
              <a:ext cx="13556" cy="1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" name="图片 9" descr="8"/>
            <p:cNvPicPr>
              <a:picLocks noChangeAspect="1"/>
            </p:cNvPicPr>
            <p:nvPr userDrawn="1"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654" y="503"/>
              <a:ext cx="13556" cy="1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0" name="Text Placeholder 23"/>
          <p:cNvSpPr>
            <a:spLocks noGrp="1"/>
          </p:cNvSpPr>
          <p:nvPr>
            <p:ph type="body" sz="quarter" idx="20"/>
          </p:nvPr>
        </p:nvSpPr>
        <p:spPr>
          <a:xfrm>
            <a:off x="9958063" y="6480452"/>
            <a:ext cx="1536923" cy="80686"/>
          </a:xfrm>
        </p:spPr>
        <p:txBody>
          <a:bodyPr lIns="0" tIns="0" rIns="0" bIns="0">
            <a:normAutofit/>
          </a:bodyPr>
          <a:lstStyle>
            <a:lvl1pPr marL="0" indent="0" algn="r">
              <a:buNone/>
              <a:defRPr sz="840" baseline="0">
                <a:latin typeface="Helvetica" pitchFamily="2" charset="0"/>
                <a:ea typeface="HYDaHeiJ" panose="02010600000101010101" pitchFamily="2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/>
    </mc:Choice>
    <mc:Fallback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3529802-C3F8-5541-BD5F-197197AB57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联通版范例一-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 userDrawn="1"/>
        </p:nvSpPr>
        <p:spPr>
          <a:xfrm>
            <a:off x="13799282" y="659892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sz="1800" dirty="0"/>
          </a:p>
        </p:txBody>
      </p:sp>
      <p:sp>
        <p:nvSpPr>
          <p:cNvPr id="20" name="Text Placeholder 23"/>
          <p:cNvSpPr>
            <a:spLocks noGrp="1"/>
          </p:cNvSpPr>
          <p:nvPr>
            <p:ph type="body" sz="quarter" idx="20" hasCustomPrompt="1"/>
          </p:nvPr>
        </p:nvSpPr>
        <p:spPr>
          <a:xfrm>
            <a:off x="9958061" y="6480452"/>
            <a:ext cx="1536923" cy="80686"/>
          </a:xfrm>
        </p:spPr>
        <p:txBody>
          <a:bodyPr lIns="0" tIns="0" rIns="0" bIns="0" anchor="t" anchorCtr="0">
            <a:normAutofit/>
          </a:bodyPr>
          <a:lstStyle>
            <a:lvl1pPr marL="0" indent="0" algn="r">
              <a:buNone/>
              <a:defRPr sz="850" baseline="0">
                <a:latin typeface="Helvetica" pitchFamily="2" charset="0"/>
                <a:ea typeface="汉仪大黑简" panose="02010600000101010101" pitchFamily="2" charset="-122"/>
              </a:defRPr>
            </a:lvl1pPr>
          </a:lstStyle>
          <a:p>
            <a:pPr lvl="0"/>
            <a:r>
              <a:rPr lang="en-US" dirty="0" err="1"/>
              <a:t>页码</a:t>
            </a:r>
            <a:r>
              <a:rPr lang="zh-CN" altLang="en-US" dirty="0"/>
              <a:t>：</a:t>
            </a:r>
            <a:r>
              <a:rPr lang="en-US" altLang="zh-CN" dirty="0"/>
              <a:t>00</a:t>
            </a:r>
            <a:endParaRPr 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1905" y="319405"/>
            <a:ext cx="12198212" cy="800100"/>
            <a:chOff x="3" y="503"/>
            <a:chExt cx="19207" cy="1260"/>
          </a:xfrm>
        </p:grpSpPr>
        <p:pic>
          <p:nvPicPr>
            <p:cNvPr id="5" name="图片 4" descr="8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" y="503"/>
              <a:ext cx="13556" cy="1260"/>
            </a:xfrm>
            <a:prstGeom prst="rect">
              <a:avLst/>
            </a:prstGeom>
          </p:spPr>
        </p:pic>
        <p:pic>
          <p:nvPicPr>
            <p:cNvPr id="3" name="图片 2" descr="8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5654" y="503"/>
              <a:ext cx="13556" cy="1260"/>
            </a:xfrm>
            <a:prstGeom prst="rect">
              <a:avLst/>
            </a:prstGeom>
          </p:spPr>
        </p:pic>
      </p:grpSp>
      <p:sp>
        <p:nvSpPr>
          <p:cNvPr id="2" name="文本框 1"/>
          <p:cNvSpPr txBox="1"/>
          <p:nvPr userDrawn="1"/>
        </p:nvSpPr>
        <p:spPr>
          <a:xfrm>
            <a:off x="0" y="0"/>
            <a:ext cx="1246686" cy="908685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</p:spPr>
        <p:txBody>
          <a:bodyPr wrap="square" rtlCol="0">
            <a:noAutofit/>
          </a:bodyPr>
          <a:p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冬奥联通版范例一-内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0" y="924128"/>
            <a:ext cx="12193766" cy="0"/>
          </a:xfrm>
          <a:prstGeom prst="line">
            <a:avLst/>
          </a:prstGeom>
          <a:ln w="38100">
            <a:solidFill>
              <a:srgbClr val="E6002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16970" y="0"/>
            <a:ext cx="1771850" cy="90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正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直接连接符 4"/>
          <p:cNvSpPr>
            <a:spLocks noChangeShapeType="1"/>
          </p:cNvSpPr>
          <p:nvPr/>
        </p:nvSpPr>
        <p:spPr bwMode="auto">
          <a:xfrm>
            <a:off x="0" y="908051"/>
            <a:ext cx="12193766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</a:ln>
          <a:effectLst>
            <a:outerShdw dist="20000" dir="5400000" rotWithShape="0">
              <a:srgbClr val="B2B2B2">
                <a:alpha val="37999"/>
              </a:srgbClr>
            </a:outerShdw>
          </a:effectLst>
        </p:spPr>
        <p:txBody>
          <a:bodyPr lIns="91440" tIns="45720" rIns="91440" bIns="45720"/>
          <a:lstStyle/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35" b="0" i="0" u="none" strike="noStrike" kern="1200" cap="none" spc="0" normalizeH="0" baseline="0" noProof="0" dirty="0" smtClean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华文中宋" panose="02010600040101010101" pitchFamily="2" charset="-122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8195" name="图片 11"/>
          <p:cNvPicPr>
            <a:picLocks noChangeAspect="1"/>
          </p:cNvPicPr>
          <p:nvPr/>
        </p:nvPicPr>
        <p:blipFill>
          <a:blip r:embed="rId2" cstate="print"/>
          <a:srcRect b="26405"/>
          <a:stretch>
            <a:fillRect/>
          </a:stretch>
        </p:blipFill>
        <p:spPr>
          <a:xfrm>
            <a:off x="10423449" y="71439"/>
            <a:ext cx="1717924" cy="8366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灯片编号占位符 2"/>
          <p:cNvSpPr>
            <a:spLocks noGrp="1"/>
          </p:cNvSpPr>
          <p:nvPr>
            <p:ph type="sldNum" sz="quarter" idx="4"/>
          </p:nvPr>
        </p:nvSpPr>
        <p:spPr>
          <a:xfrm>
            <a:off x="11195085" y="6367464"/>
            <a:ext cx="614452" cy="365125"/>
          </a:xfrm>
          <a:prstGeom prst="rect">
            <a:avLst/>
          </a:prstGeom>
        </p:spPr>
        <p:txBody>
          <a:bodyPr vert="horz" wrap="square" lIns="68569" tIns="34286" rIns="68569" bIns="34286" numCol="1" anchor="ctr" anchorCtr="0" compatLnSpc="1"/>
          <a:lstStyle/>
          <a:p>
            <a:pPr algn="ctr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B3061B-50E1-429F-91A5-B21343D397A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3766" cy="685546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冬奥联合版-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6298" y="0"/>
            <a:ext cx="12205231" cy="6858318"/>
          </a:xfrm>
          <a:prstGeom prst="rect">
            <a:avLst/>
          </a:prstGeom>
        </p:spPr>
      </p:pic>
      <p:pic>
        <p:nvPicPr>
          <p:cNvPr id="6" name="图片 5" descr="2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881115" y="278777"/>
            <a:ext cx="1602188" cy="896662"/>
          </a:xfrm>
          <a:prstGeom prst="rect">
            <a:avLst/>
          </a:prstGeom>
        </p:spPr>
      </p:pic>
      <p:pic>
        <p:nvPicPr>
          <p:cNvPr id="4" name="图片 3" descr="3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079245" y="6473490"/>
            <a:ext cx="1407233" cy="151137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321" y="365125"/>
            <a:ext cx="1051712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321" y="1825625"/>
            <a:ext cx="10517123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321" y="6356351"/>
            <a:ext cx="27435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9185" y="6356351"/>
            <a:ext cx="41153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1847" y="6356351"/>
            <a:ext cx="27435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3529802-C3F8-5541-BD5F-197197AB57B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slideLayout" Target="../slideLayouts/slideLayout6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8.xml"/><Relationship Id="rId5" Type="http://schemas.openxmlformats.org/officeDocument/2006/relationships/image" Target="../media/image15.wmf"/><Relationship Id="rId4" Type="http://schemas.openxmlformats.org/officeDocument/2006/relationships/oleObject" Target="../embeddings/oleObject1.bin"/><Relationship Id="rId3" Type="http://schemas.openxmlformats.org/officeDocument/2006/relationships/image" Target="../media/image14.wmf"/><Relationship Id="rId2" Type="http://schemas.openxmlformats.org/officeDocument/2006/relationships/package" Target="../embeddings/Workbook1.xlsx"/><Relationship Id="rId1" Type="http://schemas.openxmlformats.org/officeDocument/2006/relationships/slide" Target="slide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0" Type="http://schemas.openxmlformats.org/officeDocument/2006/relationships/slideLayout" Target="../slideLayouts/slideLayout6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8.xml"/><Relationship Id="rId1" Type="http://schemas.openxmlformats.org/officeDocument/2006/relationships/tags" Target="../tags/tag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0" Type="http://schemas.openxmlformats.org/officeDocument/2006/relationships/slideLayout" Target="../slideLayouts/slideLayout6.xml"/><Relationship Id="rId1" Type="http://schemas.openxmlformats.org/officeDocument/2006/relationships/tags" Target="../tags/tag3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794123" y="2358390"/>
            <a:ext cx="8541385" cy="1997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sz="4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焦作联通202</a:t>
            </a:r>
            <a:r>
              <a:rPr lang="en-US" sz="4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sz="4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年度基层党支部党建工作考核结果汇报</a:t>
            </a:r>
            <a:endParaRPr sz="40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021193" y="5455285"/>
            <a:ext cx="2272665" cy="612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endParaRPr lang="zh-CN" altLang="en-US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750" advClick="0">
        <p14:shred/>
      </p:transition>
    </mc:Choice>
    <mc:Fallback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fontScale="60000"/>
          </a:bodyPr>
          <a:p>
            <a:endParaRPr lang="zh-CN" altLang="en-US"/>
          </a:p>
        </p:txBody>
      </p:sp>
      <p:sp>
        <p:nvSpPr>
          <p:cNvPr id="18" name="灯片编号占位符 1"/>
          <p:cNvSpPr txBox="1"/>
          <p:nvPr/>
        </p:nvSpPr>
        <p:spPr bwMode="auto">
          <a:xfrm>
            <a:off x="11842346" y="6581706"/>
            <a:ext cx="431540" cy="275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6000" tIns="45720" rIns="36000" bIns="45720" numCol="1" anchor="ctr" anchorCtr="0" compatLnSpc="1">
            <a:spAutoFit/>
          </a:bodyPr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100" b="1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defRPr>
            </a:lvl1pPr>
            <a:lvl2pPr marL="457200" algn="ctr" rtl="0" fontAlgn="base">
              <a:spcBef>
                <a:spcPct val="0"/>
              </a:spcBef>
              <a:spcAft>
                <a:spcPct val="3000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3000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3000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3000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C9040C6-963D-4B80-83DC-4E43C55D1E51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</a:fld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4296023" y="1036955"/>
            <a:ext cx="7620" cy="548259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891153" y="1946275"/>
            <a:ext cx="2897505" cy="2947670"/>
            <a:chOff x="1211854" y="3089382"/>
            <a:chExt cx="1896956" cy="2168151"/>
          </a:xfrm>
        </p:grpSpPr>
        <p:sp>
          <p:nvSpPr>
            <p:cNvPr id="17" name="前进箭头 1212"/>
            <p:cNvSpPr/>
            <p:nvPr/>
          </p:nvSpPr>
          <p:spPr bwMode="auto">
            <a:xfrm>
              <a:off x="2150978" y="3089382"/>
              <a:ext cx="957832" cy="216815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92088" y="459411"/>
                </a:cxn>
                <a:cxn ang="0">
                  <a:pos x="0" y="918822"/>
                </a:cxn>
                <a:cxn ang="0">
                  <a:pos x="0" y="0"/>
                </a:cxn>
              </a:cxnLst>
              <a:rect l="0" t="0" r="r" b="b"/>
              <a:pathLst>
                <a:path w="792088" h="918822">
                  <a:moveTo>
                    <a:pt x="0" y="0"/>
                  </a:moveTo>
                  <a:lnTo>
                    <a:pt x="792088" y="459411"/>
                  </a:lnTo>
                  <a:lnTo>
                    <a:pt x="0" y="9188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50000"/>
                <a:alpha val="76000"/>
              </a:schemeClr>
            </a:solidFill>
            <a:ln w="9525">
              <a:noFill/>
              <a:round/>
            </a:ln>
            <a:effectLst>
              <a:outerShdw blurRad="355600" dist="190500" dir="5460000" algn="ctr" rotWithShape="0">
                <a:srgbClr val="000000">
                  <a:alpha val="91000"/>
                </a:srgbClr>
              </a:outerShdw>
            </a:effectLst>
          </p:spPr>
          <p:txBody>
            <a:bodyPr anchor="ctr"/>
            <a:p>
              <a:pPr defTabSz="4572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1795" kern="0">
                <a:solidFill>
                  <a:sysClr val="windowText" lastClr="000000"/>
                </a:solidFill>
                <a:latin typeface="Tahoma" panose="020B0604030504040204"/>
              </a:endParaRPr>
            </a:p>
          </p:txBody>
        </p:sp>
        <p:sp>
          <p:nvSpPr>
            <p:cNvPr id="20" name="前进箭头 1212"/>
            <p:cNvSpPr/>
            <p:nvPr/>
          </p:nvSpPr>
          <p:spPr bwMode="auto">
            <a:xfrm rot="10800000">
              <a:off x="1211854" y="3089849"/>
              <a:ext cx="957726" cy="216314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92088" y="459411"/>
                </a:cxn>
                <a:cxn ang="0">
                  <a:pos x="0" y="918822"/>
                </a:cxn>
                <a:cxn ang="0">
                  <a:pos x="0" y="0"/>
                </a:cxn>
              </a:cxnLst>
              <a:rect l="0" t="0" r="r" b="b"/>
              <a:pathLst>
                <a:path w="792088" h="918822">
                  <a:moveTo>
                    <a:pt x="0" y="0"/>
                  </a:moveTo>
                  <a:lnTo>
                    <a:pt x="792088" y="459411"/>
                  </a:lnTo>
                  <a:lnTo>
                    <a:pt x="0" y="9188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0027"/>
            </a:solidFill>
            <a:ln w="9525">
              <a:noFill/>
              <a:round/>
            </a:ln>
            <a:effectLst>
              <a:outerShdw blurRad="355600" dist="190500" dir="5460000" algn="ctr" rotWithShape="0">
                <a:srgbClr val="000000">
                  <a:alpha val="91000"/>
                </a:srgbClr>
              </a:outerShdw>
            </a:effectLst>
          </p:spPr>
          <p:txBody>
            <a:bodyPr anchor="ctr"/>
            <a:p>
              <a:pPr defTabSz="4572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1795" kern="0">
                <a:solidFill>
                  <a:sysClr val="windowText" lastClr="000000"/>
                </a:solidFill>
                <a:latin typeface="Tahoma" panose="020B0604030504040204"/>
              </a:endParaRPr>
            </a:p>
          </p:txBody>
        </p:sp>
        <p:sp>
          <p:nvSpPr>
            <p:cNvPr id="21" name="矩形 11"/>
            <p:cNvSpPr/>
            <p:nvPr/>
          </p:nvSpPr>
          <p:spPr bwMode="auto">
            <a:xfrm>
              <a:off x="1698669" y="3634456"/>
              <a:ext cx="452725" cy="719292"/>
            </a:xfrm>
            <a:prstGeom prst="rect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anchor="ctr"/>
            <a:p>
              <a:pPr algn="ctr" defTabSz="4572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1795" kern="0">
                <a:solidFill>
                  <a:sysClr val="window" lastClr="FFFFFF"/>
                </a:solidFill>
                <a:latin typeface="Calibri" panose="020F0502020204030204"/>
              </a:endParaRPr>
            </a:p>
          </p:txBody>
        </p:sp>
        <p:sp>
          <p:nvSpPr>
            <p:cNvPr id="22" name="矩形 12"/>
            <p:cNvSpPr/>
            <p:nvPr/>
          </p:nvSpPr>
          <p:spPr bwMode="auto">
            <a:xfrm>
              <a:off x="2150978" y="4008114"/>
              <a:ext cx="519241" cy="674453"/>
            </a:xfrm>
            <a:prstGeom prst="rect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anchor="ctr"/>
            <a:p>
              <a:pPr algn="ctr" defTabSz="4572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1795" kern="0">
                <a:solidFill>
                  <a:sysClr val="window" lastClr="FFFFFF"/>
                </a:solidFill>
                <a:latin typeface="Calibri" panose="020F0502020204030204"/>
              </a:endParaRPr>
            </a:p>
          </p:txBody>
        </p:sp>
        <p:sp>
          <p:nvSpPr>
            <p:cNvPr id="23" name="文本框 5"/>
            <p:cNvSpPr txBox="1"/>
            <p:nvPr/>
          </p:nvSpPr>
          <p:spPr bwMode="auto">
            <a:xfrm>
              <a:off x="1757286" y="3684900"/>
              <a:ext cx="295165" cy="2933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defTabSz="457200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 b="1" kern="0" dirty="0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目</a:t>
              </a:r>
              <a:endParaRPr lang="zh-CN" altLang="en-US" sz="2000" b="1" kern="0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文本框 6"/>
            <p:cNvSpPr txBox="1"/>
            <p:nvPr/>
          </p:nvSpPr>
          <p:spPr bwMode="auto">
            <a:xfrm>
              <a:off x="2284426" y="4389713"/>
              <a:ext cx="339232" cy="2933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defTabSz="457200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 b="1" kern="0" dirty="0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录</a:t>
              </a:r>
              <a:endParaRPr lang="zh-CN" altLang="en-US" sz="2000" b="1" kern="0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文本框 7"/>
            <p:cNvSpPr txBox="1"/>
            <p:nvPr/>
          </p:nvSpPr>
          <p:spPr bwMode="auto">
            <a:xfrm>
              <a:off x="1698398" y="4051144"/>
              <a:ext cx="1190109" cy="338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defTabSz="457200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400" b="1" kern="0" dirty="0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Contents</a:t>
              </a:r>
              <a:endParaRPr lang="en-US" altLang="zh-CN" sz="2400" b="1" kern="0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47" name="组合 46"/>
          <p:cNvGrpSpPr/>
          <p:nvPr>
            <p:custDataLst>
              <p:tags r:id="rId1"/>
            </p:custDataLst>
          </p:nvPr>
        </p:nvGrpSpPr>
        <p:grpSpPr>
          <a:xfrm>
            <a:off x="5752072" y="1989747"/>
            <a:ext cx="5829300" cy="847090"/>
            <a:chOff x="1159530" y="1377253"/>
            <a:chExt cx="7239407" cy="663523"/>
          </a:xfrm>
        </p:grpSpPr>
        <p:sp>
          <p:nvSpPr>
            <p:cNvPr id="48" name="任意多边形 47"/>
            <p:cNvSpPr/>
            <p:nvPr>
              <p:custDataLst>
                <p:tags r:id="rId2"/>
              </p:custDataLst>
            </p:nvPr>
          </p:nvSpPr>
          <p:spPr>
            <a:xfrm>
              <a:off x="2401585" y="1414060"/>
              <a:ext cx="5997352" cy="589909"/>
            </a:xfrm>
            <a:custGeom>
              <a:avLst/>
              <a:gdLst>
                <a:gd name="connsiteX0" fmla="*/ 98297 w 589768"/>
                <a:gd name="connsiteY0" fmla="*/ 0 h 5346192"/>
                <a:gd name="connsiteX1" fmla="*/ 491471 w 589768"/>
                <a:gd name="connsiteY1" fmla="*/ 0 h 5346192"/>
                <a:gd name="connsiteX2" fmla="*/ 589768 w 589768"/>
                <a:gd name="connsiteY2" fmla="*/ 98297 h 5346192"/>
                <a:gd name="connsiteX3" fmla="*/ 589768 w 589768"/>
                <a:gd name="connsiteY3" fmla="*/ 5346192 h 5346192"/>
                <a:gd name="connsiteX4" fmla="*/ 589768 w 589768"/>
                <a:gd name="connsiteY4" fmla="*/ 5346192 h 5346192"/>
                <a:gd name="connsiteX5" fmla="*/ 0 w 589768"/>
                <a:gd name="connsiteY5" fmla="*/ 5346192 h 5346192"/>
                <a:gd name="connsiteX6" fmla="*/ 0 w 589768"/>
                <a:gd name="connsiteY6" fmla="*/ 5346192 h 5346192"/>
                <a:gd name="connsiteX7" fmla="*/ 0 w 589768"/>
                <a:gd name="connsiteY7" fmla="*/ 98297 h 5346192"/>
                <a:gd name="connsiteX8" fmla="*/ 98297 w 589768"/>
                <a:gd name="connsiteY8" fmla="*/ 0 h 5346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768" h="5346192">
                  <a:moveTo>
                    <a:pt x="589768" y="891056"/>
                  </a:moveTo>
                  <a:lnTo>
                    <a:pt x="589768" y="4455136"/>
                  </a:lnTo>
                  <a:cubicBezTo>
                    <a:pt x="589768" y="4947251"/>
                    <a:pt x="584913" y="5346187"/>
                    <a:pt x="578924" y="5346187"/>
                  </a:cubicBezTo>
                  <a:lnTo>
                    <a:pt x="0" y="5346187"/>
                  </a:lnTo>
                  <a:lnTo>
                    <a:pt x="0" y="5346187"/>
                  </a:lnTo>
                  <a:lnTo>
                    <a:pt x="0" y="5"/>
                  </a:lnTo>
                  <a:lnTo>
                    <a:pt x="0" y="5"/>
                  </a:lnTo>
                  <a:lnTo>
                    <a:pt x="578924" y="5"/>
                  </a:lnTo>
                  <a:cubicBezTo>
                    <a:pt x="584913" y="5"/>
                    <a:pt x="589768" y="398941"/>
                    <a:pt x="589768" y="891056"/>
                  </a:cubicBezTo>
                  <a:close/>
                </a:path>
              </a:pathLst>
            </a:custGeom>
            <a:solidFill>
              <a:schemeClr val="bg1"/>
            </a:solidFill>
            <a:ln w="254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75145" tIns="169558" rIns="307131" bIns="169558" numCol="1" spcCol="1270" anchor="ctr" anchorCtr="0">
              <a:noAutofit/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algn="ctr"/>
              <a:r>
                <a:rPr sz="2000" b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考核</a:t>
              </a:r>
              <a:r>
                <a:rPr lang="zh-CN" sz="2000" b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依据、</a:t>
              </a:r>
              <a:r>
                <a:rPr sz="2000" b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评价内容</a:t>
              </a:r>
              <a:endParaRPr sz="2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49" name="任意多边形 48"/>
            <p:cNvSpPr/>
            <p:nvPr>
              <p:custDataLst>
                <p:tags r:id="rId3"/>
              </p:custDataLst>
            </p:nvPr>
          </p:nvSpPr>
          <p:spPr>
            <a:xfrm>
              <a:off x="1159530" y="1377253"/>
              <a:ext cx="1243632" cy="663523"/>
            </a:xfrm>
            <a:custGeom>
              <a:avLst/>
              <a:gdLst>
                <a:gd name="connsiteX0" fmla="*/ 0 w 1601772"/>
                <a:gd name="connsiteY0" fmla="*/ 122871 h 737210"/>
                <a:gd name="connsiteX1" fmla="*/ 122871 w 1601772"/>
                <a:gd name="connsiteY1" fmla="*/ 0 h 737210"/>
                <a:gd name="connsiteX2" fmla="*/ 1478901 w 1601772"/>
                <a:gd name="connsiteY2" fmla="*/ 0 h 737210"/>
                <a:gd name="connsiteX3" fmla="*/ 1601772 w 1601772"/>
                <a:gd name="connsiteY3" fmla="*/ 122871 h 737210"/>
                <a:gd name="connsiteX4" fmla="*/ 1601772 w 1601772"/>
                <a:gd name="connsiteY4" fmla="*/ 614339 h 737210"/>
                <a:gd name="connsiteX5" fmla="*/ 1478901 w 1601772"/>
                <a:gd name="connsiteY5" fmla="*/ 737210 h 737210"/>
                <a:gd name="connsiteX6" fmla="*/ 122871 w 1601772"/>
                <a:gd name="connsiteY6" fmla="*/ 737210 h 737210"/>
                <a:gd name="connsiteX7" fmla="*/ 0 w 1601772"/>
                <a:gd name="connsiteY7" fmla="*/ 614339 h 737210"/>
                <a:gd name="connsiteX8" fmla="*/ 0 w 1601772"/>
                <a:gd name="connsiteY8" fmla="*/ 122871 h 73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01772" h="737210">
                  <a:moveTo>
                    <a:pt x="0" y="122871"/>
                  </a:moveTo>
                  <a:cubicBezTo>
                    <a:pt x="0" y="55011"/>
                    <a:pt x="55011" y="0"/>
                    <a:pt x="122871" y="0"/>
                  </a:cubicBezTo>
                  <a:lnTo>
                    <a:pt x="1478901" y="0"/>
                  </a:lnTo>
                  <a:cubicBezTo>
                    <a:pt x="1546761" y="0"/>
                    <a:pt x="1601772" y="55011"/>
                    <a:pt x="1601772" y="122871"/>
                  </a:cubicBezTo>
                  <a:lnTo>
                    <a:pt x="1601772" y="614339"/>
                  </a:lnTo>
                  <a:cubicBezTo>
                    <a:pt x="1601772" y="682199"/>
                    <a:pt x="1546761" y="737210"/>
                    <a:pt x="1478901" y="737210"/>
                  </a:cubicBezTo>
                  <a:lnTo>
                    <a:pt x="122871" y="737210"/>
                  </a:lnTo>
                  <a:cubicBezTo>
                    <a:pt x="55011" y="737210"/>
                    <a:pt x="0" y="682199"/>
                    <a:pt x="0" y="614339"/>
                  </a:cubicBezTo>
                  <a:lnTo>
                    <a:pt x="0" y="122871"/>
                  </a:lnTo>
                  <a:close/>
                </a:path>
              </a:pathLst>
            </a:custGeom>
            <a:gradFill>
              <a:gsLst>
                <a:gs pos="0">
                  <a:srgbClr val="E30000"/>
                </a:gs>
                <a:gs pos="100000">
                  <a:srgbClr val="760303"/>
                </a:gs>
              </a:gsLst>
              <a:lin ang="5400000" scaled="0"/>
            </a:gradFill>
            <a:ln w="381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96604" tIns="118294" rIns="196604" bIns="118294" numCol="1" spcCol="1270" anchor="ctr" anchorCtr="0">
              <a:noAutofit/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1644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800" b="1" kern="1200" dirty="0">
                  <a:latin typeface="微软雅黑" panose="020B0503020204020204" charset="-122"/>
                  <a:ea typeface="微软雅黑" panose="020B0503020204020204" charset="-122"/>
                  <a:sym typeface="inpin heiti" panose="00000500000000000000" pitchFamily="2" charset="-122"/>
                </a:rPr>
                <a:t>一</a:t>
              </a:r>
              <a:endParaRPr lang="zh-CN" altLang="en-US" sz="2800" b="1" kern="1200" dirty="0">
                <a:latin typeface="微软雅黑" panose="020B0503020204020204" charset="-122"/>
                <a:ea typeface="微软雅黑" panose="020B0503020204020204" charset="-122"/>
                <a:sym typeface="inpin heiti" panose="00000500000000000000" pitchFamily="2" charset="-122"/>
              </a:endParaRPr>
            </a:p>
          </p:txBody>
        </p:sp>
      </p:grpSp>
      <p:grpSp>
        <p:nvGrpSpPr>
          <p:cNvPr id="2" name="组合 1"/>
          <p:cNvGrpSpPr/>
          <p:nvPr>
            <p:custDataLst>
              <p:tags r:id="rId4"/>
            </p:custDataLst>
          </p:nvPr>
        </p:nvGrpSpPr>
        <p:grpSpPr>
          <a:xfrm>
            <a:off x="5754618" y="3054985"/>
            <a:ext cx="5829935" cy="847090"/>
            <a:chOff x="1158741" y="1377253"/>
            <a:chExt cx="6859297" cy="663523"/>
          </a:xfrm>
        </p:grpSpPr>
        <p:sp>
          <p:nvSpPr>
            <p:cNvPr id="3" name="任意多边形 2"/>
            <p:cNvSpPr/>
            <p:nvPr>
              <p:custDataLst>
                <p:tags r:id="rId5"/>
              </p:custDataLst>
            </p:nvPr>
          </p:nvSpPr>
          <p:spPr>
            <a:xfrm>
              <a:off x="2401584" y="1414060"/>
              <a:ext cx="5616454" cy="589909"/>
            </a:xfrm>
            <a:custGeom>
              <a:avLst/>
              <a:gdLst>
                <a:gd name="connsiteX0" fmla="*/ 98297 w 589768"/>
                <a:gd name="connsiteY0" fmla="*/ 0 h 5346192"/>
                <a:gd name="connsiteX1" fmla="*/ 491471 w 589768"/>
                <a:gd name="connsiteY1" fmla="*/ 0 h 5346192"/>
                <a:gd name="connsiteX2" fmla="*/ 589768 w 589768"/>
                <a:gd name="connsiteY2" fmla="*/ 98297 h 5346192"/>
                <a:gd name="connsiteX3" fmla="*/ 589768 w 589768"/>
                <a:gd name="connsiteY3" fmla="*/ 5346192 h 5346192"/>
                <a:gd name="connsiteX4" fmla="*/ 589768 w 589768"/>
                <a:gd name="connsiteY4" fmla="*/ 5346192 h 5346192"/>
                <a:gd name="connsiteX5" fmla="*/ 0 w 589768"/>
                <a:gd name="connsiteY5" fmla="*/ 5346192 h 5346192"/>
                <a:gd name="connsiteX6" fmla="*/ 0 w 589768"/>
                <a:gd name="connsiteY6" fmla="*/ 5346192 h 5346192"/>
                <a:gd name="connsiteX7" fmla="*/ 0 w 589768"/>
                <a:gd name="connsiteY7" fmla="*/ 98297 h 5346192"/>
                <a:gd name="connsiteX8" fmla="*/ 98297 w 589768"/>
                <a:gd name="connsiteY8" fmla="*/ 0 h 5346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768" h="5346192">
                  <a:moveTo>
                    <a:pt x="589768" y="891056"/>
                  </a:moveTo>
                  <a:lnTo>
                    <a:pt x="589768" y="4455136"/>
                  </a:lnTo>
                  <a:cubicBezTo>
                    <a:pt x="589768" y="4947251"/>
                    <a:pt x="584913" y="5346187"/>
                    <a:pt x="578924" y="5346187"/>
                  </a:cubicBezTo>
                  <a:lnTo>
                    <a:pt x="0" y="5346187"/>
                  </a:lnTo>
                  <a:lnTo>
                    <a:pt x="0" y="5346187"/>
                  </a:lnTo>
                  <a:lnTo>
                    <a:pt x="0" y="5"/>
                  </a:lnTo>
                  <a:lnTo>
                    <a:pt x="0" y="5"/>
                  </a:lnTo>
                  <a:lnTo>
                    <a:pt x="578924" y="5"/>
                  </a:lnTo>
                  <a:cubicBezTo>
                    <a:pt x="584913" y="5"/>
                    <a:pt x="589768" y="398941"/>
                    <a:pt x="589768" y="891056"/>
                  </a:cubicBezTo>
                  <a:close/>
                </a:path>
              </a:pathLst>
            </a:custGeom>
            <a:solidFill>
              <a:schemeClr val="bg1"/>
            </a:solidFill>
            <a:ln w="254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75145" tIns="169558" rIns="307131" bIns="169558" numCol="1" spcCol="1270" anchor="ctr" anchorCtr="0">
              <a:noAutofit/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zh-CN" sz="20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年度考核评价内容</a:t>
              </a:r>
              <a:endParaRPr lang="zh-CN" sz="20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5" name="任意多边形 4"/>
            <p:cNvSpPr/>
            <p:nvPr>
              <p:custDataLst>
                <p:tags r:id="rId6"/>
              </p:custDataLst>
            </p:nvPr>
          </p:nvSpPr>
          <p:spPr>
            <a:xfrm>
              <a:off x="1158741" y="1377253"/>
              <a:ext cx="1243632" cy="663523"/>
            </a:xfrm>
            <a:custGeom>
              <a:avLst/>
              <a:gdLst>
                <a:gd name="connsiteX0" fmla="*/ 0 w 1601772"/>
                <a:gd name="connsiteY0" fmla="*/ 122871 h 737210"/>
                <a:gd name="connsiteX1" fmla="*/ 122871 w 1601772"/>
                <a:gd name="connsiteY1" fmla="*/ 0 h 737210"/>
                <a:gd name="connsiteX2" fmla="*/ 1478901 w 1601772"/>
                <a:gd name="connsiteY2" fmla="*/ 0 h 737210"/>
                <a:gd name="connsiteX3" fmla="*/ 1601772 w 1601772"/>
                <a:gd name="connsiteY3" fmla="*/ 122871 h 737210"/>
                <a:gd name="connsiteX4" fmla="*/ 1601772 w 1601772"/>
                <a:gd name="connsiteY4" fmla="*/ 614339 h 737210"/>
                <a:gd name="connsiteX5" fmla="*/ 1478901 w 1601772"/>
                <a:gd name="connsiteY5" fmla="*/ 737210 h 737210"/>
                <a:gd name="connsiteX6" fmla="*/ 122871 w 1601772"/>
                <a:gd name="connsiteY6" fmla="*/ 737210 h 737210"/>
                <a:gd name="connsiteX7" fmla="*/ 0 w 1601772"/>
                <a:gd name="connsiteY7" fmla="*/ 614339 h 737210"/>
                <a:gd name="connsiteX8" fmla="*/ 0 w 1601772"/>
                <a:gd name="connsiteY8" fmla="*/ 122871 h 73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01772" h="737210">
                  <a:moveTo>
                    <a:pt x="0" y="122871"/>
                  </a:moveTo>
                  <a:cubicBezTo>
                    <a:pt x="0" y="55011"/>
                    <a:pt x="55011" y="0"/>
                    <a:pt x="122871" y="0"/>
                  </a:cubicBezTo>
                  <a:lnTo>
                    <a:pt x="1478901" y="0"/>
                  </a:lnTo>
                  <a:cubicBezTo>
                    <a:pt x="1546761" y="0"/>
                    <a:pt x="1601772" y="55011"/>
                    <a:pt x="1601772" y="122871"/>
                  </a:cubicBezTo>
                  <a:lnTo>
                    <a:pt x="1601772" y="614339"/>
                  </a:lnTo>
                  <a:cubicBezTo>
                    <a:pt x="1601772" y="682199"/>
                    <a:pt x="1546761" y="737210"/>
                    <a:pt x="1478901" y="737210"/>
                  </a:cubicBezTo>
                  <a:lnTo>
                    <a:pt x="122871" y="737210"/>
                  </a:lnTo>
                  <a:cubicBezTo>
                    <a:pt x="55011" y="737210"/>
                    <a:pt x="0" y="682199"/>
                    <a:pt x="0" y="614339"/>
                  </a:cubicBezTo>
                  <a:lnTo>
                    <a:pt x="0" y="12287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381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96604" tIns="118294" rIns="196604" bIns="118294" numCol="1" spcCol="1270" anchor="ctr" anchorCtr="0">
              <a:noAutofit/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1644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800" b="1" kern="1200" dirty="0">
                  <a:latin typeface="微软雅黑" panose="020B0503020204020204" charset="-122"/>
                  <a:ea typeface="微软雅黑" panose="020B0503020204020204" charset="-122"/>
                  <a:sym typeface="inpin heiti" panose="00000500000000000000" pitchFamily="2" charset="-122"/>
                </a:rPr>
                <a:t>二</a:t>
              </a:r>
              <a:endParaRPr lang="zh-CN" altLang="en-US" sz="2800" b="1" kern="1200" dirty="0">
                <a:latin typeface="微软雅黑" panose="020B0503020204020204" charset="-122"/>
                <a:ea typeface="微软雅黑" panose="020B0503020204020204" charset="-122"/>
                <a:sym typeface="inpin heiti" panose="00000500000000000000" pitchFamily="2" charset="-122"/>
              </a:endParaRPr>
            </a:p>
          </p:txBody>
        </p:sp>
      </p:grpSp>
      <p:grpSp>
        <p:nvGrpSpPr>
          <p:cNvPr id="10" name="组合 9"/>
          <p:cNvGrpSpPr/>
          <p:nvPr>
            <p:custDataLst>
              <p:tags r:id="rId7"/>
            </p:custDataLst>
          </p:nvPr>
        </p:nvGrpSpPr>
        <p:grpSpPr>
          <a:xfrm>
            <a:off x="5745728" y="4133215"/>
            <a:ext cx="5829935" cy="847090"/>
            <a:chOff x="1158741" y="1377253"/>
            <a:chExt cx="6859297" cy="663523"/>
          </a:xfrm>
        </p:grpSpPr>
        <p:sp>
          <p:nvSpPr>
            <p:cNvPr id="11" name="任意多边形 10"/>
            <p:cNvSpPr/>
            <p:nvPr>
              <p:custDataLst>
                <p:tags r:id="rId8"/>
              </p:custDataLst>
            </p:nvPr>
          </p:nvSpPr>
          <p:spPr>
            <a:xfrm>
              <a:off x="2401584" y="1414060"/>
              <a:ext cx="5616454" cy="589909"/>
            </a:xfrm>
            <a:custGeom>
              <a:avLst/>
              <a:gdLst>
                <a:gd name="connsiteX0" fmla="*/ 98297 w 589768"/>
                <a:gd name="connsiteY0" fmla="*/ 0 h 5346192"/>
                <a:gd name="connsiteX1" fmla="*/ 491471 w 589768"/>
                <a:gd name="connsiteY1" fmla="*/ 0 h 5346192"/>
                <a:gd name="connsiteX2" fmla="*/ 589768 w 589768"/>
                <a:gd name="connsiteY2" fmla="*/ 98297 h 5346192"/>
                <a:gd name="connsiteX3" fmla="*/ 589768 w 589768"/>
                <a:gd name="connsiteY3" fmla="*/ 5346192 h 5346192"/>
                <a:gd name="connsiteX4" fmla="*/ 589768 w 589768"/>
                <a:gd name="connsiteY4" fmla="*/ 5346192 h 5346192"/>
                <a:gd name="connsiteX5" fmla="*/ 0 w 589768"/>
                <a:gd name="connsiteY5" fmla="*/ 5346192 h 5346192"/>
                <a:gd name="connsiteX6" fmla="*/ 0 w 589768"/>
                <a:gd name="connsiteY6" fmla="*/ 5346192 h 5346192"/>
                <a:gd name="connsiteX7" fmla="*/ 0 w 589768"/>
                <a:gd name="connsiteY7" fmla="*/ 98297 h 5346192"/>
                <a:gd name="connsiteX8" fmla="*/ 98297 w 589768"/>
                <a:gd name="connsiteY8" fmla="*/ 0 h 5346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768" h="5346192">
                  <a:moveTo>
                    <a:pt x="589768" y="891056"/>
                  </a:moveTo>
                  <a:lnTo>
                    <a:pt x="589768" y="4455136"/>
                  </a:lnTo>
                  <a:cubicBezTo>
                    <a:pt x="589768" y="4947251"/>
                    <a:pt x="584913" y="5346187"/>
                    <a:pt x="578924" y="5346187"/>
                  </a:cubicBezTo>
                  <a:lnTo>
                    <a:pt x="0" y="5346187"/>
                  </a:lnTo>
                  <a:lnTo>
                    <a:pt x="0" y="5346187"/>
                  </a:lnTo>
                  <a:lnTo>
                    <a:pt x="0" y="5"/>
                  </a:lnTo>
                  <a:lnTo>
                    <a:pt x="0" y="5"/>
                  </a:lnTo>
                  <a:lnTo>
                    <a:pt x="578924" y="5"/>
                  </a:lnTo>
                  <a:cubicBezTo>
                    <a:pt x="584913" y="5"/>
                    <a:pt x="589768" y="398941"/>
                    <a:pt x="589768" y="891056"/>
                  </a:cubicBezTo>
                  <a:close/>
                </a:path>
              </a:pathLst>
            </a:custGeom>
            <a:solidFill>
              <a:schemeClr val="bg1"/>
            </a:solidFill>
            <a:ln w="254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75145" tIns="169558" rIns="307131" bIns="169558" numCol="1" spcCol="1270" anchor="ctr" anchorCtr="0">
              <a:noAutofit/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zh-CN" sz="20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年度考核结果</a:t>
              </a:r>
              <a:endParaRPr lang="zh-CN" sz="20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2" name="任意多边形 11"/>
            <p:cNvSpPr/>
            <p:nvPr>
              <p:custDataLst>
                <p:tags r:id="rId9"/>
              </p:custDataLst>
            </p:nvPr>
          </p:nvSpPr>
          <p:spPr>
            <a:xfrm>
              <a:off x="1158741" y="1377253"/>
              <a:ext cx="1243632" cy="663523"/>
            </a:xfrm>
            <a:custGeom>
              <a:avLst/>
              <a:gdLst>
                <a:gd name="connsiteX0" fmla="*/ 0 w 1601772"/>
                <a:gd name="connsiteY0" fmla="*/ 122871 h 737210"/>
                <a:gd name="connsiteX1" fmla="*/ 122871 w 1601772"/>
                <a:gd name="connsiteY1" fmla="*/ 0 h 737210"/>
                <a:gd name="connsiteX2" fmla="*/ 1478901 w 1601772"/>
                <a:gd name="connsiteY2" fmla="*/ 0 h 737210"/>
                <a:gd name="connsiteX3" fmla="*/ 1601772 w 1601772"/>
                <a:gd name="connsiteY3" fmla="*/ 122871 h 737210"/>
                <a:gd name="connsiteX4" fmla="*/ 1601772 w 1601772"/>
                <a:gd name="connsiteY4" fmla="*/ 614339 h 737210"/>
                <a:gd name="connsiteX5" fmla="*/ 1478901 w 1601772"/>
                <a:gd name="connsiteY5" fmla="*/ 737210 h 737210"/>
                <a:gd name="connsiteX6" fmla="*/ 122871 w 1601772"/>
                <a:gd name="connsiteY6" fmla="*/ 737210 h 737210"/>
                <a:gd name="connsiteX7" fmla="*/ 0 w 1601772"/>
                <a:gd name="connsiteY7" fmla="*/ 614339 h 737210"/>
                <a:gd name="connsiteX8" fmla="*/ 0 w 1601772"/>
                <a:gd name="connsiteY8" fmla="*/ 122871 h 73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01772" h="737210">
                  <a:moveTo>
                    <a:pt x="0" y="122871"/>
                  </a:moveTo>
                  <a:cubicBezTo>
                    <a:pt x="0" y="55011"/>
                    <a:pt x="55011" y="0"/>
                    <a:pt x="122871" y="0"/>
                  </a:cubicBezTo>
                  <a:lnTo>
                    <a:pt x="1478901" y="0"/>
                  </a:lnTo>
                  <a:cubicBezTo>
                    <a:pt x="1546761" y="0"/>
                    <a:pt x="1601772" y="55011"/>
                    <a:pt x="1601772" y="122871"/>
                  </a:cubicBezTo>
                  <a:lnTo>
                    <a:pt x="1601772" y="614339"/>
                  </a:lnTo>
                  <a:cubicBezTo>
                    <a:pt x="1601772" y="682199"/>
                    <a:pt x="1546761" y="737210"/>
                    <a:pt x="1478901" y="737210"/>
                  </a:cubicBezTo>
                  <a:lnTo>
                    <a:pt x="122871" y="737210"/>
                  </a:lnTo>
                  <a:cubicBezTo>
                    <a:pt x="55011" y="737210"/>
                    <a:pt x="0" y="682199"/>
                    <a:pt x="0" y="614339"/>
                  </a:cubicBezTo>
                  <a:lnTo>
                    <a:pt x="0" y="12287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381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96604" tIns="118294" rIns="196604" bIns="118294" numCol="1" spcCol="1270" anchor="ctr" anchorCtr="0">
              <a:noAutofit/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1644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800" b="1" kern="1200" dirty="0">
                  <a:latin typeface="微软雅黑" panose="020B0503020204020204" charset="-122"/>
                  <a:ea typeface="微软雅黑" panose="020B0503020204020204" charset="-122"/>
                  <a:sym typeface="inpin heiti" panose="00000500000000000000" pitchFamily="2" charset="-122"/>
                </a:rPr>
                <a:t>三</a:t>
              </a:r>
              <a:endParaRPr lang="zh-CN" altLang="en-US" sz="2800" b="1" kern="1200" dirty="0">
                <a:latin typeface="微软雅黑" panose="020B0503020204020204" charset="-122"/>
                <a:ea typeface="微软雅黑" panose="020B0503020204020204" charset="-122"/>
                <a:sym typeface="inpin heiti" panose="00000500000000000000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/>
          <p:nvPr/>
        </p:nvSpPr>
        <p:spPr bwMode="auto">
          <a:xfrm>
            <a:off x="1524883" y="164253"/>
            <a:ext cx="8254153" cy="575733"/>
          </a:xfrm>
          <a:prstGeom prst="rect">
            <a:avLst/>
          </a:prstGeom>
          <a:noFill/>
          <a:ln>
            <a:noFill/>
          </a:ln>
        </p:spPr>
        <p:txBody>
          <a:bodyPr lIns="95488" tIns="47684" rIns="95488" bIns="47684" anchor="ctr"/>
          <a:lstStyle/>
          <a:p>
            <a:pPr defTabSz="681990">
              <a:defRPr/>
            </a:pPr>
            <a:endParaRPr lang="zh-CN" altLang="en-US" sz="3200" dirty="0" smtClean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标题 1"/>
          <p:cNvSpPr/>
          <p:nvPr/>
        </p:nvSpPr>
        <p:spPr bwMode="auto">
          <a:xfrm>
            <a:off x="1347083" y="241300"/>
            <a:ext cx="5316855" cy="614045"/>
          </a:xfrm>
          <a:prstGeom prst="rect">
            <a:avLst/>
          </a:prstGeom>
          <a:noFill/>
          <a:ln>
            <a:noFill/>
          </a:ln>
        </p:spPr>
        <p:txBody>
          <a:bodyPr lIns="71616" tIns="35763" rIns="71616" bIns="35763" anchor="ctr"/>
          <a:p>
            <a:pPr algn="l" defTabSz="681990">
              <a:lnSpc>
                <a:spcPct val="100000"/>
              </a:lnSpc>
              <a:buClrTx/>
              <a:buSzTx/>
              <a:buFontTx/>
              <a:defRPr/>
            </a:pPr>
            <a:r>
              <a:rPr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考核</a:t>
            </a:r>
            <a:r>
              <a:rPr lang="zh-CN"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依据</a:t>
            </a:r>
            <a:endParaRPr lang="zh-CN" sz="2400" b="1" dirty="0" smtClean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8203" y="164465"/>
            <a:ext cx="9163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 1</a:t>
            </a:r>
            <a:endParaRPr lang="en-US" altLang="zh-CN" sz="4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>
            <a:hlinkClick r:id="rId1" action="ppaction://hlinksldjump"/>
          </p:cNvPr>
          <p:cNvSpPr txBox="1"/>
          <p:nvPr/>
        </p:nvSpPr>
        <p:spPr>
          <a:xfrm>
            <a:off x="607308" y="1138555"/>
            <a:ext cx="10986770" cy="4930775"/>
          </a:xfrm>
          <a:prstGeom prst="rect">
            <a:avLst/>
          </a:prstGeom>
          <a:noFill/>
          <a:ln w="12700" cmpd="sng">
            <a:solidFill>
              <a:schemeClr val="bg1">
                <a:lumMod val="85000"/>
              </a:schemeClr>
            </a:solidFill>
            <a:prstDash val="solid"/>
          </a:ln>
        </p:spPr>
        <p:txBody>
          <a:bodyPr wrap="square" rtlCol="0">
            <a:noAutofit/>
          </a:bodyPr>
          <a:p>
            <a:pPr marL="285750" marR="0" lvl="1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60010"/>
              </a:buClr>
              <a:buSzTx/>
              <a:buFont typeface="Wingdings" panose="05000000000000000000" charset="0"/>
              <a:buChar char="n"/>
              <a:defRPr/>
            </a:pPr>
            <a:endParaRPr kumimoji="1" lang="en-US" altLang="zh-CN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marR="0" lvl="1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60010"/>
              </a:buClr>
              <a:buSzTx/>
              <a:buFont typeface="Wingdings" panose="05000000000000000000" charset="0"/>
              <a:buChar char="n"/>
              <a:defRPr/>
            </a:pPr>
            <a:r>
              <a:rPr kumimoji="1"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2025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年度，在市公司党委坚强领导和</a:t>
            </a:r>
            <a:r>
              <a:rPr kumimoji="1"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28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个党支部的共同努力下，我公司年度党建考核再上新台阶，取得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考核等次为</a:t>
            </a:r>
            <a:r>
              <a:rPr kumimoji="1"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好</a:t>
            </a:r>
            <a:r>
              <a:rPr kumimoji="1"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，全省</a:t>
            </a:r>
            <a:r>
              <a:rPr kumimoji="1"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第一档（共</a:t>
            </a:r>
            <a:r>
              <a:rPr kumimoji="1"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四档，</a:t>
            </a:r>
            <a:r>
              <a:rPr kumimoji="1"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23</a:t>
            </a:r>
            <a:r>
              <a:rPr kumimoji="1"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年第五档、</a:t>
            </a:r>
            <a:r>
              <a:rPr kumimoji="1"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24</a:t>
            </a:r>
            <a:r>
              <a:rPr kumimoji="1"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年第</a:t>
            </a:r>
            <a:r>
              <a:rPr kumimoji="1"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二档）、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排名第五的好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成绩。</a:t>
            </a:r>
            <a:endParaRPr kumimoji="1" lang="en-US" altLang="zh-CN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marR="0" lvl="1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60010"/>
              </a:buClr>
              <a:buSzTx/>
              <a:buFont typeface="Wingdings" panose="05000000000000000000" charset="0"/>
              <a:buChar char="n"/>
              <a:defRPr/>
            </a:pPr>
            <a:r>
              <a:rPr kumimoji="1"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考核依据：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《</a:t>
            </a:r>
            <a:r>
              <a:rPr kumimoji="1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焦作联通 202</a:t>
            </a:r>
            <a:r>
              <a:rPr kumimoji="1" 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kumimoji="1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年基层党支部党建工作考核评价办法</a:t>
            </a:r>
            <a:r>
              <a:rPr kumimoji="1"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》和《焦作联通202</a:t>
            </a:r>
            <a:r>
              <a:rPr kumimoji="1"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kumimoji="1"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年基层党支部党建工作考核评价细则》。</a:t>
            </a:r>
            <a:endParaRPr kumimoji="1" lang="en-US" altLang="zh-CN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marR="0" lvl="1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60010"/>
              </a:buClr>
              <a:buSzTx/>
              <a:buFont typeface="Wingdings" panose="05000000000000000000" charset="0"/>
              <a:buChar char="p"/>
              <a:defRPr/>
            </a:pPr>
            <a:r>
              <a:rPr kumimoji="1"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考核目标</a:t>
            </a:r>
            <a:r>
              <a:rPr kumimoji="1"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kumimoji="1"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持续完善党建考核评价体系，全面、真实反映各单位党建工作进展和成效，围绕持续推进新战略落实和高质量发展，推动党建与中心工作深度融合，提升党建工作质量，进一步压实党建工作责任制，巩固党建工作成效。</a:t>
            </a:r>
            <a:endParaRPr kumimoji="1" lang="en-US" altLang="zh-CN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marR="0" lvl="1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60010"/>
              </a:buClr>
              <a:buSzTx/>
              <a:buFont typeface="Wingdings" panose="05000000000000000000" charset="0"/>
              <a:buChar char="p"/>
              <a:defRPr/>
            </a:pPr>
            <a:r>
              <a:rPr kumimoji="1" lang="zh-CN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考核周期：</a:t>
            </a:r>
            <a:r>
              <a:rPr kumimoji="1"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2025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年</a:t>
            </a:r>
            <a:r>
              <a:rPr kumimoji="1"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</a:t>
            </a:r>
            <a:r>
              <a:rPr kumimoji="1"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日至</a:t>
            </a:r>
            <a:r>
              <a:rPr kumimoji="1"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12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</a:t>
            </a:r>
            <a:r>
              <a:rPr kumimoji="1"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31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日</a:t>
            </a:r>
            <a:endParaRPr kumimoji="1" lang="en-US" altLang="zh-CN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marR="0" lvl="1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60010"/>
              </a:buClr>
              <a:buSzTx/>
              <a:buFont typeface="Wingdings" panose="05000000000000000000" charset="0"/>
              <a:buChar char="p"/>
              <a:defRPr/>
            </a:pPr>
            <a:r>
              <a:rPr kumimoji="1"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考核评价对象：</a:t>
            </a:r>
            <a:r>
              <a:rPr kumimoji="1"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焦作联通党委所辖各基层党支部</a:t>
            </a:r>
            <a:endParaRPr kumimoji="1" lang="en-US" altLang="zh-CN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849235" y="117475"/>
          <a:ext cx="9715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showAsIcon="1" r:id="rId2" imgW="971550" imgH="800100" progId="Excel.Sheet.12">
                  <p:embed/>
                </p:oleObj>
              </mc:Choice>
              <mc:Fallback>
                <p:oleObj name="" showAsIcon="1" r:id="rId2" imgW="971550" imgH="800100" progId="Excel.Sheet.12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849235" y="117475"/>
                        <a:ext cx="97155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168390" y="189230"/>
          <a:ext cx="9715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" showAsIcon="1" r:id="rId4" imgW="971550" imgH="800100" progId="Package">
                  <p:embed/>
                </p:oleObj>
              </mc:Choice>
              <mc:Fallback>
                <p:oleObj name="" showAsIcon="1" r:id="rId4" imgW="971550" imgH="800100" progId="Package">
                  <p:embed/>
                  <p:pic>
                    <p:nvPicPr>
                      <p:cNvPr id="0" name="图片 102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168390" y="189230"/>
                        <a:ext cx="97155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fontScale="60000"/>
          </a:bodyPr>
          <a:p>
            <a:endParaRPr lang="zh-CN" altLang="en-US"/>
          </a:p>
        </p:txBody>
      </p:sp>
      <p:sp>
        <p:nvSpPr>
          <p:cNvPr id="18" name="灯片编号占位符 1"/>
          <p:cNvSpPr txBox="1"/>
          <p:nvPr/>
        </p:nvSpPr>
        <p:spPr bwMode="auto">
          <a:xfrm>
            <a:off x="11842346" y="6581706"/>
            <a:ext cx="431540" cy="275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6000" tIns="45720" rIns="36000" bIns="45720" numCol="1" anchor="ctr" anchorCtr="0" compatLnSpc="1">
            <a:spAutoFit/>
          </a:bodyPr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100" b="1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defRPr>
            </a:lvl1pPr>
            <a:lvl2pPr marL="457200" algn="ctr" rtl="0" fontAlgn="base">
              <a:spcBef>
                <a:spcPct val="0"/>
              </a:spcBef>
              <a:spcAft>
                <a:spcPct val="3000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3000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3000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3000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C9040C6-963D-4B80-83DC-4E43C55D1E51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</a:fld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4296023" y="1036955"/>
            <a:ext cx="7620" cy="548259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891153" y="1946275"/>
            <a:ext cx="2897505" cy="2947670"/>
            <a:chOff x="1211854" y="3089382"/>
            <a:chExt cx="1896956" cy="2168151"/>
          </a:xfrm>
        </p:grpSpPr>
        <p:sp>
          <p:nvSpPr>
            <p:cNvPr id="17" name="前进箭头 1212"/>
            <p:cNvSpPr/>
            <p:nvPr/>
          </p:nvSpPr>
          <p:spPr bwMode="auto">
            <a:xfrm>
              <a:off x="2150978" y="3089382"/>
              <a:ext cx="957832" cy="216815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92088" y="459411"/>
                </a:cxn>
                <a:cxn ang="0">
                  <a:pos x="0" y="918822"/>
                </a:cxn>
                <a:cxn ang="0">
                  <a:pos x="0" y="0"/>
                </a:cxn>
              </a:cxnLst>
              <a:rect l="0" t="0" r="r" b="b"/>
              <a:pathLst>
                <a:path w="792088" h="918822">
                  <a:moveTo>
                    <a:pt x="0" y="0"/>
                  </a:moveTo>
                  <a:lnTo>
                    <a:pt x="792088" y="459411"/>
                  </a:lnTo>
                  <a:lnTo>
                    <a:pt x="0" y="9188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50000"/>
                <a:alpha val="76000"/>
              </a:schemeClr>
            </a:solidFill>
            <a:ln w="9525">
              <a:noFill/>
              <a:round/>
            </a:ln>
            <a:effectLst>
              <a:outerShdw blurRad="355600" dist="190500" dir="5460000" algn="ctr" rotWithShape="0">
                <a:srgbClr val="000000">
                  <a:alpha val="91000"/>
                </a:srgbClr>
              </a:outerShdw>
            </a:effectLst>
          </p:spPr>
          <p:txBody>
            <a:bodyPr anchor="ctr"/>
            <a:p>
              <a:pPr defTabSz="4572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1795" kern="0">
                <a:solidFill>
                  <a:sysClr val="windowText" lastClr="000000"/>
                </a:solidFill>
                <a:latin typeface="Tahoma" panose="020B0604030504040204"/>
              </a:endParaRPr>
            </a:p>
          </p:txBody>
        </p:sp>
        <p:sp>
          <p:nvSpPr>
            <p:cNvPr id="20" name="前进箭头 1212"/>
            <p:cNvSpPr/>
            <p:nvPr/>
          </p:nvSpPr>
          <p:spPr bwMode="auto">
            <a:xfrm rot="10800000">
              <a:off x="1211854" y="3089849"/>
              <a:ext cx="957726" cy="216314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92088" y="459411"/>
                </a:cxn>
                <a:cxn ang="0">
                  <a:pos x="0" y="918822"/>
                </a:cxn>
                <a:cxn ang="0">
                  <a:pos x="0" y="0"/>
                </a:cxn>
              </a:cxnLst>
              <a:rect l="0" t="0" r="r" b="b"/>
              <a:pathLst>
                <a:path w="792088" h="918822">
                  <a:moveTo>
                    <a:pt x="0" y="0"/>
                  </a:moveTo>
                  <a:lnTo>
                    <a:pt x="792088" y="459411"/>
                  </a:lnTo>
                  <a:lnTo>
                    <a:pt x="0" y="9188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0027"/>
            </a:solidFill>
            <a:ln w="9525">
              <a:noFill/>
              <a:round/>
            </a:ln>
            <a:effectLst>
              <a:outerShdw blurRad="355600" dist="190500" dir="5460000" algn="ctr" rotWithShape="0">
                <a:srgbClr val="000000">
                  <a:alpha val="91000"/>
                </a:srgbClr>
              </a:outerShdw>
            </a:effectLst>
          </p:spPr>
          <p:txBody>
            <a:bodyPr anchor="ctr"/>
            <a:p>
              <a:pPr defTabSz="4572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1795" kern="0">
                <a:solidFill>
                  <a:sysClr val="windowText" lastClr="000000"/>
                </a:solidFill>
                <a:latin typeface="Tahoma" panose="020B0604030504040204"/>
              </a:endParaRPr>
            </a:p>
          </p:txBody>
        </p:sp>
        <p:sp>
          <p:nvSpPr>
            <p:cNvPr id="21" name="矩形 11"/>
            <p:cNvSpPr/>
            <p:nvPr/>
          </p:nvSpPr>
          <p:spPr bwMode="auto">
            <a:xfrm>
              <a:off x="1698669" y="3634456"/>
              <a:ext cx="452725" cy="719292"/>
            </a:xfrm>
            <a:prstGeom prst="rect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anchor="ctr"/>
            <a:p>
              <a:pPr algn="ctr" defTabSz="4572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1795" kern="0">
                <a:solidFill>
                  <a:sysClr val="window" lastClr="FFFFFF"/>
                </a:solidFill>
                <a:latin typeface="Calibri" panose="020F0502020204030204"/>
              </a:endParaRPr>
            </a:p>
          </p:txBody>
        </p:sp>
        <p:sp>
          <p:nvSpPr>
            <p:cNvPr id="22" name="矩形 12"/>
            <p:cNvSpPr/>
            <p:nvPr/>
          </p:nvSpPr>
          <p:spPr bwMode="auto">
            <a:xfrm>
              <a:off x="2150978" y="4008114"/>
              <a:ext cx="519241" cy="674453"/>
            </a:xfrm>
            <a:prstGeom prst="rect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anchor="ctr"/>
            <a:p>
              <a:pPr algn="ctr" defTabSz="4572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1795" kern="0">
                <a:solidFill>
                  <a:sysClr val="window" lastClr="FFFFFF"/>
                </a:solidFill>
                <a:latin typeface="Calibri" panose="020F0502020204030204"/>
              </a:endParaRPr>
            </a:p>
          </p:txBody>
        </p:sp>
        <p:sp>
          <p:nvSpPr>
            <p:cNvPr id="23" name="文本框 5"/>
            <p:cNvSpPr txBox="1"/>
            <p:nvPr/>
          </p:nvSpPr>
          <p:spPr bwMode="auto">
            <a:xfrm>
              <a:off x="1757286" y="3684900"/>
              <a:ext cx="295165" cy="2933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defTabSz="457200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 b="1" kern="0" dirty="0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目</a:t>
              </a:r>
              <a:endParaRPr lang="zh-CN" altLang="en-US" sz="2000" b="1" kern="0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文本框 6"/>
            <p:cNvSpPr txBox="1"/>
            <p:nvPr/>
          </p:nvSpPr>
          <p:spPr bwMode="auto">
            <a:xfrm>
              <a:off x="2284426" y="4389713"/>
              <a:ext cx="339232" cy="2933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defTabSz="457200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 b="1" kern="0" dirty="0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录</a:t>
              </a:r>
              <a:endParaRPr lang="zh-CN" altLang="en-US" sz="2000" b="1" kern="0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文本框 7"/>
            <p:cNvSpPr txBox="1"/>
            <p:nvPr/>
          </p:nvSpPr>
          <p:spPr bwMode="auto">
            <a:xfrm>
              <a:off x="1698398" y="4051144"/>
              <a:ext cx="1190109" cy="338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defTabSz="457200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400" b="1" kern="0" dirty="0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Contents</a:t>
              </a:r>
              <a:endParaRPr lang="en-US" altLang="zh-CN" sz="2400" b="1" kern="0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47" name="组合 46"/>
          <p:cNvGrpSpPr/>
          <p:nvPr>
            <p:custDataLst>
              <p:tags r:id="rId1"/>
            </p:custDataLst>
          </p:nvPr>
        </p:nvGrpSpPr>
        <p:grpSpPr>
          <a:xfrm>
            <a:off x="5752072" y="3068612"/>
            <a:ext cx="5829300" cy="847090"/>
            <a:chOff x="1159530" y="1377253"/>
            <a:chExt cx="7239407" cy="663523"/>
          </a:xfrm>
        </p:grpSpPr>
        <p:sp>
          <p:nvSpPr>
            <p:cNvPr id="48" name="任意多边形 47"/>
            <p:cNvSpPr/>
            <p:nvPr>
              <p:custDataLst>
                <p:tags r:id="rId2"/>
              </p:custDataLst>
            </p:nvPr>
          </p:nvSpPr>
          <p:spPr>
            <a:xfrm>
              <a:off x="2401585" y="1414060"/>
              <a:ext cx="5997352" cy="589909"/>
            </a:xfrm>
            <a:custGeom>
              <a:avLst/>
              <a:gdLst>
                <a:gd name="connsiteX0" fmla="*/ 98297 w 589768"/>
                <a:gd name="connsiteY0" fmla="*/ 0 h 5346192"/>
                <a:gd name="connsiteX1" fmla="*/ 491471 w 589768"/>
                <a:gd name="connsiteY1" fmla="*/ 0 h 5346192"/>
                <a:gd name="connsiteX2" fmla="*/ 589768 w 589768"/>
                <a:gd name="connsiteY2" fmla="*/ 98297 h 5346192"/>
                <a:gd name="connsiteX3" fmla="*/ 589768 w 589768"/>
                <a:gd name="connsiteY3" fmla="*/ 5346192 h 5346192"/>
                <a:gd name="connsiteX4" fmla="*/ 589768 w 589768"/>
                <a:gd name="connsiteY4" fmla="*/ 5346192 h 5346192"/>
                <a:gd name="connsiteX5" fmla="*/ 0 w 589768"/>
                <a:gd name="connsiteY5" fmla="*/ 5346192 h 5346192"/>
                <a:gd name="connsiteX6" fmla="*/ 0 w 589768"/>
                <a:gd name="connsiteY6" fmla="*/ 5346192 h 5346192"/>
                <a:gd name="connsiteX7" fmla="*/ 0 w 589768"/>
                <a:gd name="connsiteY7" fmla="*/ 98297 h 5346192"/>
                <a:gd name="connsiteX8" fmla="*/ 98297 w 589768"/>
                <a:gd name="connsiteY8" fmla="*/ 0 h 5346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768" h="5346192">
                  <a:moveTo>
                    <a:pt x="589768" y="891056"/>
                  </a:moveTo>
                  <a:lnTo>
                    <a:pt x="589768" y="4455136"/>
                  </a:lnTo>
                  <a:cubicBezTo>
                    <a:pt x="589768" y="4947251"/>
                    <a:pt x="584913" y="5346187"/>
                    <a:pt x="578924" y="5346187"/>
                  </a:cubicBezTo>
                  <a:lnTo>
                    <a:pt x="0" y="5346187"/>
                  </a:lnTo>
                  <a:lnTo>
                    <a:pt x="0" y="5346187"/>
                  </a:lnTo>
                  <a:lnTo>
                    <a:pt x="0" y="5"/>
                  </a:lnTo>
                  <a:lnTo>
                    <a:pt x="0" y="5"/>
                  </a:lnTo>
                  <a:lnTo>
                    <a:pt x="578924" y="5"/>
                  </a:lnTo>
                  <a:cubicBezTo>
                    <a:pt x="584913" y="5"/>
                    <a:pt x="589768" y="398941"/>
                    <a:pt x="589768" y="891056"/>
                  </a:cubicBezTo>
                  <a:close/>
                </a:path>
              </a:pathLst>
            </a:custGeom>
            <a:solidFill>
              <a:schemeClr val="bg1"/>
            </a:solidFill>
            <a:ln w="254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75145" tIns="169558" rIns="307131" bIns="169558" numCol="1" spcCol="1270" anchor="ctr" anchorCtr="0">
              <a:noAutofit/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algn="ctr"/>
              <a:r>
                <a:rPr sz="2000" b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年度考核评价内容</a:t>
              </a:r>
              <a:endParaRPr sz="2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49" name="任意多边形 48"/>
            <p:cNvSpPr/>
            <p:nvPr>
              <p:custDataLst>
                <p:tags r:id="rId3"/>
              </p:custDataLst>
            </p:nvPr>
          </p:nvSpPr>
          <p:spPr>
            <a:xfrm>
              <a:off x="1159530" y="1377253"/>
              <a:ext cx="1243632" cy="663523"/>
            </a:xfrm>
            <a:custGeom>
              <a:avLst/>
              <a:gdLst>
                <a:gd name="connsiteX0" fmla="*/ 0 w 1601772"/>
                <a:gd name="connsiteY0" fmla="*/ 122871 h 737210"/>
                <a:gd name="connsiteX1" fmla="*/ 122871 w 1601772"/>
                <a:gd name="connsiteY1" fmla="*/ 0 h 737210"/>
                <a:gd name="connsiteX2" fmla="*/ 1478901 w 1601772"/>
                <a:gd name="connsiteY2" fmla="*/ 0 h 737210"/>
                <a:gd name="connsiteX3" fmla="*/ 1601772 w 1601772"/>
                <a:gd name="connsiteY3" fmla="*/ 122871 h 737210"/>
                <a:gd name="connsiteX4" fmla="*/ 1601772 w 1601772"/>
                <a:gd name="connsiteY4" fmla="*/ 614339 h 737210"/>
                <a:gd name="connsiteX5" fmla="*/ 1478901 w 1601772"/>
                <a:gd name="connsiteY5" fmla="*/ 737210 h 737210"/>
                <a:gd name="connsiteX6" fmla="*/ 122871 w 1601772"/>
                <a:gd name="connsiteY6" fmla="*/ 737210 h 737210"/>
                <a:gd name="connsiteX7" fmla="*/ 0 w 1601772"/>
                <a:gd name="connsiteY7" fmla="*/ 614339 h 737210"/>
                <a:gd name="connsiteX8" fmla="*/ 0 w 1601772"/>
                <a:gd name="connsiteY8" fmla="*/ 122871 h 73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01772" h="737210">
                  <a:moveTo>
                    <a:pt x="0" y="122871"/>
                  </a:moveTo>
                  <a:cubicBezTo>
                    <a:pt x="0" y="55011"/>
                    <a:pt x="55011" y="0"/>
                    <a:pt x="122871" y="0"/>
                  </a:cubicBezTo>
                  <a:lnTo>
                    <a:pt x="1478901" y="0"/>
                  </a:lnTo>
                  <a:cubicBezTo>
                    <a:pt x="1546761" y="0"/>
                    <a:pt x="1601772" y="55011"/>
                    <a:pt x="1601772" y="122871"/>
                  </a:cubicBezTo>
                  <a:lnTo>
                    <a:pt x="1601772" y="614339"/>
                  </a:lnTo>
                  <a:cubicBezTo>
                    <a:pt x="1601772" y="682199"/>
                    <a:pt x="1546761" y="737210"/>
                    <a:pt x="1478901" y="737210"/>
                  </a:cubicBezTo>
                  <a:lnTo>
                    <a:pt x="122871" y="737210"/>
                  </a:lnTo>
                  <a:cubicBezTo>
                    <a:pt x="55011" y="737210"/>
                    <a:pt x="0" y="682199"/>
                    <a:pt x="0" y="614339"/>
                  </a:cubicBezTo>
                  <a:lnTo>
                    <a:pt x="0" y="122871"/>
                  </a:lnTo>
                  <a:close/>
                </a:path>
              </a:pathLst>
            </a:custGeom>
            <a:gradFill>
              <a:gsLst>
                <a:gs pos="0">
                  <a:srgbClr val="E30000"/>
                </a:gs>
                <a:gs pos="100000">
                  <a:srgbClr val="760303"/>
                </a:gs>
              </a:gsLst>
              <a:lin ang="5400000" scaled="0"/>
            </a:gradFill>
            <a:ln w="381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96604" tIns="118294" rIns="196604" bIns="118294" numCol="1" spcCol="1270" anchor="ctr" anchorCtr="0">
              <a:noAutofit/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1644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800" b="1" kern="1200" dirty="0">
                  <a:latin typeface="微软雅黑" panose="020B0503020204020204" charset="-122"/>
                  <a:ea typeface="微软雅黑" panose="020B0503020204020204" charset="-122"/>
                  <a:sym typeface="inpin heiti" panose="00000500000000000000" pitchFamily="2" charset="-122"/>
                </a:rPr>
                <a:t>二</a:t>
              </a:r>
              <a:endParaRPr lang="zh-CN" altLang="en-US" sz="2800" b="1" kern="1200" dirty="0">
                <a:latin typeface="微软雅黑" panose="020B0503020204020204" charset="-122"/>
                <a:ea typeface="微软雅黑" panose="020B0503020204020204" charset="-122"/>
                <a:sym typeface="inpin heiti" panose="00000500000000000000" pitchFamily="2" charset="-122"/>
              </a:endParaRPr>
            </a:p>
          </p:txBody>
        </p:sp>
      </p:grpSp>
      <p:grpSp>
        <p:nvGrpSpPr>
          <p:cNvPr id="2" name="组合 1"/>
          <p:cNvGrpSpPr/>
          <p:nvPr>
            <p:custDataLst>
              <p:tags r:id="rId4"/>
            </p:custDataLst>
          </p:nvPr>
        </p:nvGrpSpPr>
        <p:grpSpPr>
          <a:xfrm>
            <a:off x="5754618" y="1925320"/>
            <a:ext cx="5829935" cy="847090"/>
            <a:chOff x="1158741" y="1377253"/>
            <a:chExt cx="6859297" cy="663523"/>
          </a:xfrm>
        </p:grpSpPr>
        <p:sp>
          <p:nvSpPr>
            <p:cNvPr id="3" name="任意多边形 2"/>
            <p:cNvSpPr/>
            <p:nvPr>
              <p:custDataLst>
                <p:tags r:id="rId5"/>
              </p:custDataLst>
            </p:nvPr>
          </p:nvSpPr>
          <p:spPr>
            <a:xfrm>
              <a:off x="2401584" y="1414060"/>
              <a:ext cx="5616454" cy="589909"/>
            </a:xfrm>
            <a:custGeom>
              <a:avLst/>
              <a:gdLst>
                <a:gd name="connsiteX0" fmla="*/ 98297 w 589768"/>
                <a:gd name="connsiteY0" fmla="*/ 0 h 5346192"/>
                <a:gd name="connsiteX1" fmla="*/ 491471 w 589768"/>
                <a:gd name="connsiteY1" fmla="*/ 0 h 5346192"/>
                <a:gd name="connsiteX2" fmla="*/ 589768 w 589768"/>
                <a:gd name="connsiteY2" fmla="*/ 98297 h 5346192"/>
                <a:gd name="connsiteX3" fmla="*/ 589768 w 589768"/>
                <a:gd name="connsiteY3" fmla="*/ 5346192 h 5346192"/>
                <a:gd name="connsiteX4" fmla="*/ 589768 w 589768"/>
                <a:gd name="connsiteY4" fmla="*/ 5346192 h 5346192"/>
                <a:gd name="connsiteX5" fmla="*/ 0 w 589768"/>
                <a:gd name="connsiteY5" fmla="*/ 5346192 h 5346192"/>
                <a:gd name="connsiteX6" fmla="*/ 0 w 589768"/>
                <a:gd name="connsiteY6" fmla="*/ 5346192 h 5346192"/>
                <a:gd name="connsiteX7" fmla="*/ 0 w 589768"/>
                <a:gd name="connsiteY7" fmla="*/ 98297 h 5346192"/>
                <a:gd name="connsiteX8" fmla="*/ 98297 w 589768"/>
                <a:gd name="connsiteY8" fmla="*/ 0 h 5346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768" h="5346192">
                  <a:moveTo>
                    <a:pt x="589768" y="891056"/>
                  </a:moveTo>
                  <a:lnTo>
                    <a:pt x="589768" y="4455136"/>
                  </a:lnTo>
                  <a:cubicBezTo>
                    <a:pt x="589768" y="4947251"/>
                    <a:pt x="584913" y="5346187"/>
                    <a:pt x="578924" y="5346187"/>
                  </a:cubicBezTo>
                  <a:lnTo>
                    <a:pt x="0" y="5346187"/>
                  </a:lnTo>
                  <a:lnTo>
                    <a:pt x="0" y="5346187"/>
                  </a:lnTo>
                  <a:lnTo>
                    <a:pt x="0" y="5"/>
                  </a:lnTo>
                  <a:lnTo>
                    <a:pt x="0" y="5"/>
                  </a:lnTo>
                  <a:lnTo>
                    <a:pt x="578924" y="5"/>
                  </a:lnTo>
                  <a:cubicBezTo>
                    <a:pt x="584913" y="5"/>
                    <a:pt x="589768" y="398941"/>
                    <a:pt x="589768" y="891056"/>
                  </a:cubicBezTo>
                  <a:close/>
                </a:path>
              </a:pathLst>
            </a:custGeom>
            <a:solidFill>
              <a:schemeClr val="bg1"/>
            </a:solidFill>
            <a:ln w="254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75145" tIns="169558" rIns="307131" bIns="169558" numCol="1" spcCol="1270" anchor="ctr" anchorCtr="0">
              <a:noAutofit/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zh-CN" sz="20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考核依据、评价内容</a:t>
              </a:r>
              <a:endParaRPr lang="zh-CN" sz="20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5" name="任意多边形 4"/>
            <p:cNvSpPr/>
            <p:nvPr>
              <p:custDataLst>
                <p:tags r:id="rId6"/>
              </p:custDataLst>
            </p:nvPr>
          </p:nvSpPr>
          <p:spPr>
            <a:xfrm>
              <a:off x="1158741" y="1377253"/>
              <a:ext cx="1243632" cy="663523"/>
            </a:xfrm>
            <a:custGeom>
              <a:avLst/>
              <a:gdLst>
                <a:gd name="connsiteX0" fmla="*/ 0 w 1601772"/>
                <a:gd name="connsiteY0" fmla="*/ 122871 h 737210"/>
                <a:gd name="connsiteX1" fmla="*/ 122871 w 1601772"/>
                <a:gd name="connsiteY1" fmla="*/ 0 h 737210"/>
                <a:gd name="connsiteX2" fmla="*/ 1478901 w 1601772"/>
                <a:gd name="connsiteY2" fmla="*/ 0 h 737210"/>
                <a:gd name="connsiteX3" fmla="*/ 1601772 w 1601772"/>
                <a:gd name="connsiteY3" fmla="*/ 122871 h 737210"/>
                <a:gd name="connsiteX4" fmla="*/ 1601772 w 1601772"/>
                <a:gd name="connsiteY4" fmla="*/ 614339 h 737210"/>
                <a:gd name="connsiteX5" fmla="*/ 1478901 w 1601772"/>
                <a:gd name="connsiteY5" fmla="*/ 737210 h 737210"/>
                <a:gd name="connsiteX6" fmla="*/ 122871 w 1601772"/>
                <a:gd name="connsiteY6" fmla="*/ 737210 h 737210"/>
                <a:gd name="connsiteX7" fmla="*/ 0 w 1601772"/>
                <a:gd name="connsiteY7" fmla="*/ 614339 h 737210"/>
                <a:gd name="connsiteX8" fmla="*/ 0 w 1601772"/>
                <a:gd name="connsiteY8" fmla="*/ 122871 h 73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01772" h="737210">
                  <a:moveTo>
                    <a:pt x="0" y="122871"/>
                  </a:moveTo>
                  <a:cubicBezTo>
                    <a:pt x="0" y="55011"/>
                    <a:pt x="55011" y="0"/>
                    <a:pt x="122871" y="0"/>
                  </a:cubicBezTo>
                  <a:lnTo>
                    <a:pt x="1478901" y="0"/>
                  </a:lnTo>
                  <a:cubicBezTo>
                    <a:pt x="1546761" y="0"/>
                    <a:pt x="1601772" y="55011"/>
                    <a:pt x="1601772" y="122871"/>
                  </a:cubicBezTo>
                  <a:lnTo>
                    <a:pt x="1601772" y="614339"/>
                  </a:lnTo>
                  <a:cubicBezTo>
                    <a:pt x="1601772" y="682199"/>
                    <a:pt x="1546761" y="737210"/>
                    <a:pt x="1478901" y="737210"/>
                  </a:cubicBezTo>
                  <a:lnTo>
                    <a:pt x="122871" y="737210"/>
                  </a:lnTo>
                  <a:cubicBezTo>
                    <a:pt x="55011" y="737210"/>
                    <a:pt x="0" y="682199"/>
                    <a:pt x="0" y="614339"/>
                  </a:cubicBezTo>
                  <a:lnTo>
                    <a:pt x="0" y="12287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381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96604" tIns="118294" rIns="196604" bIns="118294" numCol="1" spcCol="1270" anchor="ctr" anchorCtr="0">
              <a:noAutofit/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1644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800" b="1" kern="1200" dirty="0">
                  <a:latin typeface="微软雅黑" panose="020B0503020204020204" charset="-122"/>
                  <a:ea typeface="微软雅黑" panose="020B0503020204020204" charset="-122"/>
                  <a:sym typeface="inpin heiti" panose="00000500000000000000" pitchFamily="2" charset="-122"/>
                </a:rPr>
                <a:t>一</a:t>
              </a:r>
              <a:endParaRPr lang="zh-CN" altLang="en-US" sz="2800" b="1" kern="1200" dirty="0">
                <a:latin typeface="微软雅黑" panose="020B0503020204020204" charset="-122"/>
                <a:ea typeface="微软雅黑" panose="020B0503020204020204" charset="-122"/>
                <a:sym typeface="inpin heiti" panose="00000500000000000000" pitchFamily="2" charset="-122"/>
              </a:endParaRPr>
            </a:p>
          </p:txBody>
        </p:sp>
      </p:grpSp>
      <p:grpSp>
        <p:nvGrpSpPr>
          <p:cNvPr id="10" name="组合 9"/>
          <p:cNvGrpSpPr/>
          <p:nvPr>
            <p:custDataLst>
              <p:tags r:id="rId7"/>
            </p:custDataLst>
          </p:nvPr>
        </p:nvGrpSpPr>
        <p:grpSpPr>
          <a:xfrm>
            <a:off x="5745728" y="4257040"/>
            <a:ext cx="5829935" cy="847090"/>
            <a:chOff x="1158741" y="1377253"/>
            <a:chExt cx="6859297" cy="663523"/>
          </a:xfrm>
        </p:grpSpPr>
        <p:sp>
          <p:nvSpPr>
            <p:cNvPr id="11" name="任意多边形 10"/>
            <p:cNvSpPr/>
            <p:nvPr>
              <p:custDataLst>
                <p:tags r:id="rId8"/>
              </p:custDataLst>
            </p:nvPr>
          </p:nvSpPr>
          <p:spPr>
            <a:xfrm>
              <a:off x="2401584" y="1414060"/>
              <a:ext cx="5616454" cy="589909"/>
            </a:xfrm>
            <a:custGeom>
              <a:avLst/>
              <a:gdLst>
                <a:gd name="connsiteX0" fmla="*/ 98297 w 589768"/>
                <a:gd name="connsiteY0" fmla="*/ 0 h 5346192"/>
                <a:gd name="connsiteX1" fmla="*/ 491471 w 589768"/>
                <a:gd name="connsiteY1" fmla="*/ 0 h 5346192"/>
                <a:gd name="connsiteX2" fmla="*/ 589768 w 589768"/>
                <a:gd name="connsiteY2" fmla="*/ 98297 h 5346192"/>
                <a:gd name="connsiteX3" fmla="*/ 589768 w 589768"/>
                <a:gd name="connsiteY3" fmla="*/ 5346192 h 5346192"/>
                <a:gd name="connsiteX4" fmla="*/ 589768 w 589768"/>
                <a:gd name="connsiteY4" fmla="*/ 5346192 h 5346192"/>
                <a:gd name="connsiteX5" fmla="*/ 0 w 589768"/>
                <a:gd name="connsiteY5" fmla="*/ 5346192 h 5346192"/>
                <a:gd name="connsiteX6" fmla="*/ 0 w 589768"/>
                <a:gd name="connsiteY6" fmla="*/ 5346192 h 5346192"/>
                <a:gd name="connsiteX7" fmla="*/ 0 w 589768"/>
                <a:gd name="connsiteY7" fmla="*/ 98297 h 5346192"/>
                <a:gd name="connsiteX8" fmla="*/ 98297 w 589768"/>
                <a:gd name="connsiteY8" fmla="*/ 0 h 5346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768" h="5346192">
                  <a:moveTo>
                    <a:pt x="589768" y="891056"/>
                  </a:moveTo>
                  <a:lnTo>
                    <a:pt x="589768" y="4455136"/>
                  </a:lnTo>
                  <a:cubicBezTo>
                    <a:pt x="589768" y="4947251"/>
                    <a:pt x="584913" y="5346187"/>
                    <a:pt x="578924" y="5346187"/>
                  </a:cubicBezTo>
                  <a:lnTo>
                    <a:pt x="0" y="5346187"/>
                  </a:lnTo>
                  <a:lnTo>
                    <a:pt x="0" y="5346187"/>
                  </a:lnTo>
                  <a:lnTo>
                    <a:pt x="0" y="5"/>
                  </a:lnTo>
                  <a:lnTo>
                    <a:pt x="0" y="5"/>
                  </a:lnTo>
                  <a:lnTo>
                    <a:pt x="578924" y="5"/>
                  </a:lnTo>
                  <a:cubicBezTo>
                    <a:pt x="584913" y="5"/>
                    <a:pt x="589768" y="398941"/>
                    <a:pt x="589768" y="891056"/>
                  </a:cubicBezTo>
                  <a:close/>
                </a:path>
              </a:pathLst>
            </a:custGeom>
            <a:solidFill>
              <a:schemeClr val="bg1"/>
            </a:solidFill>
            <a:ln w="254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75145" tIns="169558" rIns="307131" bIns="169558" numCol="1" spcCol="1270" anchor="ctr" anchorCtr="0">
              <a:noAutofit/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zh-CN" sz="20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年度考核结果</a:t>
              </a:r>
              <a:endParaRPr lang="zh-CN" sz="20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2" name="任意多边形 11"/>
            <p:cNvSpPr/>
            <p:nvPr>
              <p:custDataLst>
                <p:tags r:id="rId9"/>
              </p:custDataLst>
            </p:nvPr>
          </p:nvSpPr>
          <p:spPr>
            <a:xfrm>
              <a:off x="1158741" y="1377253"/>
              <a:ext cx="1243632" cy="663523"/>
            </a:xfrm>
            <a:custGeom>
              <a:avLst/>
              <a:gdLst>
                <a:gd name="connsiteX0" fmla="*/ 0 w 1601772"/>
                <a:gd name="connsiteY0" fmla="*/ 122871 h 737210"/>
                <a:gd name="connsiteX1" fmla="*/ 122871 w 1601772"/>
                <a:gd name="connsiteY1" fmla="*/ 0 h 737210"/>
                <a:gd name="connsiteX2" fmla="*/ 1478901 w 1601772"/>
                <a:gd name="connsiteY2" fmla="*/ 0 h 737210"/>
                <a:gd name="connsiteX3" fmla="*/ 1601772 w 1601772"/>
                <a:gd name="connsiteY3" fmla="*/ 122871 h 737210"/>
                <a:gd name="connsiteX4" fmla="*/ 1601772 w 1601772"/>
                <a:gd name="connsiteY4" fmla="*/ 614339 h 737210"/>
                <a:gd name="connsiteX5" fmla="*/ 1478901 w 1601772"/>
                <a:gd name="connsiteY5" fmla="*/ 737210 h 737210"/>
                <a:gd name="connsiteX6" fmla="*/ 122871 w 1601772"/>
                <a:gd name="connsiteY6" fmla="*/ 737210 h 737210"/>
                <a:gd name="connsiteX7" fmla="*/ 0 w 1601772"/>
                <a:gd name="connsiteY7" fmla="*/ 614339 h 737210"/>
                <a:gd name="connsiteX8" fmla="*/ 0 w 1601772"/>
                <a:gd name="connsiteY8" fmla="*/ 122871 h 73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01772" h="737210">
                  <a:moveTo>
                    <a:pt x="0" y="122871"/>
                  </a:moveTo>
                  <a:cubicBezTo>
                    <a:pt x="0" y="55011"/>
                    <a:pt x="55011" y="0"/>
                    <a:pt x="122871" y="0"/>
                  </a:cubicBezTo>
                  <a:lnTo>
                    <a:pt x="1478901" y="0"/>
                  </a:lnTo>
                  <a:cubicBezTo>
                    <a:pt x="1546761" y="0"/>
                    <a:pt x="1601772" y="55011"/>
                    <a:pt x="1601772" y="122871"/>
                  </a:cubicBezTo>
                  <a:lnTo>
                    <a:pt x="1601772" y="614339"/>
                  </a:lnTo>
                  <a:cubicBezTo>
                    <a:pt x="1601772" y="682199"/>
                    <a:pt x="1546761" y="737210"/>
                    <a:pt x="1478901" y="737210"/>
                  </a:cubicBezTo>
                  <a:lnTo>
                    <a:pt x="122871" y="737210"/>
                  </a:lnTo>
                  <a:cubicBezTo>
                    <a:pt x="55011" y="737210"/>
                    <a:pt x="0" y="682199"/>
                    <a:pt x="0" y="614339"/>
                  </a:cubicBezTo>
                  <a:lnTo>
                    <a:pt x="0" y="12287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381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96604" tIns="118294" rIns="196604" bIns="118294" numCol="1" spcCol="1270" anchor="ctr" anchorCtr="0">
              <a:noAutofit/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1644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800" b="1" kern="1200" dirty="0">
                  <a:latin typeface="微软雅黑" panose="020B0503020204020204" charset="-122"/>
                  <a:ea typeface="微软雅黑" panose="020B0503020204020204" charset="-122"/>
                  <a:sym typeface="inpin heiti" panose="00000500000000000000" pitchFamily="2" charset="-122"/>
                </a:rPr>
                <a:t>三</a:t>
              </a:r>
              <a:endParaRPr lang="zh-CN" altLang="en-US" sz="2800" b="1" kern="1200" dirty="0">
                <a:latin typeface="微软雅黑" panose="020B0503020204020204" charset="-122"/>
                <a:ea typeface="微软雅黑" panose="020B0503020204020204" charset="-122"/>
                <a:sym typeface="inpin heiti" panose="00000500000000000000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/>
          <p:nvPr/>
        </p:nvSpPr>
        <p:spPr bwMode="auto">
          <a:xfrm>
            <a:off x="1524883" y="164253"/>
            <a:ext cx="8254153" cy="575733"/>
          </a:xfrm>
          <a:prstGeom prst="rect">
            <a:avLst/>
          </a:prstGeom>
          <a:noFill/>
          <a:ln>
            <a:noFill/>
          </a:ln>
        </p:spPr>
        <p:txBody>
          <a:bodyPr lIns="95488" tIns="47684" rIns="95488" bIns="47684" anchor="ctr"/>
          <a:lstStyle/>
          <a:p>
            <a:pPr defTabSz="681990">
              <a:defRPr/>
            </a:pPr>
            <a:endParaRPr lang="zh-CN" altLang="en-US" sz="3200" dirty="0" smtClean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标题 1"/>
          <p:cNvSpPr/>
          <p:nvPr/>
        </p:nvSpPr>
        <p:spPr bwMode="auto">
          <a:xfrm>
            <a:off x="1347083" y="241300"/>
            <a:ext cx="5316855" cy="614045"/>
          </a:xfrm>
          <a:prstGeom prst="rect">
            <a:avLst/>
          </a:prstGeom>
          <a:noFill/>
          <a:ln>
            <a:noFill/>
          </a:ln>
        </p:spPr>
        <p:txBody>
          <a:bodyPr lIns="71616" tIns="35763" rIns="71616" bIns="35763" anchor="ctr"/>
          <a:p>
            <a:pPr algn="l" defTabSz="681990">
              <a:lnSpc>
                <a:spcPct val="100000"/>
              </a:lnSpc>
              <a:buClrTx/>
              <a:buSzTx/>
              <a:buFontTx/>
              <a:defRPr/>
            </a:pPr>
            <a:r>
              <a:rPr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考核评价内容</a:t>
            </a:r>
            <a:endParaRPr sz="24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8203" y="164465"/>
            <a:ext cx="9163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 2</a:t>
            </a:r>
            <a:endParaRPr lang="en-US" altLang="zh-CN" sz="4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0535" y="1125855"/>
            <a:ext cx="11663680" cy="4166235"/>
          </a:xfrm>
          <a:prstGeom prst="rect">
            <a:avLst/>
          </a:prstGeom>
          <a:noFill/>
          <a:ln w="12700" cmpd="sng">
            <a:solidFill>
              <a:schemeClr val="bg1">
                <a:lumMod val="85000"/>
              </a:schemeClr>
            </a:solidFill>
            <a:prstDash val="solid"/>
          </a:ln>
        </p:spPr>
        <p:txBody>
          <a:bodyPr wrap="square" rtlCol="0">
            <a:noAutofit/>
          </a:bodyPr>
          <a:p>
            <a:pPr marL="0" marR="0" lvl="1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60010"/>
              </a:buClr>
              <a:buSzTx/>
              <a:buFont typeface="Wingdings" panose="05000000000000000000" charset="0"/>
              <a:buChar char="p"/>
              <a:defRPr/>
            </a:pPr>
            <a:r>
              <a:rPr kumimoji="1"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考核指标体系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分为季度考核和年度考核。季度考核体系包括</a:t>
            </a:r>
            <a:r>
              <a:rPr kumimoji="1"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党建基础工作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kumimoji="1"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分）</a:t>
            </a:r>
            <a:r>
              <a:rPr kumimoji="1"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、党建工作成效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kumimoji="1"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分）、</a:t>
            </a:r>
            <a:r>
              <a:rPr kumimoji="1"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党风廉政建设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kumimoji="1"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分）、宣传工作（</a:t>
            </a:r>
            <a:r>
              <a:rPr kumimoji="1"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分）、日常管理评价（</a:t>
            </a:r>
            <a:r>
              <a:rPr kumimoji="1"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分）五</a:t>
            </a:r>
            <a:r>
              <a:rPr kumimoji="1"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个方面，实行百分制评价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r>
              <a:rPr kumimoji="1"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年度考核体系包括季度考核得分、基层党建述职、</a:t>
            </a:r>
            <a:r>
              <a:rPr kumimoji="1"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kumimoji="1"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双优</a:t>
            </a:r>
            <a:r>
              <a:rPr kumimoji="1"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kumimoji="1"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及本地党建品牌活动评价、立足岗位做贡献活动、加分项、减分项和降档项</a:t>
            </a:r>
            <a:r>
              <a:rPr kumimoji="1"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kumimoji="1"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个部分，实现百分制</a:t>
            </a:r>
            <a:r>
              <a:rPr kumimoji="1"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评价。</a:t>
            </a:r>
            <a:endParaRPr kumimoji="1"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1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60010"/>
              </a:buClr>
              <a:buSzTx/>
              <a:buFont typeface="Wingdings" panose="05000000000000000000" charset="0"/>
              <a:buChar char="p"/>
              <a:defRPr/>
            </a:pPr>
            <a:r>
              <a:rPr kumimoji="1"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年度党建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考核指标权重：</a:t>
            </a:r>
            <a:r>
              <a:rPr kumimoji="1"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四个季度综合考评</a:t>
            </a:r>
            <a:r>
              <a:rPr kumimoji="1"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占75%，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基层党建述职</a:t>
            </a:r>
            <a:r>
              <a:rPr kumimoji="1"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占10%，“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双优</a:t>
            </a:r>
            <a:r>
              <a:rPr kumimoji="1"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党组织创建占</a:t>
            </a:r>
            <a:r>
              <a:rPr kumimoji="1"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3%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，本地党建品牌活动评价</a:t>
            </a:r>
            <a:r>
              <a:rPr kumimoji="1"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占7%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，立足岗位做贡献占</a:t>
            </a:r>
            <a:r>
              <a:rPr kumimoji="1"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5%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kumimoji="1" lang="en-US" altLang="zh-CN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marR="0" lvl="1" indent="-34290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60010"/>
              </a:buClr>
              <a:buSzTx/>
              <a:buFont typeface="Wingdings" panose="05000000000000000000" charset="0"/>
              <a:buChar char="Ø"/>
              <a:defRPr/>
            </a:pPr>
            <a:r>
              <a:rPr kumimoji="1"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四个季度综合考评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（75分）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：一季度得分</a:t>
            </a:r>
            <a:r>
              <a:rPr kumimoji="1"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*20%+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二季度得分</a:t>
            </a:r>
            <a:r>
              <a:rPr kumimoji="1"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*20%+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三季度得分</a:t>
            </a:r>
            <a:r>
              <a:rPr kumimoji="1"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*20%+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四季度得分</a:t>
            </a:r>
            <a:r>
              <a:rPr kumimoji="1"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*40%。</a:t>
            </a:r>
            <a:endParaRPr kumimoji="1" lang="en-US" altLang="zh-CN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marR="0" lvl="1" indent="-34290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60010"/>
              </a:buClr>
              <a:buSzTx/>
              <a:buFont typeface="Wingdings" panose="05000000000000000000" charset="0"/>
              <a:buChar char="Ø"/>
              <a:defRPr/>
            </a:pPr>
            <a:r>
              <a:rPr kumimoji="1"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基层党建述职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（10分）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：形式上分为现场述职和书面述职两类</a:t>
            </a:r>
            <a:r>
              <a:rPr kumimoji="1"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kumimoji="1" lang="en-US" altLang="zh-CN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marR="0" lvl="1" indent="-34290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60010"/>
              </a:buClr>
              <a:buSzTx/>
              <a:buFont typeface="Wingdings" panose="05000000000000000000" charset="0"/>
              <a:buChar char="Ø"/>
              <a:defRPr/>
            </a:pPr>
            <a:r>
              <a:rPr kumimoji="1"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“双优”及</a:t>
            </a:r>
            <a:r>
              <a:rPr kumimoji="1"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本地党建品牌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活动评价（10分）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：年度</a:t>
            </a:r>
            <a:r>
              <a:rPr kumimoji="1"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双优</a:t>
            </a:r>
            <a:r>
              <a:rPr kumimoji="1"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和季度、年度本地党建品牌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活动。</a:t>
            </a:r>
            <a:endParaRPr kumimoji="1" lang="en-US" altLang="zh-CN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marR="0" lvl="1" indent="-34290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60010"/>
              </a:buClr>
              <a:buSzTx/>
              <a:buFont typeface="Wingdings" panose="05000000000000000000" charset="0"/>
              <a:buChar char="Ø"/>
              <a:defRPr/>
            </a:pPr>
            <a:r>
              <a:rPr kumimoji="1"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立足岗位做贡献活动评价</a:t>
            </a:r>
            <a:r>
              <a:rPr kumimoji="1"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（5分）</a:t>
            </a:r>
            <a:r>
              <a:rPr kumimoji="1"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:2025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年度立足岗位做贡献活动</a:t>
            </a:r>
            <a:r>
              <a:rPr kumimoji="1"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开展情况</a:t>
            </a:r>
            <a:endParaRPr kumimoji="1"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46835" y="5292090"/>
            <a:ext cx="1992630" cy="669925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</p:spPr>
        <p:txBody>
          <a:bodyPr wrap="square" rtlCol="0">
            <a:noAutofit/>
          </a:bodyPr>
          <a:p>
            <a:r>
              <a:rPr kumimoji="1"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1-4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季度综合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得分</a:t>
            </a:r>
            <a:endParaRPr kumimoji="1"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kumimoji="1"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75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</a:t>
            </a:r>
            <a:endParaRPr kumimoji="1"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3322568" y="5064125"/>
            <a:ext cx="73660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endParaRPr lang="en-US" altLang="zh-CN" sz="44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3903980" y="5273040"/>
            <a:ext cx="1247140" cy="688975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</p:spPr>
        <p:txBody>
          <a:bodyPr wrap="square" rtlCol="0">
            <a:noAutofit/>
          </a:bodyPr>
          <a:p>
            <a:pPr algn="ctr"/>
            <a:r>
              <a:rPr kumimoji="1"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述职</a:t>
            </a:r>
            <a:endParaRPr kumimoji="1"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/>
            <a:r>
              <a:rPr kumimoji="1"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</a:t>
            </a:r>
            <a:endParaRPr kumimoji="1"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5138668" y="5064125"/>
            <a:ext cx="73660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endParaRPr lang="en-US" altLang="zh-CN" sz="44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5661660" y="5253990"/>
            <a:ext cx="2726690" cy="725805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</p:spPr>
        <p:txBody>
          <a:bodyPr wrap="square" rtlCol="0">
            <a:noAutofit/>
          </a:bodyPr>
          <a:p>
            <a:pPr algn="ctr"/>
            <a:r>
              <a:rPr kumimoji="1"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双优及本地党建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品牌</a:t>
            </a:r>
            <a:endParaRPr kumimoji="1"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/>
            <a:r>
              <a:rPr kumimoji="1"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</a:t>
            </a:r>
            <a:endParaRPr kumimoji="1"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4" name="文本框 13"/>
          <p:cNvSpPr txBox="1"/>
          <p:nvPr>
            <p:custDataLst>
              <p:tags r:id="rId5"/>
            </p:custDataLst>
          </p:nvPr>
        </p:nvSpPr>
        <p:spPr>
          <a:xfrm>
            <a:off x="8720703" y="5063490"/>
            <a:ext cx="73660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+</a:t>
            </a:r>
            <a:endParaRPr lang="en-US" altLang="zh-CN" sz="44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9447530" y="5253990"/>
            <a:ext cx="1922780" cy="725805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</p:spPr>
        <p:txBody>
          <a:bodyPr wrap="square" rtlCol="0">
            <a:noAutofit/>
          </a:bodyPr>
          <a:p>
            <a:pPr algn="ctr"/>
            <a:r>
              <a:rPr kumimoji="1"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立足岗位做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贡献</a:t>
            </a:r>
            <a:endParaRPr kumimoji="1"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ctr"/>
            <a:r>
              <a:rPr kumimoji="1"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kumimoji="1"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</a:t>
            </a:r>
            <a:endParaRPr kumimoji="1"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786503" y="6299200"/>
            <a:ext cx="8831580" cy="540385"/>
          </a:xfrm>
          <a:prstGeom prst="rect">
            <a:avLst/>
          </a:prstGeom>
          <a:gradFill>
            <a:gsLst>
              <a:gs pos="0">
                <a:srgbClr val="FF8D41"/>
              </a:gs>
              <a:gs pos="100000">
                <a:srgbClr val="FF3300"/>
              </a:gs>
            </a:gsLst>
            <a:lin ang="5400000" scaled="0"/>
          </a:gradFill>
        </p:spPr>
        <p:txBody>
          <a:bodyPr wrap="square" rtlCol="0">
            <a:noAutofit/>
          </a:bodyPr>
          <a:p>
            <a:pPr algn="ctr"/>
            <a:r>
              <a:rPr kumimoji="1" lang="zh-CN" altLang="en-US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党支部年度党建考核结果（</a:t>
            </a:r>
            <a:r>
              <a:rPr kumimoji="1" lang="en-US" altLang="zh-CN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100</a:t>
            </a:r>
            <a:r>
              <a:rPr kumimoji="1" lang="zh-CN" altLang="en-US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分）</a:t>
            </a:r>
            <a:endParaRPr kumimoji="1" lang="zh-CN" altLang="en-US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2" name="上箭头 21"/>
          <p:cNvSpPr/>
          <p:nvPr/>
        </p:nvSpPr>
        <p:spPr>
          <a:xfrm>
            <a:off x="2199888" y="5963285"/>
            <a:ext cx="76200" cy="352425"/>
          </a:xfrm>
          <a:prstGeom prst="upArrow">
            <a:avLst>
              <a:gd name="adj1" fmla="val 50000"/>
              <a:gd name="adj2" fmla="val 276666"/>
            </a:avLst>
          </a:prstGeom>
          <a:gradFill>
            <a:gsLst>
              <a:gs pos="0">
                <a:srgbClr val="FFC000"/>
              </a:gs>
              <a:gs pos="100000">
                <a:srgbClr val="C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上箭头 26"/>
          <p:cNvSpPr/>
          <p:nvPr>
            <p:custDataLst>
              <p:tags r:id="rId7"/>
            </p:custDataLst>
          </p:nvPr>
        </p:nvSpPr>
        <p:spPr>
          <a:xfrm>
            <a:off x="4547483" y="5963285"/>
            <a:ext cx="76200" cy="352425"/>
          </a:xfrm>
          <a:prstGeom prst="upArrow">
            <a:avLst>
              <a:gd name="adj1" fmla="val 50000"/>
              <a:gd name="adj2" fmla="val 276666"/>
            </a:avLst>
          </a:prstGeom>
          <a:gradFill>
            <a:gsLst>
              <a:gs pos="0">
                <a:srgbClr val="FFC000"/>
              </a:gs>
              <a:gs pos="100000">
                <a:srgbClr val="C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上箭头 27"/>
          <p:cNvSpPr/>
          <p:nvPr>
            <p:custDataLst>
              <p:tags r:id="rId8"/>
            </p:custDataLst>
          </p:nvPr>
        </p:nvSpPr>
        <p:spPr>
          <a:xfrm>
            <a:off x="6911588" y="5963285"/>
            <a:ext cx="76200" cy="352425"/>
          </a:xfrm>
          <a:prstGeom prst="upArrow">
            <a:avLst>
              <a:gd name="adj1" fmla="val 50000"/>
              <a:gd name="adj2" fmla="val 276666"/>
            </a:avLst>
          </a:prstGeom>
          <a:gradFill>
            <a:gsLst>
              <a:gs pos="0">
                <a:srgbClr val="FFC000"/>
              </a:gs>
              <a:gs pos="100000">
                <a:srgbClr val="C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上箭头 28"/>
          <p:cNvSpPr/>
          <p:nvPr>
            <p:custDataLst>
              <p:tags r:id="rId9"/>
            </p:custDataLst>
          </p:nvPr>
        </p:nvSpPr>
        <p:spPr>
          <a:xfrm>
            <a:off x="10385673" y="5963285"/>
            <a:ext cx="76200" cy="352425"/>
          </a:xfrm>
          <a:prstGeom prst="upArrow">
            <a:avLst>
              <a:gd name="adj1" fmla="val 50000"/>
              <a:gd name="adj2" fmla="val 276666"/>
            </a:avLst>
          </a:prstGeom>
          <a:gradFill>
            <a:gsLst>
              <a:gs pos="0">
                <a:srgbClr val="FFC000"/>
              </a:gs>
              <a:gs pos="100000">
                <a:srgbClr val="C00000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/>
          <p:nvPr/>
        </p:nvSpPr>
        <p:spPr bwMode="auto">
          <a:xfrm>
            <a:off x="1524883" y="164253"/>
            <a:ext cx="8254153" cy="575733"/>
          </a:xfrm>
          <a:prstGeom prst="rect">
            <a:avLst/>
          </a:prstGeom>
          <a:noFill/>
          <a:ln>
            <a:noFill/>
          </a:ln>
        </p:spPr>
        <p:txBody>
          <a:bodyPr lIns="95488" tIns="47684" rIns="95488" bIns="47684" anchor="ctr"/>
          <a:lstStyle/>
          <a:p>
            <a:pPr defTabSz="681990">
              <a:defRPr/>
            </a:pPr>
            <a:endParaRPr lang="zh-CN" altLang="en-US" sz="3200" dirty="0" smtClean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标题 1"/>
          <p:cNvSpPr/>
          <p:nvPr/>
        </p:nvSpPr>
        <p:spPr bwMode="auto">
          <a:xfrm>
            <a:off x="1347083" y="307975"/>
            <a:ext cx="6444615" cy="497840"/>
          </a:xfrm>
          <a:prstGeom prst="rect">
            <a:avLst/>
          </a:prstGeom>
          <a:noFill/>
          <a:ln>
            <a:noFill/>
          </a:ln>
        </p:spPr>
        <p:txBody>
          <a:bodyPr lIns="71616" tIns="35763" rIns="71616" bIns="35763" anchor="ctr"/>
          <a:p>
            <a:pPr algn="l" defTabSz="681990">
              <a:lnSpc>
                <a:spcPct val="100000"/>
              </a:lnSpc>
              <a:buClrTx/>
              <a:buSzTx/>
              <a:buFontTx/>
              <a:defRPr/>
            </a:pPr>
            <a:r>
              <a:rPr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考核评价内容</a:t>
            </a:r>
            <a:r>
              <a:rPr lang="zh-CN"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（季度考核）</a:t>
            </a:r>
            <a:endParaRPr kumimoji="1" lang="zh-CN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8203" y="164465"/>
            <a:ext cx="9163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2.1</a:t>
            </a:r>
            <a:endParaRPr lang="en-US" altLang="zh-CN" sz="4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294618" y="89852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60985" y="1268730"/>
            <a:ext cx="11931650" cy="8420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ts val="2900"/>
              </a:lnSpc>
            </a:pP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季度考核：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每季度下发文件通报结果进行汇总。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ts val="2900"/>
              </a:lnSpc>
            </a:pP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综合得分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（一季度总分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*20%+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二季度总分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*20%+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三季度总分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*20%+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四季度总分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*40%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*75%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320675" y="2106930"/>
          <a:ext cx="6031865" cy="4385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650"/>
                <a:gridCol w="502920"/>
                <a:gridCol w="501015"/>
                <a:gridCol w="503555"/>
                <a:gridCol w="501650"/>
                <a:gridCol w="501650"/>
                <a:gridCol w="502285"/>
                <a:gridCol w="502285"/>
                <a:gridCol w="502920"/>
                <a:gridCol w="501650"/>
                <a:gridCol w="502285"/>
              </a:tblGrid>
              <a:tr h="266065"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支部名称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一季度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二季度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三季度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四季度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综合考评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6606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得分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排名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得分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排名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得分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排名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得分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排名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得分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排名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</a:tr>
              <a:tr h="26543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沁阳</a:t>
                      </a:r>
                      <a:endParaRPr lang="zh-CN" altLang="en-US" sz="11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94.8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88.8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94.2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95.5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70.3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06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网运</a:t>
                      </a:r>
                      <a:endParaRPr lang="zh-CN" altLang="en-US" sz="11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94.5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70.2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7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党建部</a:t>
                      </a:r>
                      <a:endParaRPr lang="zh-CN" sz="11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92.8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94.5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93.2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93.5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70.1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7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人力</a:t>
                      </a:r>
                      <a:r>
                        <a:rPr lang="zh-CN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部</a:t>
                      </a:r>
                      <a:endParaRPr lang="zh-CN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91.7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3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综服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83.8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92.5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69.8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06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修武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90.2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90.6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93.3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69.3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019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稽核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92.5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87.7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69.2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543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山阳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93.4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84.8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91.1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68.9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44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政企</a:t>
                      </a:r>
                      <a:r>
                        <a:rPr lang="zh-CN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部</a:t>
                      </a:r>
                      <a:endParaRPr lang="zh-CN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90.5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85.9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94.5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543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温县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90.8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78.5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92.4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67.8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543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市场部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87.7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83.7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67.4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7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交付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93.3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81.9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66.8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543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博爱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84.9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86.7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66.7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973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纪检/审计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89.8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82.3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87.2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91.5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66.3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/>
          <p:nvPr/>
        </p:nvGraphicFramePr>
        <p:xfrm>
          <a:off x="6432550" y="2106930"/>
          <a:ext cx="5657215" cy="4384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1550"/>
                <a:gridCol w="467995"/>
                <a:gridCol w="469265"/>
                <a:gridCol w="467995"/>
                <a:gridCol w="469265"/>
                <a:gridCol w="467995"/>
                <a:gridCol w="469265"/>
                <a:gridCol w="467995"/>
                <a:gridCol w="468630"/>
                <a:gridCol w="468630"/>
                <a:gridCol w="468630"/>
              </a:tblGrid>
              <a:tr h="261620"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支部名称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一季度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二季度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三季度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四季度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综合考评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6225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得分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排名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得分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排名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得分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排名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得分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排名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得分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排名</a:t>
                      </a:r>
                      <a:endParaRPr lang="zh-CN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</a:tr>
              <a:tr h="26162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财务部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162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办公室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92.6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82.5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88.5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65.4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162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客服</a:t>
                      </a:r>
                      <a:r>
                        <a:rPr lang="zh-CN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部</a:t>
                      </a:r>
                      <a:endParaRPr lang="zh-CN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91.5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83.7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86.3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65.4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225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机动局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92.4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85.3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65.1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162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网络部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88.7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79.7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85.5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86.8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64.1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84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企业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84.6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78.8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89.5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63.5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162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马村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89.3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87.7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75.9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84.7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63.3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225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武陟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85.9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72.7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87.1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86.7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62.9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162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中站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87.4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79.9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81.9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84.7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62.8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162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创新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75.2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77.3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62.2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225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孟州</a:t>
                      </a:r>
                      <a:endParaRPr lang="zh-CN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85.9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77.1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76.6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85.5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61.6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28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00B0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校园</a:t>
                      </a:r>
                      <a:endParaRPr lang="zh-CN" altLang="en-US" sz="1100" b="1">
                        <a:solidFill>
                          <a:srgbClr val="00B05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85.5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76.3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77.2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61.1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225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00B0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解放</a:t>
                      </a:r>
                      <a:endParaRPr lang="zh-CN" altLang="en-US" sz="1100" b="1">
                        <a:solidFill>
                          <a:srgbClr val="00B05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81.1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67.8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75.4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84.5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370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00B05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政要</a:t>
                      </a:r>
                      <a:endParaRPr lang="zh-CN" altLang="en-US" sz="1100" b="1">
                        <a:solidFill>
                          <a:srgbClr val="00B05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76.5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72.4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69.6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57.7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/>
          <p:nvPr/>
        </p:nvSpPr>
        <p:spPr bwMode="auto">
          <a:xfrm>
            <a:off x="1524883" y="164253"/>
            <a:ext cx="8254153" cy="575733"/>
          </a:xfrm>
          <a:prstGeom prst="rect">
            <a:avLst/>
          </a:prstGeom>
          <a:noFill/>
          <a:ln>
            <a:noFill/>
          </a:ln>
        </p:spPr>
        <p:txBody>
          <a:bodyPr lIns="95488" tIns="47684" rIns="95488" bIns="47684" anchor="ctr"/>
          <a:lstStyle/>
          <a:p>
            <a:pPr defTabSz="681990">
              <a:defRPr/>
            </a:pPr>
            <a:endParaRPr lang="zh-CN" altLang="en-US" sz="3200" dirty="0" smtClean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标题 1"/>
          <p:cNvSpPr/>
          <p:nvPr/>
        </p:nvSpPr>
        <p:spPr bwMode="auto">
          <a:xfrm>
            <a:off x="1347083" y="307975"/>
            <a:ext cx="6444615" cy="497840"/>
          </a:xfrm>
          <a:prstGeom prst="rect">
            <a:avLst/>
          </a:prstGeom>
          <a:noFill/>
          <a:ln>
            <a:noFill/>
          </a:ln>
        </p:spPr>
        <p:txBody>
          <a:bodyPr lIns="71616" tIns="35763" rIns="71616" bIns="35763" anchor="ctr"/>
          <a:p>
            <a:pPr algn="l" defTabSz="681990">
              <a:lnSpc>
                <a:spcPct val="100000"/>
              </a:lnSpc>
              <a:buClrTx/>
              <a:buSzTx/>
              <a:buFontTx/>
              <a:defRPr/>
            </a:pPr>
            <a:r>
              <a:rPr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考核评价内容</a:t>
            </a:r>
            <a:r>
              <a:rPr lang="zh-CN"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（基层党建述职）</a:t>
            </a:r>
            <a:endParaRPr kumimoji="1"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8203" y="164465"/>
            <a:ext cx="9163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2.2</a:t>
            </a:r>
            <a:endParaRPr lang="en-US" altLang="zh-CN" sz="4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31190" y="1158240"/>
            <a:ext cx="11032490" cy="977900"/>
          </a:xfrm>
          <a:prstGeom prst="rect">
            <a:avLst/>
          </a:prstGeom>
          <a:noFill/>
          <a:ln w="12700" cmpd="sng">
            <a:solidFill>
              <a:schemeClr val="bg1">
                <a:lumMod val="85000"/>
              </a:schemeClr>
            </a:solidFill>
            <a:prstDash val="solid"/>
          </a:ln>
        </p:spPr>
        <p:txBody>
          <a:bodyPr wrap="square" rtlCol="0">
            <a:noAutofit/>
          </a:bodyPr>
          <a:p>
            <a:pPr marL="285750" indent="-285750" fontAlgn="auto">
              <a:lnSpc>
                <a:spcPts val="2900"/>
              </a:lnSpc>
              <a:buClr>
                <a:srgbClr val="C00000"/>
              </a:buClr>
              <a:buFont typeface="Wingdings" panose="05000000000000000000" charset="0"/>
              <a:buChar char="n"/>
            </a:pPr>
            <a:r>
              <a:rPr lang="zh-CN" altLang="en-US" sz="1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述职方式：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分为现场述职（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位）和书面述职（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位）。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fontAlgn="auto">
              <a:lnSpc>
                <a:spcPts val="2900"/>
              </a:lnSpc>
              <a:buClr>
                <a:srgbClr val="C00000"/>
              </a:buClr>
              <a:buFont typeface="Wingdings" panose="05000000000000000000" charset="0"/>
              <a:buChar char="n"/>
            </a:pPr>
            <a:r>
              <a:rPr lang="zh-CN" altLang="en-US" sz="1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考核规则：</a:t>
            </a: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排名前20%</a:t>
            </a:r>
            <a:r>
              <a:rPr 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，得10分</a:t>
            </a:r>
            <a:r>
              <a:rPr 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；排名</a:t>
            </a: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20%到80%之间，得9分</a:t>
            </a:r>
            <a:r>
              <a:rPr 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；排名后</a:t>
            </a:r>
            <a:r>
              <a:rPr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20%，得8分</a:t>
            </a:r>
            <a:r>
              <a:rPr 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294618" y="89852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5161260" y="56927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graphicFrame>
        <p:nvGraphicFramePr>
          <p:cNvPr id="6" name="表格 5"/>
          <p:cNvGraphicFramePr/>
          <p:nvPr/>
        </p:nvGraphicFramePr>
        <p:xfrm>
          <a:off x="242570" y="2247900"/>
          <a:ext cx="5878195" cy="45205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9620"/>
                <a:gridCol w="586740"/>
                <a:gridCol w="2155190"/>
                <a:gridCol w="586105"/>
                <a:gridCol w="1780540"/>
              </a:tblGrid>
              <a:tr h="40703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分类</a:t>
                      </a:r>
                      <a:endParaRPr lang="en-US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姓名</a:t>
                      </a:r>
                      <a:endParaRPr lang="en-US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职位</a:t>
                      </a:r>
                      <a:endParaRPr lang="en-US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最终得分</a:t>
                      </a:r>
                      <a:endParaRPr lang="en-US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支部名称</a:t>
                      </a:r>
                      <a:endParaRPr lang="en-US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</a:tr>
              <a:tr h="456565">
                <a:tc rowSpan="9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现场述职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王莉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博爱县分公司党支部书记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博爱县分公司党支部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李欣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孟州市分公司党支部书记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孟州市分公司党支部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魏星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中站区分公司党支部书记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中站区分公司党支部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连艳丽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马村区分公司党支部书记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马村区分公司党支部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张萍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政要客户营销中心党支部书记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政要客户营销中心党支部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张高兴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派驻纪检/审计组党支部书记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派驻纪检/审计组党支部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656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王明昕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网络部党支部书记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网络部党支部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赵中利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数字化与稽核中心党支部书记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数字化与稽核中心党支部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李强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机动通信局党支部书记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机动通信局党支部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/>
          <p:nvPr/>
        </p:nvGraphicFramePr>
        <p:xfrm>
          <a:off x="6355715" y="2247265"/>
          <a:ext cx="5608638" cy="3822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/>
                <a:gridCol w="609600"/>
                <a:gridCol w="1951038"/>
                <a:gridCol w="609600"/>
                <a:gridCol w="1828800"/>
              </a:tblGrid>
              <a:tr h="2032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分类</a:t>
                      </a:r>
                      <a:endParaRPr lang="en-US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姓名</a:t>
                      </a:r>
                      <a:endParaRPr lang="en-US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职位</a:t>
                      </a:r>
                      <a:endParaRPr lang="en-US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最终得分</a:t>
                      </a:r>
                      <a:endParaRPr lang="en-US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支部名称</a:t>
                      </a:r>
                      <a:endParaRPr lang="en-US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</a:tr>
              <a:tr h="190500">
                <a:tc rowSpan="19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书面述职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车空军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客户服务部党支部书记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客户服务部党支部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5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刘迎军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综合服务支撑中心党支部书记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综合服务支撑中心党支部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5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左玥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企业客户营销中心党支部书记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企业客户营销中心党支部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5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张淋淋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校园客户营销中心党支部书记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校园客户营销中心党支部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5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申鑫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网络运营中心党支部书记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网络运营中心党支部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5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王刚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修武县分公司党支部书记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修武县分公司党支部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5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陈燕午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武陟县分公司党支部书记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武陟县分公司党支部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5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张迎迎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交付中心党支部书记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交付中心党支部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5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张东波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温县分公司党支部书记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温县分公司党支部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5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梁祺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山阳区分公司党支部书记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山阳区分公司党支部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5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张金泉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市场部党支部书记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市场部党支部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5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鲁豫波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解放区分公司党支部书记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解放区分公司党支部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5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宋世旺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人力资源部党支部书记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人力资源部党支部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5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郭永峰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创新支撑中心党支部书记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创新支撑中心党支部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5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刘怀星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政企客户事业部党支部书记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政企客户事业部党支部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5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成春红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办公室党支部书记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办公室党支部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5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魏进军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沁阳市分公司党支部书记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沁阳市分公司党支部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5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张琼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财务部党支部书记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财务部党支部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5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李兵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党建工作部党支部书记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党建工作部党支部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/>
          <p:nvPr/>
        </p:nvSpPr>
        <p:spPr bwMode="auto">
          <a:xfrm>
            <a:off x="1524883" y="164253"/>
            <a:ext cx="8254153" cy="575733"/>
          </a:xfrm>
          <a:prstGeom prst="rect">
            <a:avLst/>
          </a:prstGeom>
          <a:noFill/>
          <a:ln>
            <a:noFill/>
          </a:ln>
        </p:spPr>
        <p:txBody>
          <a:bodyPr lIns="95488" tIns="47684" rIns="95488" bIns="47684" anchor="ctr"/>
          <a:lstStyle/>
          <a:p>
            <a:pPr defTabSz="681990">
              <a:defRPr/>
            </a:pPr>
            <a:endParaRPr lang="zh-CN" altLang="en-US" sz="3200" dirty="0" smtClean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标题 1"/>
          <p:cNvSpPr/>
          <p:nvPr/>
        </p:nvSpPr>
        <p:spPr bwMode="auto">
          <a:xfrm>
            <a:off x="1347083" y="307975"/>
            <a:ext cx="6444615" cy="497840"/>
          </a:xfrm>
          <a:prstGeom prst="rect">
            <a:avLst/>
          </a:prstGeom>
          <a:noFill/>
          <a:ln>
            <a:noFill/>
          </a:ln>
        </p:spPr>
        <p:txBody>
          <a:bodyPr lIns="71616" tIns="35763" rIns="71616" bIns="35763" anchor="ctr"/>
          <a:p>
            <a:pPr algn="l" defTabSz="681990">
              <a:lnSpc>
                <a:spcPct val="100000"/>
              </a:lnSpc>
              <a:buClrTx/>
              <a:buSzTx/>
              <a:buFontTx/>
              <a:defRPr/>
            </a:pPr>
            <a:r>
              <a:rPr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考核评价内容</a:t>
            </a:r>
            <a:r>
              <a:rPr lang="zh-CN"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（现场述职）</a:t>
            </a:r>
            <a:endParaRPr kumimoji="1"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8203" y="164465"/>
            <a:ext cx="9163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2.2</a:t>
            </a:r>
            <a:endParaRPr lang="en-US" altLang="zh-CN" sz="4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31190" y="1158240"/>
            <a:ext cx="10758170" cy="966470"/>
          </a:xfrm>
          <a:prstGeom prst="rect">
            <a:avLst/>
          </a:prstGeom>
          <a:noFill/>
          <a:ln w="12700" cmpd="sng">
            <a:solidFill>
              <a:schemeClr val="bg1">
                <a:lumMod val="85000"/>
              </a:schemeClr>
            </a:solidFill>
            <a:prstDash val="solid"/>
          </a:ln>
        </p:spPr>
        <p:txBody>
          <a:bodyPr wrap="square" rtlCol="0">
            <a:noAutofit/>
          </a:bodyPr>
          <a:p>
            <a:pPr marL="285750" indent="-285750" fontAlgn="auto">
              <a:lnSpc>
                <a:spcPts val="2900"/>
              </a:lnSpc>
              <a:buClr>
                <a:srgbClr val="C00000"/>
              </a:buClr>
              <a:buFont typeface="Wingdings" panose="05000000000000000000" charset="0"/>
              <a:buChar char="n"/>
            </a:pPr>
            <a:r>
              <a:rPr lang="zh-CN" altLang="en-US" sz="1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现场述职考核方式：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党委书记打分权重占比</a:t>
            </a:r>
            <a:r>
              <a:rPr lang="en-US" alt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40%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，其他副总打分权重占比</a:t>
            </a:r>
            <a:r>
              <a:rPr lang="en-US" alt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30%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，支部书记打分权重占比</a:t>
            </a:r>
            <a:r>
              <a:rPr lang="en-US" altLang="zh-CN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30%</a:t>
            </a:r>
            <a:r>
              <a:rPr lang="zh-CN" altLang="en-US"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6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294618" y="89852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160" y="2623185"/>
            <a:ext cx="10355580" cy="269748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/>
          <p:nvPr/>
        </p:nvSpPr>
        <p:spPr bwMode="auto">
          <a:xfrm>
            <a:off x="1524883" y="164253"/>
            <a:ext cx="8254153" cy="575733"/>
          </a:xfrm>
          <a:prstGeom prst="rect">
            <a:avLst/>
          </a:prstGeom>
          <a:noFill/>
          <a:ln>
            <a:noFill/>
          </a:ln>
        </p:spPr>
        <p:txBody>
          <a:bodyPr lIns="95488" tIns="47684" rIns="95488" bIns="47684" anchor="ctr"/>
          <a:lstStyle/>
          <a:p>
            <a:pPr defTabSz="681990">
              <a:defRPr/>
            </a:pPr>
            <a:endParaRPr lang="zh-CN" altLang="en-US" sz="3200" dirty="0" smtClean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标题 1"/>
          <p:cNvSpPr/>
          <p:nvPr/>
        </p:nvSpPr>
        <p:spPr bwMode="auto">
          <a:xfrm>
            <a:off x="1347083" y="307975"/>
            <a:ext cx="6444615" cy="497840"/>
          </a:xfrm>
          <a:prstGeom prst="rect">
            <a:avLst/>
          </a:prstGeom>
          <a:noFill/>
          <a:ln>
            <a:noFill/>
          </a:ln>
        </p:spPr>
        <p:txBody>
          <a:bodyPr lIns="71616" tIns="35763" rIns="71616" bIns="35763" anchor="ctr"/>
          <a:p>
            <a:pPr algn="l" defTabSz="681990">
              <a:lnSpc>
                <a:spcPct val="100000"/>
              </a:lnSpc>
              <a:buClrTx/>
              <a:buSzTx/>
              <a:buFontTx/>
              <a:defRPr/>
            </a:pPr>
            <a:r>
              <a:rPr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考核评价内容</a:t>
            </a:r>
            <a:r>
              <a:rPr lang="zh-CN"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（书面述职）</a:t>
            </a:r>
            <a:endParaRPr kumimoji="1"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8203" y="164465"/>
            <a:ext cx="9163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2.2</a:t>
            </a:r>
            <a:endParaRPr lang="en-US" altLang="zh-CN" sz="4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47955" y="1052830"/>
            <a:ext cx="11965305" cy="5876290"/>
          </a:xfrm>
          <a:prstGeom prst="rect">
            <a:avLst/>
          </a:prstGeom>
          <a:noFill/>
          <a:ln w="12700" cmpd="sng">
            <a:solidFill>
              <a:schemeClr val="bg1">
                <a:lumMod val="85000"/>
              </a:schemeClr>
            </a:solidFill>
            <a:prstDash val="solid"/>
          </a:ln>
        </p:spPr>
        <p:txBody>
          <a:bodyPr wrap="square" rtlCol="0">
            <a:noAutofit/>
          </a:bodyPr>
          <a:p>
            <a:pPr marL="285750" indent="-285750" fontAlgn="auto">
              <a:lnSpc>
                <a:spcPts val="2900"/>
              </a:lnSpc>
              <a:buClr>
                <a:srgbClr val="C00000"/>
              </a:buClr>
              <a:buFont typeface="Wingdings" panose="05000000000000000000" charset="0"/>
              <a:buChar char="n"/>
            </a:pPr>
            <a:r>
              <a:rPr lang="zh-CN" altLang="en-US" sz="1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书面述职考核方式：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按照述职报告结构三部分完成情况进行考核。第一部分特色与亮点，要紧扣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四项述职重点内容，既不能有缺项，又要保证质量；第二、三部分需问题剖析深刻，下步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举措切实可行；整篇无明显错误，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逻辑清晰、数据充分。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294618" y="89852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8015" y="1817370"/>
            <a:ext cx="8396605" cy="504063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/>
          <p:nvPr/>
        </p:nvSpPr>
        <p:spPr bwMode="auto">
          <a:xfrm>
            <a:off x="1524883" y="164253"/>
            <a:ext cx="8254153" cy="575733"/>
          </a:xfrm>
          <a:prstGeom prst="rect">
            <a:avLst/>
          </a:prstGeom>
          <a:noFill/>
          <a:ln>
            <a:noFill/>
          </a:ln>
        </p:spPr>
        <p:txBody>
          <a:bodyPr lIns="95488" tIns="47684" rIns="95488" bIns="47684" anchor="ctr"/>
          <a:lstStyle/>
          <a:p>
            <a:pPr defTabSz="681990">
              <a:defRPr/>
            </a:pPr>
            <a:endParaRPr lang="zh-CN" altLang="en-US" sz="3200" dirty="0" smtClean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标题 1"/>
          <p:cNvSpPr/>
          <p:nvPr/>
        </p:nvSpPr>
        <p:spPr bwMode="auto">
          <a:xfrm>
            <a:off x="1347083" y="307975"/>
            <a:ext cx="6444615" cy="497840"/>
          </a:xfrm>
          <a:prstGeom prst="rect">
            <a:avLst/>
          </a:prstGeom>
          <a:noFill/>
          <a:ln>
            <a:noFill/>
          </a:ln>
        </p:spPr>
        <p:txBody>
          <a:bodyPr lIns="71616" tIns="35763" rIns="71616" bIns="35763" anchor="ctr"/>
          <a:p>
            <a:pPr algn="l" defTabSz="681990">
              <a:lnSpc>
                <a:spcPct val="100000"/>
              </a:lnSpc>
              <a:buClrTx/>
              <a:buSzTx/>
              <a:buFontTx/>
              <a:defRPr/>
            </a:pPr>
            <a:r>
              <a:rPr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考核评价内容</a:t>
            </a:r>
            <a:r>
              <a:rPr lang="zh-CN"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双优</a:t>
            </a:r>
            <a:r>
              <a:rPr lang="en-US" altLang="zh-CN"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r>
              <a:rPr lang="zh-CN"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kumimoji="1"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7920" y="164465"/>
            <a:ext cx="9163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2.3</a:t>
            </a:r>
            <a:endParaRPr lang="en-US" altLang="zh-CN" sz="4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0" y="873760"/>
            <a:ext cx="12192000" cy="711835"/>
          </a:xfrm>
          <a:prstGeom prst="rect">
            <a:avLst/>
          </a:prstGeom>
          <a:noFill/>
          <a:ln w="12700" cmpd="sng">
            <a:solidFill>
              <a:schemeClr val="bg1">
                <a:lumMod val="85000"/>
              </a:schemeClr>
            </a:solidFill>
            <a:prstDash val="solid"/>
          </a:ln>
        </p:spPr>
        <p:txBody>
          <a:bodyPr wrap="square" rtlCol="0">
            <a:noAutofit/>
          </a:bodyPr>
          <a:p>
            <a:pPr marL="285750" indent="-285750" fontAlgn="auto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n"/>
            </a:pPr>
            <a:r>
              <a:rPr lang="en-US" altLang="zh-CN" sz="1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双优</a:t>
            </a:r>
            <a:r>
              <a:rPr lang="en-US" altLang="zh-CN" sz="1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考核方式：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基础分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分，</a:t>
            </a:r>
            <a:r>
              <a:rPr lang="zh-CN" altLang="en-US" sz="12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加分规则：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除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双优得分</a:t>
            </a:r>
            <a:r>
              <a:rPr lang="en-US" altLang="zh-CN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之外的其他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四项得分和财务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KPI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关联，相同组别内财务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KPI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排名前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1/2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和党建得分排名前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1/2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，两项均纳入评选范围双优加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分，一项纳入评选范围双优加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0.5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分，其他情况双优不加分。双优最终得分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基础分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双优加分。机动通信局因无财务</a:t>
            </a:r>
            <a:r>
              <a:rPr lang="en-US" altLang="zh-CN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KPI</a:t>
            </a:r>
            <a:r>
              <a:rPr lang="zh-CN" altLang="en-US" sz="1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，双优加分取各支部平均值。</a:t>
            </a:r>
            <a:endParaRPr lang="zh-CN" altLang="en-US" sz="12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294335" y="89852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graphicFrame>
        <p:nvGraphicFramePr>
          <p:cNvPr id="11" name="表格 10"/>
          <p:cNvGraphicFramePr/>
          <p:nvPr>
            <p:custDataLst>
              <p:tags r:id="rId1"/>
            </p:custDataLst>
          </p:nvPr>
        </p:nvGraphicFramePr>
        <p:xfrm>
          <a:off x="1524635" y="1719580"/>
          <a:ext cx="6972300" cy="4872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635"/>
                <a:gridCol w="1717040"/>
                <a:gridCol w="594995"/>
                <a:gridCol w="1010920"/>
                <a:gridCol w="594995"/>
                <a:gridCol w="594360"/>
                <a:gridCol w="594995"/>
                <a:gridCol w="594360"/>
              </a:tblGrid>
              <a:tr h="25019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类型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支部名称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财务KPI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四项党建得分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双优支部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双优加分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基础分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双优得分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</a:tr>
              <a:tr h="165100">
                <a:tc rowSpan="10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县（市、区）分公司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武陟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86.1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81.30 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修武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82.69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latin typeface="微软雅黑" panose="020B0503020204020204" charset="-122"/>
                        </a:rPr>
                        <a:t>87.70 </a:t>
                      </a:r>
                      <a:endParaRPr lang="en-US" altLang="en-US" sz="700" b="1">
                        <a:solidFill>
                          <a:srgbClr val="FF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0.5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2.5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沁阳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latin typeface="微软雅黑" panose="020B0503020204020204" charset="-122"/>
                        </a:rPr>
                        <a:t>93.08</a:t>
                      </a:r>
                      <a:endParaRPr lang="en-US" altLang="en-US" sz="700" b="1">
                        <a:solidFill>
                          <a:srgbClr val="FF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latin typeface="微软雅黑" panose="020B0503020204020204" charset="-122"/>
                        </a:rPr>
                        <a:t>91.00 </a:t>
                      </a:r>
                      <a:endParaRPr lang="en-US" altLang="en-US" sz="700" b="1">
                        <a:solidFill>
                          <a:srgbClr val="FF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√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孟州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latin typeface="微软雅黑" panose="020B0503020204020204" charset="-122"/>
                        </a:rPr>
                        <a:t>100.7</a:t>
                      </a:r>
                      <a:endParaRPr lang="en-US" altLang="en-US" sz="700" b="1">
                        <a:solidFill>
                          <a:srgbClr val="FF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80.60 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0.5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2.5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温县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latin typeface="微软雅黑" panose="020B0503020204020204" charset="-122"/>
                        </a:rPr>
                        <a:t>114.38</a:t>
                      </a:r>
                      <a:endParaRPr lang="en-US" altLang="en-US" sz="700" b="1">
                        <a:solidFill>
                          <a:srgbClr val="FF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latin typeface="微软雅黑" panose="020B0503020204020204" charset="-122"/>
                        </a:rPr>
                        <a:t>88.30 </a:t>
                      </a:r>
                      <a:endParaRPr lang="en-US" altLang="en-US" sz="700" b="1">
                        <a:solidFill>
                          <a:srgbClr val="FF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√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博爱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latin typeface="微软雅黑" panose="020B0503020204020204" charset="-122"/>
                        </a:rPr>
                        <a:t>107.68</a:t>
                      </a:r>
                      <a:endParaRPr lang="en-US" altLang="en-US" sz="700" b="1">
                        <a:solidFill>
                          <a:srgbClr val="FF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latin typeface="微软雅黑" panose="020B0503020204020204" charset="-122"/>
                        </a:rPr>
                        <a:t>88.00 </a:t>
                      </a:r>
                      <a:endParaRPr lang="en-US" altLang="en-US" sz="700" b="1">
                        <a:solidFill>
                          <a:srgbClr val="FF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√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解放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92.04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77.30 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山阳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latin typeface="微软雅黑" panose="020B0503020204020204" charset="-122"/>
                        </a:rPr>
                        <a:t>101.17</a:t>
                      </a:r>
                      <a:endParaRPr lang="en-US" altLang="en-US" sz="700" b="1">
                        <a:solidFill>
                          <a:srgbClr val="FF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latin typeface="微软雅黑" panose="020B0503020204020204" charset="-122"/>
                        </a:rPr>
                        <a:t>88.30 </a:t>
                      </a:r>
                      <a:endParaRPr lang="en-US" altLang="en-US" sz="700" b="1">
                        <a:solidFill>
                          <a:srgbClr val="FF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√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中站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87.77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82.70 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马村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90.66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80.70 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 rowSpan="4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市公司运营中心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政要客户营销中心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latin typeface="微软雅黑" panose="020B0503020204020204" charset="-122"/>
                        </a:rPr>
                        <a:t>75.89</a:t>
                      </a:r>
                      <a:endParaRPr lang="en-US" altLang="en-US" sz="700" b="1">
                        <a:solidFill>
                          <a:srgbClr val="FF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77.10 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0.5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2.5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企业客户营销中心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75.68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latin typeface="微软雅黑" panose="020B0503020204020204" charset="-122"/>
                        </a:rPr>
                        <a:t>82.70 </a:t>
                      </a:r>
                      <a:endParaRPr lang="en-US" altLang="en-US" sz="700" b="1">
                        <a:solidFill>
                          <a:srgbClr val="FF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0.5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2.5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校园客户营销中心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72.61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79.00 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创新支撑中心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latin typeface="微软雅黑" panose="020B0503020204020204" charset="-122"/>
                        </a:rPr>
                        <a:t>93.9</a:t>
                      </a:r>
                      <a:endParaRPr lang="en-US" altLang="en-US" sz="700" b="1">
                        <a:solidFill>
                          <a:srgbClr val="FF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latin typeface="微软雅黑" panose="020B0503020204020204" charset="-122"/>
                        </a:rPr>
                        <a:t>81.10 </a:t>
                      </a:r>
                      <a:endParaRPr lang="en-US" altLang="en-US" sz="700" b="1">
                        <a:solidFill>
                          <a:srgbClr val="FF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√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 rowSpan="4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支撑中心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综合服务支撑中心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91.93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latin typeface="微软雅黑" panose="020B0503020204020204" charset="-122"/>
                        </a:rPr>
                        <a:t>88.70 </a:t>
                      </a:r>
                      <a:endParaRPr lang="en-US" altLang="en-US" sz="700" b="1">
                        <a:solidFill>
                          <a:srgbClr val="FF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0.5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2.5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数字化与稽核中心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latin typeface="微软雅黑" panose="020B0503020204020204" charset="-122"/>
                        </a:rPr>
                        <a:t>95.18</a:t>
                      </a:r>
                      <a:endParaRPr lang="en-US" altLang="en-US" sz="700" b="1">
                        <a:solidFill>
                          <a:srgbClr val="FF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88.30 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0.5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2.5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网络运营中心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88.45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latin typeface="微软雅黑" panose="020B0503020204020204" charset="-122"/>
                        </a:rPr>
                        <a:t>90.05 </a:t>
                      </a:r>
                      <a:endParaRPr lang="en-US" altLang="en-US" sz="700" b="1">
                        <a:solidFill>
                          <a:srgbClr val="FF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0.5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2.5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交付中心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latin typeface="微软雅黑" panose="020B0503020204020204" charset="-122"/>
                        </a:rPr>
                        <a:t>92.48</a:t>
                      </a:r>
                      <a:endParaRPr lang="en-US" altLang="en-US" sz="700" b="1">
                        <a:solidFill>
                          <a:srgbClr val="FF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85.65 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0.5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2.5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 rowSpan="5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支撑部门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市场部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89.01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latin typeface="微软雅黑" panose="020B0503020204020204" charset="-122"/>
                        </a:rPr>
                        <a:t>87.20 </a:t>
                      </a:r>
                      <a:endParaRPr lang="en-US" altLang="en-US" sz="700" b="1">
                        <a:solidFill>
                          <a:srgbClr val="FF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0.5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2.5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政企客户事业部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latin typeface="微软雅黑" panose="020B0503020204020204" charset="-122"/>
                        </a:rPr>
                        <a:t>94.58</a:t>
                      </a:r>
                      <a:endParaRPr lang="en-US" altLang="en-US" sz="700" b="1">
                        <a:solidFill>
                          <a:srgbClr val="FF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latin typeface="微软雅黑" panose="020B0503020204020204" charset="-122"/>
                        </a:rPr>
                        <a:t>86.62 </a:t>
                      </a:r>
                      <a:endParaRPr lang="en-US" altLang="en-US" sz="700" b="1">
                        <a:solidFill>
                          <a:srgbClr val="FF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√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客户服务部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latin typeface="微软雅黑" panose="020B0503020204020204" charset="-122"/>
                        </a:rPr>
                        <a:t>92.9</a:t>
                      </a:r>
                      <a:endParaRPr lang="en-US" altLang="en-US" sz="700" b="1">
                        <a:solidFill>
                          <a:srgbClr val="FF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83.30 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0.5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2.5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网络部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90.3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83.60 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财务部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latin typeface="微软雅黑" panose="020B0503020204020204" charset="-122"/>
                        </a:rPr>
                        <a:t>93.71</a:t>
                      </a:r>
                      <a:endParaRPr lang="en-US" altLang="en-US" sz="700" b="1">
                        <a:solidFill>
                          <a:srgbClr val="FF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latin typeface="微软雅黑" panose="020B0503020204020204" charset="-122"/>
                        </a:rPr>
                        <a:t>85.40 </a:t>
                      </a:r>
                      <a:endParaRPr lang="en-US" altLang="en-US" sz="700" b="1">
                        <a:solidFill>
                          <a:srgbClr val="FF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√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 rowSpan="4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职能部门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党建工作部/工会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latin typeface="微软雅黑" panose="020B0503020204020204" charset="-122"/>
                        </a:rPr>
                        <a:t>94.74</a:t>
                      </a:r>
                      <a:endParaRPr lang="en-US" altLang="en-US" sz="700" b="1">
                        <a:solidFill>
                          <a:srgbClr val="FF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latin typeface="微软雅黑" panose="020B0503020204020204" charset="-122"/>
                        </a:rPr>
                        <a:t>89.25 </a:t>
                      </a:r>
                      <a:endParaRPr lang="en-US" altLang="en-US" sz="700" b="1">
                        <a:solidFill>
                          <a:srgbClr val="FF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√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派驻纪检/审计组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93.84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86.55 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办公室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latin typeface="微软雅黑" panose="020B0503020204020204" charset="-122"/>
                        </a:rPr>
                        <a:t>95.35</a:t>
                      </a:r>
                      <a:endParaRPr lang="en-US" altLang="en-US" sz="700" b="1">
                        <a:solidFill>
                          <a:srgbClr val="FF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85.70 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0.5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2.5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人力资源部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94.59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0000"/>
                          </a:solidFill>
                          <a:latin typeface="微软雅黑" panose="020B0503020204020204" charset="-122"/>
                        </a:rPr>
                        <a:t>89.16 </a:t>
                      </a:r>
                      <a:endParaRPr lang="en-US" altLang="en-US" sz="700" b="1">
                        <a:solidFill>
                          <a:srgbClr val="FF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0.5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2.5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51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其他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7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机动通信局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79.99 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0.5 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2.5 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/>
          <p:nvPr/>
        </p:nvSpPr>
        <p:spPr bwMode="auto">
          <a:xfrm>
            <a:off x="1524883" y="164253"/>
            <a:ext cx="8254153" cy="575733"/>
          </a:xfrm>
          <a:prstGeom prst="rect">
            <a:avLst/>
          </a:prstGeom>
          <a:noFill/>
          <a:ln>
            <a:noFill/>
          </a:ln>
        </p:spPr>
        <p:txBody>
          <a:bodyPr lIns="95488" tIns="47684" rIns="95488" bIns="47684" anchor="ctr"/>
          <a:lstStyle/>
          <a:p>
            <a:pPr defTabSz="681990">
              <a:defRPr/>
            </a:pPr>
            <a:endParaRPr lang="zh-CN" altLang="en-US" sz="3200" dirty="0" smtClean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标题 1"/>
          <p:cNvSpPr/>
          <p:nvPr/>
        </p:nvSpPr>
        <p:spPr bwMode="auto">
          <a:xfrm>
            <a:off x="1347083" y="307975"/>
            <a:ext cx="6444615" cy="497840"/>
          </a:xfrm>
          <a:prstGeom prst="rect">
            <a:avLst/>
          </a:prstGeom>
          <a:noFill/>
          <a:ln>
            <a:noFill/>
          </a:ln>
        </p:spPr>
        <p:txBody>
          <a:bodyPr lIns="71616" tIns="35763" rIns="71616" bIns="35763" anchor="ctr"/>
          <a:p>
            <a:pPr algn="l" defTabSz="681990">
              <a:lnSpc>
                <a:spcPct val="100000"/>
              </a:lnSpc>
              <a:buClrTx/>
              <a:buSzTx/>
              <a:buFontTx/>
              <a:defRPr/>
            </a:pPr>
            <a:r>
              <a:rPr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考核评价内容</a:t>
            </a:r>
            <a:r>
              <a:rPr lang="zh-CN"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（本地党建</a:t>
            </a:r>
            <a:r>
              <a:rPr lang="zh-CN"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品牌）</a:t>
            </a:r>
            <a:endParaRPr kumimoji="1"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7920" y="164465"/>
            <a:ext cx="9163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2.4</a:t>
            </a:r>
            <a:endParaRPr lang="en-US" altLang="zh-CN" sz="4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06375" y="997585"/>
            <a:ext cx="10981055" cy="833120"/>
          </a:xfrm>
          <a:prstGeom prst="rect">
            <a:avLst/>
          </a:prstGeom>
          <a:noFill/>
          <a:ln w="12700" cmpd="sng">
            <a:solidFill>
              <a:schemeClr val="bg1">
                <a:lumMod val="85000"/>
              </a:schemeClr>
            </a:solidFill>
            <a:prstDash val="solid"/>
          </a:ln>
        </p:spPr>
        <p:txBody>
          <a:bodyPr wrap="square" rtlCol="0">
            <a:noAutofit/>
          </a:bodyPr>
          <a:p>
            <a:pPr marL="285750" indent="-285750" fontAlgn="auto">
              <a:lnSpc>
                <a:spcPts val="2900"/>
              </a:lnSpc>
              <a:buClr>
                <a:srgbClr val="C00000"/>
              </a:buClr>
              <a:buFont typeface="Wingdings" panose="05000000000000000000" charset="0"/>
              <a:buChar char="n"/>
            </a:pPr>
            <a:r>
              <a:rPr lang="zh-CN" altLang="en-US" sz="1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本地党建品牌考核方式：基础分两档：</a:t>
            </a: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六县、四区基础分</a:t>
            </a:r>
            <a:r>
              <a:rPr lang="en-US" altLang="zh-CN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分，其他单位基础分</a:t>
            </a:r>
            <a:r>
              <a:rPr lang="en-US" altLang="zh-CN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5.5</a:t>
            </a: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分；</a:t>
            </a:r>
            <a:r>
              <a:rPr lang="zh-CN" altLang="en-US" sz="1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加分规则：</a:t>
            </a: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每季度综合排名前3名的党支部,季度累计积分（第1名0.3分，第2名0.2分，第3名0.1分），机动通信局季度得分取平均分。</a:t>
            </a:r>
            <a:r>
              <a:rPr lang="en-US" altLang="zh-CN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QC</a:t>
            </a: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、提质增效、能耗管控未提供，压降得分和思想得分情况已提供，所以本地化品牌最终得分</a:t>
            </a:r>
            <a:r>
              <a:rPr lang="en-US" altLang="zh-CN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</a:t>
            </a: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季度得分</a:t>
            </a:r>
            <a:r>
              <a:rPr lang="en-US" altLang="zh-CN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（压降</a:t>
            </a:r>
            <a:r>
              <a:rPr lang="en-US" altLang="zh-CN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思政）年度得分</a:t>
            </a:r>
            <a:endParaRPr lang="zh-CN" altLang="en-US" sz="1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294335" y="89852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graphicFrame>
        <p:nvGraphicFramePr>
          <p:cNvPr id="9" name="表格 8"/>
          <p:cNvGraphicFramePr/>
          <p:nvPr/>
        </p:nvGraphicFramePr>
        <p:xfrm>
          <a:off x="435293" y="1919161"/>
          <a:ext cx="13858240" cy="4497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090"/>
                <a:gridCol w="1031240"/>
                <a:gridCol w="1573530"/>
                <a:gridCol w="1729740"/>
                <a:gridCol w="1450975"/>
                <a:gridCol w="1369695"/>
                <a:gridCol w="466090"/>
                <a:gridCol w="466725"/>
                <a:gridCol w="466090"/>
                <a:gridCol w="466090"/>
                <a:gridCol w="1113155"/>
              </a:tblGrid>
              <a:tr h="137795">
                <a:tc rowSpan="3"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支部名称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 rowSpan="3"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gridSpan="9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本地化品牌建设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37795">
                <a:tc vMerge="1" gridSpan="2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</a:tcPr>
                </a:tc>
                <a:tc vMerge="1"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一季度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二季度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三季度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四季度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 gridSpan="5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年度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38430">
                <a:tc vMerge="1" gridSpan="2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季度得分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压降得分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思政课题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年度得分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本地化品牌最终得分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</a:tr>
              <a:tr h="137795">
                <a:tc rowSpan="10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县（市、区）分公司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武陟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40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0.40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5.40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779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修武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40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0.40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5.40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779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沁阳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政企线第1名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5.3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40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0.40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5.70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779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孟州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公众线第2名 | 网络线第1名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公众线第1名 | 网络线第2名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政企线第3名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6.1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40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0.40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6.50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843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温县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政企线第2名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公众线第3名 | 政企线第1名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公众线第3名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5.7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30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0.30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6.00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779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博爱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网络线第2名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公众线第2名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公众线第2名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公众线第1名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5.9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40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0.40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6.30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779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解放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网络线第3名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网络线第1名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政企线第3名 | 网络线第2名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网络线第2名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5.9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40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0.40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6.30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779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山阳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公众线第1名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公众线第3名 |政企线第3名 | 网络线第3名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公众线第1名 | 网络线第1名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公众线第2名|网络线第3名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40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0.40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6.90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779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中站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网络线第3名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网络线第1名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网络线第2名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政企线第2名|网络线第2名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40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0.40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6.40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843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马村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网络线第3名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网络线第1名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网络线第3名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40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0.40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5.90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1295">
                <a:tc rowSpan="8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市公司运营中心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政要客户营销中心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政企线第1名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政企线第2名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zh-CN" altLang="en-US" sz="1400"/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40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0.40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6.40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241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企业客户营销中心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政企线第3名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政企线第2名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5.8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40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0.40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6.20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779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校园客户营销中心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40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0.40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5.90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779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创新支撑中心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40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0.40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5.90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779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综合服务支撑中心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40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0.40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5.90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843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数字化与稽核中心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10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0.10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5.60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779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网络运营中心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35.12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0.35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5.85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779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交付中心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35.12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0.35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5.85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7795">
                <a:tc rowSpan="4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支撑部门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市场部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30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0.30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5.80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779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政企客户事业部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政企线第1名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5.8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32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0.32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6.12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843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客户服务部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40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0.40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5.90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779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网络部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网络线第3名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网络线第1名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5.9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10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0.10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6.00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7795">
                <a:tc rowSpan="5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职能部门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财务部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40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0.40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5.90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779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党建工作部/工会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40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0.65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6.15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986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派驻纪检/审计组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40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0.75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6.25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986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办公室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40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10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0.50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779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人力资源部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16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0.16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5.66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779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其他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机动通信局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5.6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35.12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0.37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6.00 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/>
          <p:nvPr/>
        </p:nvSpPr>
        <p:spPr bwMode="auto">
          <a:xfrm>
            <a:off x="1524883" y="164253"/>
            <a:ext cx="8254153" cy="575733"/>
          </a:xfrm>
          <a:prstGeom prst="rect">
            <a:avLst/>
          </a:prstGeom>
          <a:noFill/>
          <a:ln>
            <a:noFill/>
          </a:ln>
        </p:spPr>
        <p:txBody>
          <a:bodyPr lIns="95488" tIns="47684" rIns="95488" bIns="47684" anchor="ctr"/>
          <a:lstStyle/>
          <a:p>
            <a:pPr defTabSz="681990">
              <a:defRPr/>
            </a:pPr>
            <a:endParaRPr lang="zh-CN" altLang="en-US" sz="3200" dirty="0" smtClean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标题 1"/>
          <p:cNvSpPr/>
          <p:nvPr/>
        </p:nvSpPr>
        <p:spPr bwMode="auto">
          <a:xfrm>
            <a:off x="1347083" y="307975"/>
            <a:ext cx="6444615" cy="497840"/>
          </a:xfrm>
          <a:prstGeom prst="rect">
            <a:avLst/>
          </a:prstGeom>
          <a:noFill/>
          <a:ln>
            <a:noFill/>
          </a:ln>
        </p:spPr>
        <p:txBody>
          <a:bodyPr lIns="71616" tIns="35763" rIns="71616" bIns="35763" anchor="ctr"/>
          <a:p>
            <a:pPr algn="l" defTabSz="681990">
              <a:lnSpc>
                <a:spcPct val="100000"/>
              </a:lnSpc>
              <a:buClrTx/>
              <a:buSzTx/>
              <a:buFontTx/>
              <a:defRPr/>
            </a:pPr>
            <a:r>
              <a:rPr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考核评价内容</a:t>
            </a:r>
            <a:r>
              <a:rPr lang="zh-CN"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（立足岗位做</a:t>
            </a:r>
            <a:r>
              <a:rPr lang="zh-CN"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贡献）</a:t>
            </a:r>
            <a:endParaRPr kumimoji="1"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7920" y="164465"/>
            <a:ext cx="9163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2.5</a:t>
            </a:r>
            <a:endParaRPr lang="en-US" altLang="zh-CN" sz="4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06375" y="997585"/>
            <a:ext cx="10981055" cy="593090"/>
          </a:xfrm>
          <a:prstGeom prst="rect">
            <a:avLst/>
          </a:prstGeom>
          <a:noFill/>
          <a:ln w="12700" cmpd="sng">
            <a:solidFill>
              <a:schemeClr val="bg1">
                <a:lumMod val="85000"/>
              </a:schemeClr>
            </a:solidFill>
            <a:prstDash val="solid"/>
          </a:ln>
        </p:spPr>
        <p:txBody>
          <a:bodyPr wrap="square" rtlCol="0">
            <a:noAutofit/>
          </a:bodyPr>
          <a:p>
            <a:pPr marL="285750" indent="-285750" fontAlgn="auto">
              <a:lnSpc>
                <a:spcPts val="2900"/>
              </a:lnSpc>
              <a:buClr>
                <a:srgbClr val="C00000"/>
              </a:buClr>
              <a:buFont typeface="Wingdings" panose="05000000000000000000" charset="0"/>
              <a:buChar char="n"/>
            </a:pPr>
            <a:r>
              <a:rPr lang="en-US" altLang="zh-CN" sz="1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立足岗位做贡献</a:t>
            </a:r>
            <a:r>
              <a:rPr lang="en-US" altLang="zh-CN" sz="1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活动考核方式：基础分：</a:t>
            </a: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六县四区基础分</a:t>
            </a:r>
            <a:r>
              <a:rPr lang="en-US" altLang="zh-CN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分，其他单位基础分</a:t>
            </a:r>
            <a:r>
              <a:rPr lang="en-US" altLang="zh-CN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3.5</a:t>
            </a: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分；</a:t>
            </a:r>
            <a:r>
              <a:rPr lang="zh-CN" altLang="en-US" sz="1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加分规则：</a:t>
            </a: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最终得分</a:t>
            </a:r>
            <a:r>
              <a:rPr lang="en-US" altLang="zh-CN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</a:t>
            </a: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先锋队数量</a:t>
            </a:r>
            <a:r>
              <a:rPr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*0.</a:t>
            </a:r>
            <a:r>
              <a:rPr 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先锋岗数量</a:t>
            </a:r>
            <a:r>
              <a:rPr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*0.</a:t>
            </a:r>
            <a:r>
              <a:rPr 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基础分；</a:t>
            </a:r>
            <a:r>
              <a:rPr lang="en-US" altLang="zh-CN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1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分封顶。</a:t>
            </a:r>
            <a:endParaRPr lang="zh-CN" altLang="en-US" sz="1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294335" y="89852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497840" y="1782318"/>
          <a:ext cx="14026515" cy="5308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60"/>
                <a:gridCol w="1650365"/>
                <a:gridCol w="1113790"/>
                <a:gridCol w="1013460"/>
                <a:gridCol w="1330325"/>
                <a:gridCol w="560070"/>
                <a:gridCol w="715010"/>
                <a:gridCol w="828675"/>
                <a:gridCol w="840740"/>
                <a:gridCol w="476885"/>
                <a:gridCol w="476885"/>
                <a:gridCol w="476885"/>
                <a:gridCol w="476885"/>
              </a:tblGrid>
              <a:tr h="140970"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支部名称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 gridSpan="5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党员先锋队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党员先锋岗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基础分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得分（基础分3分）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立足岗位争先锋最终得分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</a:tr>
              <a:tr h="19113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公众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政企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网络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职能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合计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技术支撑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业务发展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职能服务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合计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409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武陟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工作手机六万户先锋队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李祖光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844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沁阳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农村市场先锋队、客户服务先锋队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商企万户攻坚先锋队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网络安全先锋队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陈静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陈亚林、程长江、姬芳芳、李三丽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7.5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09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温县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商户市场先锋队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郭志刚、马建周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09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博爱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渠道先锋队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何冰峰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常莎莎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王艳平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09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孟州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算网增收先锋队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卢复敏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戴艳艳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09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修武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营业先锋队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庞二军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09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解放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智家暖心行动先锋队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李秀丽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160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山阳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孙明辉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09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中站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专线联网5+1先锋队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客户感知提升先锋队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刘大鹏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09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马村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王文静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09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办公室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徐志勇、郭曙光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09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人力资源部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聚力提能先锋队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张媛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09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财务部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联网、算网毛利提升先锋队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薛娟娟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160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派驻纪检/审计组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刘英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09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党建工作部/工会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郑苗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09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市场部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孟闪飞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09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政企客户事业部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应收账款先锋队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焦蕊蕊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09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网络部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薛培延、程亚浦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09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客户服务部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杜跃敏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160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综合服务支撑中心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马艳丽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09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数字化与稽核中心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范海洋、王雷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09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政要客户营销中心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李竞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09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企业客户营销中心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张小国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09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校园客户营销中心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董伟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09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创新支撑中心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马孟超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160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网络运营中心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网运成本压降先锋队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张峥、薛会平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09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交付中心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闫林林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09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机动通信局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6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贺小利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fontScale="60000"/>
          </a:bodyPr>
          <a:p>
            <a:endParaRPr lang="zh-CN" altLang="en-US"/>
          </a:p>
        </p:txBody>
      </p:sp>
      <p:sp>
        <p:nvSpPr>
          <p:cNvPr id="18" name="灯片编号占位符 1"/>
          <p:cNvSpPr txBox="1"/>
          <p:nvPr/>
        </p:nvSpPr>
        <p:spPr bwMode="auto">
          <a:xfrm>
            <a:off x="11842346" y="6581706"/>
            <a:ext cx="431540" cy="275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6000" tIns="45720" rIns="36000" bIns="45720" numCol="1" anchor="ctr" anchorCtr="0" compatLnSpc="1">
            <a:spAutoFit/>
          </a:bodyPr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100" b="1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defRPr>
            </a:lvl1pPr>
            <a:lvl2pPr marL="457200" algn="ctr" rtl="0" fontAlgn="base">
              <a:spcBef>
                <a:spcPct val="0"/>
              </a:spcBef>
              <a:spcAft>
                <a:spcPct val="3000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3000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3000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3000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C9040C6-963D-4B80-83DC-4E43C55D1E51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</a:fld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cxnSp>
        <p:nvCxnSpPr>
          <p:cNvPr id="19" name="直接连接符 18"/>
          <p:cNvCxnSpPr/>
          <p:nvPr/>
        </p:nvCxnSpPr>
        <p:spPr>
          <a:xfrm>
            <a:off x="4296023" y="1036955"/>
            <a:ext cx="7620" cy="548259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891153" y="1946275"/>
            <a:ext cx="2897505" cy="2947670"/>
            <a:chOff x="1211854" y="3089382"/>
            <a:chExt cx="1896956" cy="2168151"/>
          </a:xfrm>
        </p:grpSpPr>
        <p:sp>
          <p:nvSpPr>
            <p:cNvPr id="17" name="前进箭头 1212"/>
            <p:cNvSpPr/>
            <p:nvPr/>
          </p:nvSpPr>
          <p:spPr bwMode="auto">
            <a:xfrm>
              <a:off x="2150978" y="3089382"/>
              <a:ext cx="957832" cy="216815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92088" y="459411"/>
                </a:cxn>
                <a:cxn ang="0">
                  <a:pos x="0" y="918822"/>
                </a:cxn>
                <a:cxn ang="0">
                  <a:pos x="0" y="0"/>
                </a:cxn>
              </a:cxnLst>
              <a:rect l="0" t="0" r="r" b="b"/>
              <a:pathLst>
                <a:path w="792088" h="918822">
                  <a:moveTo>
                    <a:pt x="0" y="0"/>
                  </a:moveTo>
                  <a:lnTo>
                    <a:pt x="792088" y="459411"/>
                  </a:lnTo>
                  <a:lnTo>
                    <a:pt x="0" y="9188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lumMod val="50000"/>
                <a:alpha val="76000"/>
              </a:schemeClr>
            </a:solidFill>
            <a:ln w="9525">
              <a:noFill/>
              <a:round/>
            </a:ln>
            <a:effectLst>
              <a:outerShdw blurRad="355600" dist="190500" dir="5460000" algn="ctr" rotWithShape="0">
                <a:srgbClr val="000000">
                  <a:alpha val="91000"/>
                </a:srgbClr>
              </a:outerShdw>
            </a:effectLst>
          </p:spPr>
          <p:txBody>
            <a:bodyPr anchor="ctr"/>
            <a:p>
              <a:pPr defTabSz="4572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1795" kern="0">
                <a:solidFill>
                  <a:sysClr val="windowText" lastClr="000000"/>
                </a:solidFill>
                <a:latin typeface="Tahoma" panose="020B0604030504040204"/>
              </a:endParaRPr>
            </a:p>
          </p:txBody>
        </p:sp>
        <p:sp>
          <p:nvSpPr>
            <p:cNvPr id="20" name="前进箭头 1212"/>
            <p:cNvSpPr/>
            <p:nvPr/>
          </p:nvSpPr>
          <p:spPr bwMode="auto">
            <a:xfrm rot="10800000">
              <a:off x="1211854" y="3089849"/>
              <a:ext cx="957726" cy="216314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92088" y="459411"/>
                </a:cxn>
                <a:cxn ang="0">
                  <a:pos x="0" y="918822"/>
                </a:cxn>
                <a:cxn ang="0">
                  <a:pos x="0" y="0"/>
                </a:cxn>
              </a:cxnLst>
              <a:rect l="0" t="0" r="r" b="b"/>
              <a:pathLst>
                <a:path w="792088" h="918822">
                  <a:moveTo>
                    <a:pt x="0" y="0"/>
                  </a:moveTo>
                  <a:lnTo>
                    <a:pt x="792088" y="459411"/>
                  </a:lnTo>
                  <a:lnTo>
                    <a:pt x="0" y="9188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0027"/>
            </a:solidFill>
            <a:ln w="9525">
              <a:noFill/>
              <a:round/>
            </a:ln>
            <a:effectLst>
              <a:outerShdw blurRad="355600" dist="190500" dir="5460000" algn="ctr" rotWithShape="0">
                <a:srgbClr val="000000">
                  <a:alpha val="91000"/>
                </a:srgbClr>
              </a:outerShdw>
            </a:effectLst>
          </p:spPr>
          <p:txBody>
            <a:bodyPr anchor="ctr"/>
            <a:p>
              <a:pPr defTabSz="4572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1795" kern="0">
                <a:solidFill>
                  <a:sysClr val="windowText" lastClr="000000"/>
                </a:solidFill>
                <a:latin typeface="Tahoma" panose="020B0604030504040204"/>
              </a:endParaRPr>
            </a:p>
          </p:txBody>
        </p:sp>
        <p:sp>
          <p:nvSpPr>
            <p:cNvPr id="21" name="矩形 11"/>
            <p:cNvSpPr/>
            <p:nvPr/>
          </p:nvSpPr>
          <p:spPr bwMode="auto">
            <a:xfrm>
              <a:off x="1698669" y="3634456"/>
              <a:ext cx="452725" cy="719292"/>
            </a:xfrm>
            <a:prstGeom prst="rect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anchor="ctr"/>
            <a:p>
              <a:pPr algn="ctr" defTabSz="4572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1795" kern="0">
                <a:solidFill>
                  <a:sysClr val="window" lastClr="FFFFFF"/>
                </a:solidFill>
                <a:latin typeface="Calibri" panose="020F0502020204030204"/>
              </a:endParaRPr>
            </a:p>
          </p:txBody>
        </p:sp>
        <p:sp>
          <p:nvSpPr>
            <p:cNvPr id="22" name="矩形 12"/>
            <p:cNvSpPr/>
            <p:nvPr/>
          </p:nvSpPr>
          <p:spPr bwMode="auto">
            <a:xfrm>
              <a:off x="2150978" y="4008114"/>
              <a:ext cx="519241" cy="674453"/>
            </a:xfrm>
            <a:prstGeom prst="rect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anchor="ctr"/>
            <a:p>
              <a:pPr algn="ctr" defTabSz="457200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1795" kern="0">
                <a:solidFill>
                  <a:sysClr val="window" lastClr="FFFFFF"/>
                </a:solidFill>
                <a:latin typeface="Calibri" panose="020F0502020204030204"/>
              </a:endParaRPr>
            </a:p>
          </p:txBody>
        </p:sp>
        <p:sp>
          <p:nvSpPr>
            <p:cNvPr id="23" name="文本框 5"/>
            <p:cNvSpPr txBox="1"/>
            <p:nvPr/>
          </p:nvSpPr>
          <p:spPr bwMode="auto">
            <a:xfrm>
              <a:off x="1757286" y="3684900"/>
              <a:ext cx="295165" cy="2933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defTabSz="457200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 b="1" kern="0" dirty="0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目</a:t>
              </a:r>
              <a:endParaRPr lang="zh-CN" altLang="en-US" sz="2000" b="1" kern="0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文本框 6"/>
            <p:cNvSpPr txBox="1"/>
            <p:nvPr/>
          </p:nvSpPr>
          <p:spPr bwMode="auto">
            <a:xfrm>
              <a:off x="2284426" y="4389713"/>
              <a:ext cx="339232" cy="2933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defTabSz="457200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2000" b="1" kern="0" dirty="0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录</a:t>
              </a:r>
              <a:endParaRPr lang="zh-CN" altLang="en-US" sz="2000" b="1" kern="0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文本框 7"/>
            <p:cNvSpPr txBox="1"/>
            <p:nvPr/>
          </p:nvSpPr>
          <p:spPr bwMode="auto">
            <a:xfrm>
              <a:off x="1698398" y="4051144"/>
              <a:ext cx="1190109" cy="338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defTabSz="457200"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altLang="zh-CN" sz="2400" b="1" kern="0" dirty="0">
                  <a:solidFill>
                    <a:sysClr val="window" lastClr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Contents</a:t>
              </a:r>
              <a:endParaRPr lang="en-US" altLang="zh-CN" sz="2400" b="1" kern="0" dirty="0">
                <a:solidFill>
                  <a:sysClr val="window" lastClr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5754618" y="1563370"/>
            <a:ext cx="5829935" cy="847090"/>
            <a:chOff x="1158741" y="1377253"/>
            <a:chExt cx="6859297" cy="663523"/>
          </a:xfrm>
        </p:grpSpPr>
        <p:sp>
          <p:nvSpPr>
            <p:cNvPr id="3" name="任意多边形 2"/>
            <p:cNvSpPr/>
            <p:nvPr>
              <p:custDataLst>
                <p:tags r:id="rId2"/>
              </p:custDataLst>
            </p:nvPr>
          </p:nvSpPr>
          <p:spPr>
            <a:xfrm>
              <a:off x="2401584" y="1414060"/>
              <a:ext cx="5616454" cy="589909"/>
            </a:xfrm>
            <a:custGeom>
              <a:avLst/>
              <a:gdLst>
                <a:gd name="connsiteX0" fmla="*/ 98297 w 589768"/>
                <a:gd name="connsiteY0" fmla="*/ 0 h 5346192"/>
                <a:gd name="connsiteX1" fmla="*/ 491471 w 589768"/>
                <a:gd name="connsiteY1" fmla="*/ 0 h 5346192"/>
                <a:gd name="connsiteX2" fmla="*/ 589768 w 589768"/>
                <a:gd name="connsiteY2" fmla="*/ 98297 h 5346192"/>
                <a:gd name="connsiteX3" fmla="*/ 589768 w 589768"/>
                <a:gd name="connsiteY3" fmla="*/ 5346192 h 5346192"/>
                <a:gd name="connsiteX4" fmla="*/ 589768 w 589768"/>
                <a:gd name="connsiteY4" fmla="*/ 5346192 h 5346192"/>
                <a:gd name="connsiteX5" fmla="*/ 0 w 589768"/>
                <a:gd name="connsiteY5" fmla="*/ 5346192 h 5346192"/>
                <a:gd name="connsiteX6" fmla="*/ 0 w 589768"/>
                <a:gd name="connsiteY6" fmla="*/ 5346192 h 5346192"/>
                <a:gd name="connsiteX7" fmla="*/ 0 w 589768"/>
                <a:gd name="connsiteY7" fmla="*/ 98297 h 5346192"/>
                <a:gd name="connsiteX8" fmla="*/ 98297 w 589768"/>
                <a:gd name="connsiteY8" fmla="*/ 0 h 5346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768" h="5346192">
                  <a:moveTo>
                    <a:pt x="589768" y="891056"/>
                  </a:moveTo>
                  <a:lnTo>
                    <a:pt x="589768" y="4455136"/>
                  </a:lnTo>
                  <a:cubicBezTo>
                    <a:pt x="589768" y="4947251"/>
                    <a:pt x="584913" y="5346187"/>
                    <a:pt x="578924" y="5346187"/>
                  </a:cubicBezTo>
                  <a:lnTo>
                    <a:pt x="0" y="5346187"/>
                  </a:lnTo>
                  <a:lnTo>
                    <a:pt x="0" y="5346187"/>
                  </a:lnTo>
                  <a:lnTo>
                    <a:pt x="0" y="5"/>
                  </a:lnTo>
                  <a:lnTo>
                    <a:pt x="0" y="5"/>
                  </a:lnTo>
                  <a:lnTo>
                    <a:pt x="578924" y="5"/>
                  </a:lnTo>
                  <a:cubicBezTo>
                    <a:pt x="584913" y="5"/>
                    <a:pt x="589768" y="398941"/>
                    <a:pt x="589768" y="891056"/>
                  </a:cubicBezTo>
                  <a:close/>
                </a:path>
              </a:pathLst>
            </a:custGeom>
            <a:solidFill>
              <a:schemeClr val="bg1"/>
            </a:solidFill>
            <a:ln w="254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75145" tIns="169558" rIns="307131" bIns="169558" numCol="1" spcCol="1270" anchor="ctr" anchorCtr="0">
              <a:noAutofit/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zh-CN" sz="20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考核依据、评价内容</a:t>
              </a:r>
              <a:endParaRPr lang="zh-CN" sz="20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5" name="任意多边形 4"/>
            <p:cNvSpPr/>
            <p:nvPr>
              <p:custDataLst>
                <p:tags r:id="rId3"/>
              </p:custDataLst>
            </p:nvPr>
          </p:nvSpPr>
          <p:spPr>
            <a:xfrm>
              <a:off x="1158741" y="1377253"/>
              <a:ext cx="1243632" cy="663523"/>
            </a:xfrm>
            <a:custGeom>
              <a:avLst/>
              <a:gdLst>
                <a:gd name="connsiteX0" fmla="*/ 0 w 1601772"/>
                <a:gd name="connsiteY0" fmla="*/ 122871 h 737210"/>
                <a:gd name="connsiteX1" fmla="*/ 122871 w 1601772"/>
                <a:gd name="connsiteY1" fmla="*/ 0 h 737210"/>
                <a:gd name="connsiteX2" fmla="*/ 1478901 w 1601772"/>
                <a:gd name="connsiteY2" fmla="*/ 0 h 737210"/>
                <a:gd name="connsiteX3" fmla="*/ 1601772 w 1601772"/>
                <a:gd name="connsiteY3" fmla="*/ 122871 h 737210"/>
                <a:gd name="connsiteX4" fmla="*/ 1601772 w 1601772"/>
                <a:gd name="connsiteY4" fmla="*/ 614339 h 737210"/>
                <a:gd name="connsiteX5" fmla="*/ 1478901 w 1601772"/>
                <a:gd name="connsiteY5" fmla="*/ 737210 h 737210"/>
                <a:gd name="connsiteX6" fmla="*/ 122871 w 1601772"/>
                <a:gd name="connsiteY6" fmla="*/ 737210 h 737210"/>
                <a:gd name="connsiteX7" fmla="*/ 0 w 1601772"/>
                <a:gd name="connsiteY7" fmla="*/ 614339 h 737210"/>
                <a:gd name="connsiteX8" fmla="*/ 0 w 1601772"/>
                <a:gd name="connsiteY8" fmla="*/ 122871 h 73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01772" h="737210">
                  <a:moveTo>
                    <a:pt x="0" y="122871"/>
                  </a:moveTo>
                  <a:cubicBezTo>
                    <a:pt x="0" y="55011"/>
                    <a:pt x="55011" y="0"/>
                    <a:pt x="122871" y="0"/>
                  </a:cubicBezTo>
                  <a:lnTo>
                    <a:pt x="1478901" y="0"/>
                  </a:lnTo>
                  <a:cubicBezTo>
                    <a:pt x="1546761" y="0"/>
                    <a:pt x="1601772" y="55011"/>
                    <a:pt x="1601772" y="122871"/>
                  </a:cubicBezTo>
                  <a:lnTo>
                    <a:pt x="1601772" y="614339"/>
                  </a:lnTo>
                  <a:cubicBezTo>
                    <a:pt x="1601772" y="682199"/>
                    <a:pt x="1546761" y="737210"/>
                    <a:pt x="1478901" y="737210"/>
                  </a:cubicBezTo>
                  <a:lnTo>
                    <a:pt x="122871" y="737210"/>
                  </a:lnTo>
                  <a:cubicBezTo>
                    <a:pt x="55011" y="737210"/>
                    <a:pt x="0" y="682199"/>
                    <a:pt x="0" y="614339"/>
                  </a:cubicBezTo>
                  <a:lnTo>
                    <a:pt x="0" y="12287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381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96604" tIns="118294" rIns="196604" bIns="118294" numCol="1" spcCol="1270" anchor="ctr" anchorCtr="0">
              <a:noAutofit/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1644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800" b="1" kern="1200" dirty="0">
                  <a:latin typeface="微软雅黑" panose="020B0503020204020204" charset="-122"/>
                  <a:ea typeface="微软雅黑" panose="020B0503020204020204" charset="-122"/>
                  <a:sym typeface="inpin heiti" panose="00000500000000000000" pitchFamily="2" charset="-122"/>
                </a:rPr>
                <a:t>一</a:t>
              </a:r>
              <a:endParaRPr lang="zh-CN" altLang="en-US" sz="2800" b="1" kern="1200" dirty="0">
                <a:latin typeface="微软雅黑" panose="020B0503020204020204" charset="-122"/>
                <a:ea typeface="微软雅黑" panose="020B0503020204020204" charset="-122"/>
                <a:sym typeface="inpin heiti" panose="00000500000000000000" pitchFamily="2" charset="-122"/>
              </a:endParaRPr>
            </a:p>
          </p:txBody>
        </p:sp>
      </p:grpSp>
      <p:grpSp>
        <p:nvGrpSpPr>
          <p:cNvPr id="13" name="组合 12"/>
          <p:cNvGrpSpPr/>
          <p:nvPr>
            <p:custDataLst>
              <p:tags r:id="rId4"/>
            </p:custDataLst>
          </p:nvPr>
        </p:nvGrpSpPr>
        <p:grpSpPr>
          <a:xfrm>
            <a:off x="5754618" y="3035935"/>
            <a:ext cx="5829935" cy="847090"/>
            <a:chOff x="1158741" y="1377253"/>
            <a:chExt cx="6859297" cy="663523"/>
          </a:xfrm>
        </p:grpSpPr>
        <p:sp>
          <p:nvSpPr>
            <p:cNvPr id="14" name="任意多边形 13"/>
            <p:cNvSpPr/>
            <p:nvPr>
              <p:custDataLst>
                <p:tags r:id="rId5"/>
              </p:custDataLst>
            </p:nvPr>
          </p:nvSpPr>
          <p:spPr>
            <a:xfrm>
              <a:off x="2401584" y="1414060"/>
              <a:ext cx="5616454" cy="589909"/>
            </a:xfrm>
            <a:custGeom>
              <a:avLst/>
              <a:gdLst>
                <a:gd name="connsiteX0" fmla="*/ 98297 w 589768"/>
                <a:gd name="connsiteY0" fmla="*/ 0 h 5346192"/>
                <a:gd name="connsiteX1" fmla="*/ 491471 w 589768"/>
                <a:gd name="connsiteY1" fmla="*/ 0 h 5346192"/>
                <a:gd name="connsiteX2" fmla="*/ 589768 w 589768"/>
                <a:gd name="connsiteY2" fmla="*/ 98297 h 5346192"/>
                <a:gd name="connsiteX3" fmla="*/ 589768 w 589768"/>
                <a:gd name="connsiteY3" fmla="*/ 5346192 h 5346192"/>
                <a:gd name="connsiteX4" fmla="*/ 589768 w 589768"/>
                <a:gd name="connsiteY4" fmla="*/ 5346192 h 5346192"/>
                <a:gd name="connsiteX5" fmla="*/ 0 w 589768"/>
                <a:gd name="connsiteY5" fmla="*/ 5346192 h 5346192"/>
                <a:gd name="connsiteX6" fmla="*/ 0 w 589768"/>
                <a:gd name="connsiteY6" fmla="*/ 5346192 h 5346192"/>
                <a:gd name="connsiteX7" fmla="*/ 0 w 589768"/>
                <a:gd name="connsiteY7" fmla="*/ 98297 h 5346192"/>
                <a:gd name="connsiteX8" fmla="*/ 98297 w 589768"/>
                <a:gd name="connsiteY8" fmla="*/ 0 h 5346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768" h="5346192">
                  <a:moveTo>
                    <a:pt x="589768" y="891056"/>
                  </a:moveTo>
                  <a:lnTo>
                    <a:pt x="589768" y="4455136"/>
                  </a:lnTo>
                  <a:cubicBezTo>
                    <a:pt x="589768" y="4947251"/>
                    <a:pt x="584913" y="5346187"/>
                    <a:pt x="578924" y="5346187"/>
                  </a:cubicBezTo>
                  <a:lnTo>
                    <a:pt x="0" y="5346187"/>
                  </a:lnTo>
                  <a:lnTo>
                    <a:pt x="0" y="5346187"/>
                  </a:lnTo>
                  <a:lnTo>
                    <a:pt x="0" y="5"/>
                  </a:lnTo>
                  <a:lnTo>
                    <a:pt x="0" y="5"/>
                  </a:lnTo>
                  <a:lnTo>
                    <a:pt x="578924" y="5"/>
                  </a:lnTo>
                  <a:cubicBezTo>
                    <a:pt x="584913" y="5"/>
                    <a:pt x="589768" y="398941"/>
                    <a:pt x="589768" y="891056"/>
                  </a:cubicBezTo>
                  <a:close/>
                </a:path>
              </a:pathLst>
            </a:custGeom>
            <a:solidFill>
              <a:schemeClr val="bg1"/>
            </a:solidFill>
            <a:ln w="254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75145" tIns="169558" rIns="307131" bIns="169558" numCol="1" spcCol="1270" anchor="ctr" anchorCtr="0">
              <a:noAutofit/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zh-CN" sz="20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年度考核评价内容</a:t>
              </a:r>
              <a:endParaRPr lang="zh-CN" sz="20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15" name="任意多边形 14"/>
            <p:cNvSpPr/>
            <p:nvPr>
              <p:custDataLst>
                <p:tags r:id="rId6"/>
              </p:custDataLst>
            </p:nvPr>
          </p:nvSpPr>
          <p:spPr>
            <a:xfrm>
              <a:off x="1158741" y="1377253"/>
              <a:ext cx="1243632" cy="663523"/>
            </a:xfrm>
            <a:custGeom>
              <a:avLst/>
              <a:gdLst>
                <a:gd name="connsiteX0" fmla="*/ 0 w 1601772"/>
                <a:gd name="connsiteY0" fmla="*/ 122871 h 737210"/>
                <a:gd name="connsiteX1" fmla="*/ 122871 w 1601772"/>
                <a:gd name="connsiteY1" fmla="*/ 0 h 737210"/>
                <a:gd name="connsiteX2" fmla="*/ 1478901 w 1601772"/>
                <a:gd name="connsiteY2" fmla="*/ 0 h 737210"/>
                <a:gd name="connsiteX3" fmla="*/ 1601772 w 1601772"/>
                <a:gd name="connsiteY3" fmla="*/ 122871 h 737210"/>
                <a:gd name="connsiteX4" fmla="*/ 1601772 w 1601772"/>
                <a:gd name="connsiteY4" fmla="*/ 614339 h 737210"/>
                <a:gd name="connsiteX5" fmla="*/ 1478901 w 1601772"/>
                <a:gd name="connsiteY5" fmla="*/ 737210 h 737210"/>
                <a:gd name="connsiteX6" fmla="*/ 122871 w 1601772"/>
                <a:gd name="connsiteY6" fmla="*/ 737210 h 737210"/>
                <a:gd name="connsiteX7" fmla="*/ 0 w 1601772"/>
                <a:gd name="connsiteY7" fmla="*/ 614339 h 737210"/>
                <a:gd name="connsiteX8" fmla="*/ 0 w 1601772"/>
                <a:gd name="connsiteY8" fmla="*/ 122871 h 73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01772" h="737210">
                  <a:moveTo>
                    <a:pt x="0" y="122871"/>
                  </a:moveTo>
                  <a:cubicBezTo>
                    <a:pt x="0" y="55011"/>
                    <a:pt x="55011" y="0"/>
                    <a:pt x="122871" y="0"/>
                  </a:cubicBezTo>
                  <a:lnTo>
                    <a:pt x="1478901" y="0"/>
                  </a:lnTo>
                  <a:cubicBezTo>
                    <a:pt x="1546761" y="0"/>
                    <a:pt x="1601772" y="55011"/>
                    <a:pt x="1601772" y="122871"/>
                  </a:cubicBezTo>
                  <a:lnTo>
                    <a:pt x="1601772" y="614339"/>
                  </a:lnTo>
                  <a:cubicBezTo>
                    <a:pt x="1601772" y="682199"/>
                    <a:pt x="1546761" y="737210"/>
                    <a:pt x="1478901" y="737210"/>
                  </a:cubicBezTo>
                  <a:lnTo>
                    <a:pt x="122871" y="737210"/>
                  </a:lnTo>
                  <a:cubicBezTo>
                    <a:pt x="55011" y="737210"/>
                    <a:pt x="0" y="682199"/>
                    <a:pt x="0" y="614339"/>
                  </a:cubicBezTo>
                  <a:lnTo>
                    <a:pt x="0" y="12287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 w="381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96604" tIns="118294" rIns="196604" bIns="118294" numCol="1" spcCol="1270" anchor="ctr" anchorCtr="0">
              <a:noAutofit/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1644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800" b="1" kern="1200" dirty="0">
                  <a:latin typeface="微软雅黑" panose="020B0503020204020204" charset="-122"/>
                  <a:ea typeface="微软雅黑" panose="020B0503020204020204" charset="-122"/>
                  <a:sym typeface="inpin heiti" panose="00000500000000000000" pitchFamily="2" charset="-122"/>
                </a:rPr>
                <a:t>二</a:t>
              </a:r>
              <a:endParaRPr lang="zh-CN" altLang="en-US" sz="2800" b="1" kern="1200" dirty="0">
                <a:latin typeface="微软雅黑" panose="020B0503020204020204" charset="-122"/>
                <a:ea typeface="微软雅黑" panose="020B0503020204020204" charset="-122"/>
                <a:sym typeface="inpin heiti" panose="00000500000000000000" pitchFamily="2" charset="-122"/>
              </a:endParaRPr>
            </a:p>
          </p:txBody>
        </p:sp>
      </p:grpSp>
      <p:grpSp>
        <p:nvGrpSpPr>
          <p:cNvPr id="16" name="组合 15"/>
          <p:cNvGrpSpPr/>
          <p:nvPr>
            <p:custDataLst>
              <p:tags r:id="rId7"/>
            </p:custDataLst>
          </p:nvPr>
        </p:nvGrpSpPr>
        <p:grpSpPr>
          <a:xfrm>
            <a:off x="5752072" y="4278287"/>
            <a:ext cx="5829300" cy="847090"/>
            <a:chOff x="1159530" y="1377253"/>
            <a:chExt cx="7239407" cy="663523"/>
          </a:xfrm>
        </p:grpSpPr>
        <p:sp>
          <p:nvSpPr>
            <p:cNvPr id="26" name="任意多边形 25"/>
            <p:cNvSpPr/>
            <p:nvPr>
              <p:custDataLst>
                <p:tags r:id="rId8"/>
              </p:custDataLst>
            </p:nvPr>
          </p:nvSpPr>
          <p:spPr>
            <a:xfrm>
              <a:off x="2401585" y="1414060"/>
              <a:ext cx="5997352" cy="589909"/>
            </a:xfrm>
            <a:custGeom>
              <a:avLst/>
              <a:gdLst>
                <a:gd name="connsiteX0" fmla="*/ 98297 w 589768"/>
                <a:gd name="connsiteY0" fmla="*/ 0 h 5346192"/>
                <a:gd name="connsiteX1" fmla="*/ 491471 w 589768"/>
                <a:gd name="connsiteY1" fmla="*/ 0 h 5346192"/>
                <a:gd name="connsiteX2" fmla="*/ 589768 w 589768"/>
                <a:gd name="connsiteY2" fmla="*/ 98297 h 5346192"/>
                <a:gd name="connsiteX3" fmla="*/ 589768 w 589768"/>
                <a:gd name="connsiteY3" fmla="*/ 5346192 h 5346192"/>
                <a:gd name="connsiteX4" fmla="*/ 589768 w 589768"/>
                <a:gd name="connsiteY4" fmla="*/ 5346192 h 5346192"/>
                <a:gd name="connsiteX5" fmla="*/ 0 w 589768"/>
                <a:gd name="connsiteY5" fmla="*/ 5346192 h 5346192"/>
                <a:gd name="connsiteX6" fmla="*/ 0 w 589768"/>
                <a:gd name="connsiteY6" fmla="*/ 5346192 h 5346192"/>
                <a:gd name="connsiteX7" fmla="*/ 0 w 589768"/>
                <a:gd name="connsiteY7" fmla="*/ 98297 h 5346192"/>
                <a:gd name="connsiteX8" fmla="*/ 98297 w 589768"/>
                <a:gd name="connsiteY8" fmla="*/ 0 h 5346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768" h="5346192">
                  <a:moveTo>
                    <a:pt x="589768" y="891056"/>
                  </a:moveTo>
                  <a:lnTo>
                    <a:pt x="589768" y="4455136"/>
                  </a:lnTo>
                  <a:cubicBezTo>
                    <a:pt x="589768" y="4947251"/>
                    <a:pt x="584913" y="5346187"/>
                    <a:pt x="578924" y="5346187"/>
                  </a:cubicBezTo>
                  <a:lnTo>
                    <a:pt x="0" y="5346187"/>
                  </a:lnTo>
                  <a:lnTo>
                    <a:pt x="0" y="5346187"/>
                  </a:lnTo>
                  <a:lnTo>
                    <a:pt x="0" y="5"/>
                  </a:lnTo>
                  <a:lnTo>
                    <a:pt x="0" y="5"/>
                  </a:lnTo>
                  <a:lnTo>
                    <a:pt x="578924" y="5"/>
                  </a:lnTo>
                  <a:cubicBezTo>
                    <a:pt x="584913" y="5"/>
                    <a:pt x="589768" y="398941"/>
                    <a:pt x="589768" y="891056"/>
                  </a:cubicBezTo>
                  <a:close/>
                </a:path>
              </a:pathLst>
            </a:custGeom>
            <a:solidFill>
              <a:schemeClr val="bg1"/>
            </a:solidFill>
            <a:ln w="254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75145" tIns="169558" rIns="307131" bIns="169558" numCol="1" spcCol="1270" anchor="ctr" anchorCtr="0">
              <a:noAutofit/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dk1">
                      <a:hueOff val="0"/>
                      <a:satOff val="0"/>
                      <a:lumOff val="0"/>
                      <a:alphaOff val="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1" algn="ctr"/>
              <a:r>
                <a:rPr sz="2000" b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年度考核</a:t>
              </a:r>
              <a:r>
                <a:rPr lang="zh-CN" sz="2000" b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结果</a:t>
              </a:r>
              <a:endParaRPr lang="zh-CN" sz="2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7" name="任意多边形 26"/>
            <p:cNvSpPr/>
            <p:nvPr>
              <p:custDataLst>
                <p:tags r:id="rId9"/>
              </p:custDataLst>
            </p:nvPr>
          </p:nvSpPr>
          <p:spPr>
            <a:xfrm>
              <a:off x="1159530" y="1377253"/>
              <a:ext cx="1243632" cy="663523"/>
            </a:xfrm>
            <a:custGeom>
              <a:avLst/>
              <a:gdLst>
                <a:gd name="connsiteX0" fmla="*/ 0 w 1601772"/>
                <a:gd name="connsiteY0" fmla="*/ 122871 h 737210"/>
                <a:gd name="connsiteX1" fmla="*/ 122871 w 1601772"/>
                <a:gd name="connsiteY1" fmla="*/ 0 h 737210"/>
                <a:gd name="connsiteX2" fmla="*/ 1478901 w 1601772"/>
                <a:gd name="connsiteY2" fmla="*/ 0 h 737210"/>
                <a:gd name="connsiteX3" fmla="*/ 1601772 w 1601772"/>
                <a:gd name="connsiteY3" fmla="*/ 122871 h 737210"/>
                <a:gd name="connsiteX4" fmla="*/ 1601772 w 1601772"/>
                <a:gd name="connsiteY4" fmla="*/ 614339 h 737210"/>
                <a:gd name="connsiteX5" fmla="*/ 1478901 w 1601772"/>
                <a:gd name="connsiteY5" fmla="*/ 737210 h 737210"/>
                <a:gd name="connsiteX6" fmla="*/ 122871 w 1601772"/>
                <a:gd name="connsiteY6" fmla="*/ 737210 h 737210"/>
                <a:gd name="connsiteX7" fmla="*/ 0 w 1601772"/>
                <a:gd name="connsiteY7" fmla="*/ 614339 h 737210"/>
                <a:gd name="connsiteX8" fmla="*/ 0 w 1601772"/>
                <a:gd name="connsiteY8" fmla="*/ 122871 h 73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01772" h="737210">
                  <a:moveTo>
                    <a:pt x="0" y="122871"/>
                  </a:moveTo>
                  <a:cubicBezTo>
                    <a:pt x="0" y="55011"/>
                    <a:pt x="55011" y="0"/>
                    <a:pt x="122871" y="0"/>
                  </a:cubicBezTo>
                  <a:lnTo>
                    <a:pt x="1478901" y="0"/>
                  </a:lnTo>
                  <a:cubicBezTo>
                    <a:pt x="1546761" y="0"/>
                    <a:pt x="1601772" y="55011"/>
                    <a:pt x="1601772" y="122871"/>
                  </a:cubicBezTo>
                  <a:lnTo>
                    <a:pt x="1601772" y="614339"/>
                  </a:lnTo>
                  <a:cubicBezTo>
                    <a:pt x="1601772" y="682199"/>
                    <a:pt x="1546761" y="737210"/>
                    <a:pt x="1478901" y="737210"/>
                  </a:cubicBezTo>
                  <a:lnTo>
                    <a:pt x="122871" y="737210"/>
                  </a:lnTo>
                  <a:cubicBezTo>
                    <a:pt x="55011" y="737210"/>
                    <a:pt x="0" y="682199"/>
                    <a:pt x="0" y="614339"/>
                  </a:cubicBezTo>
                  <a:lnTo>
                    <a:pt x="0" y="122871"/>
                  </a:lnTo>
                  <a:close/>
                </a:path>
              </a:pathLst>
            </a:custGeom>
            <a:gradFill>
              <a:gsLst>
                <a:gs pos="0">
                  <a:srgbClr val="E30000"/>
                </a:gs>
                <a:gs pos="100000">
                  <a:srgbClr val="760303"/>
                </a:gs>
              </a:gsLst>
              <a:lin ang="5400000" scaled="0"/>
            </a:gradFill>
            <a:ln w="38100" cap="flat" cmpd="sng" algn="ctr">
              <a:noFill/>
              <a:prstDash val="solid"/>
            </a:ln>
            <a:effectLst>
              <a:outerShdw blurRad="63500" algn="ctr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2"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hueOff val="0"/>
                <a:satOff val="0"/>
                <a:lumOff val="0"/>
                <a:alphaOff val="0"/>
              </a:schemeClr>
            </a:fillRef>
            <a:effectRef idx="1">
              <a:schemeClr val="dk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96604" tIns="118294" rIns="196604" bIns="118294" numCol="1" spcCol="1270" anchor="ctr" anchorCtr="0">
              <a:noAutofit/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 defTabSz="1644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800" b="1" kern="1200" dirty="0">
                  <a:latin typeface="微软雅黑" panose="020B0503020204020204" charset="-122"/>
                  <a:ea typeface="微软雅黑" panose="020B0503020204020204" charset="-122"/>
                  <a:sym typeface="inpin heiti" panose="00000500000000000000" pitchFamily="2" charset="-122"/>
                </a:rPr>
                <a:t>三</a:t>
              </a:r>
              <a:endParaRPr lang="zh-CN" altLang="en-US" sz="2800" b="1" kern="1200" dirty="0">
                <a:latin typeface="微软雅黑" panose="020B0503020204020204" charset="-122"/>
                <a:ea typeface="微软雅黑" panose="020B0503020204020204" charset="-122"/>
                <a:sym typeface="inpin heiti" panose="00000500000000000000" pitchFamily="2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/>
          <p:nvPr/>
        </p:nvSpPr>
        <p:spPr bwMode="auto">
          <a:xfrm>
            <a:off x="1524883" y="164253"/>
            <a:ext cx="8254153" cy="575733"/>
          </a:xfrm>
          <a:prstGeom prst="rect">
            <a:avLst/>
          </a:prstGeom>
          <a:noFill/>
          <a:ln>
            <a:noFill/>
          </a:ln>
        </p:spPr>
        <p:txBody>
          <a:bodyPr lIns="95488" tIns="47684" rIns="95488" bIns="47684" anchor="ctr"/>
          <a:lstStyle/>
          <a:p>
            <a:pPr defTabSz="681990">
              <a:defRPr/>
            </a:pPr>
            <a:endParaRPr lang="zh-CN" altLang="en-US" sz="3200" dirty="0" smtClean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标题 1"/>
          <p:cNvSpPr/>
          <p:nvPr/>
        </p:nvSpPr>
        <p:spPr bwMode="auto">
          <a:xfrm>
            <a:off x="1347083" y="307975"/>
            <a:ext cx="6444615" cy="497840"/>
          </a:xfrm>
          <a:prstGeom prst="rect">
            <a:avLst/>
          </a:prstGeom>
          <a:noFill/>
          <a:ln>
            <a:noFill/>
          </a:ln>
        </p:spPr>
        <p:txBody>
          <a:bodyPr lIns="71616" tIns="35763" rIns="71616" bIns="35763" anchor="ctr"/>
          <a:p>
            <a:pPr algn="l" defTabSz="681990">
              <a:lnSpc>
                <a:spcPct val="100000"/>
              </a:lnSpc>
              <a:buClrTx/>
              <a:buSzTx/>
              <a:buFontTx/>
              <a:defRPr/>
            </a:pPr>
            <a:r>
              <a:rPr lang="zh-CN"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年度考核结果</a:t>
            </a:r>
            <a:endParaRPr kumimoji="1"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8203" y="164465"/>
            <a:ext cx="9163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 3</a:t>
            </a:r>
            <a:endParaRPr lang="en-US" altLang="zh-CN" sz="4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64160" y="908685"/>
            <a:ext cx="11367135" cy="1219200"/>
          </a:xfrm>
          <a:prstGeom prst="rect">
            <a:avLst/>
          </a:prstGeom>
          <a:noFill/>
          <a:ln w="12700" cmpd="sng">
            <a:solidFill>
              <a:schemeClr val="bg1">
                <a:lumMod val="85000"/>
              </a:schemeClr>
            </a:solidFill>
            <a:prstDash val="solid"/>
          </a:ln>
        </p:spPr>
        <p:txBody>
          <a:bodyPr wrap="square" rtlCol="0">
            <a:noAutofit/>
          </a:bodyPr>
          <a:p>
            <a:pPr marL="285750" indent="-285750" fontAlgn="auto">
              <a:lnSpc>
                <a:spcPts val="2900"/>
              </a:lnSpc>
              <a:buClr>
                <a:srgbClr val="C00000"/>
              </a:buClr>
              <a:buFont typeface="Wingdings" panose="05000000000000000000" charset="0"/>
              <a:buChar char="n"/>
            </a:pPr>
            <a:r>
              <a:rPr lang="zh-CN" altLang="en-US" sz="1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党建考核等次及考核系数：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党建考核总分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88.4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分以上，考核等次为好；排名前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名，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系数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1.02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，其余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88.4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分以上的为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1.01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。总分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[84.7,88.2]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，考核等次为较好，评价系数为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。低于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84.7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分，考核等次为一般。最后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名评价系数为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0.98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，其他为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0.99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1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294618" y="89852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graphicFrame>
        <p:nvGraphicFramePr>
          <p:cNvPr id="12" name="表格 11"/>
          <p:cNvGraphicFramePr/>
          <p:nvPr>
            <p:custDataLst>
              <p:tags r:id="rId1"/>
            </p:custDataLst>
          </p:nvPr>
        </p:nvGraphicFramePr>
        <p:xfrm>
          <a:off x="406400" y="2351405"/>
          <a:ext cx="5713095" cy="3382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5035"/>
                <a:gridCol w="556895"/>
                <a:gridCol w="636905"/>
                <a:gridCol w="661035"/>
                <a:gridCol w="600710"/>
                <a:gridCol w="617855"/>
                <a:gridCol w="628650"/>
                <a:gridCol w="450850"/>
                <a:gridCol w="322580"/>
                <a:gridCol w="322580"/>
              </a:tblGrid>
              <a:tr h="30861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支部名称</a:t>
                      </a:r>
                      <a:endParaRPr lang="zh-CN" altLang="en-US" sz="800" b="1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四季度综合考评</a:t>
                      </a:r>
                      <a:endParaRPr lang="zh-CN" altLang="en-US" sz="800" b="1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述职得分</a:t>
                      </a:r>
                      <a:endParaRPr lang="zh-CN" altLang="en-US" sz="800" b="1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本地化品牌得分</a:t>
                      </a:r>
                      <a:endParaRPr lang="zh-CN" altLang="en-US" sz="800" b="1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本立足岗位得分</a:t>
                      </a:r>
                      <a:endParaRPr lang="zh-CN" altLang="en-US" sz="800" b="1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双优得分</a:t>
                      </a:r>
                      <a:endParaRPr lang="zh-CN" altLang="en-US" sz="800" b="1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年度党建得分</a:t>
                      </a:r>
                      <a:endParaRPr lang="zh-CN" altLang="en-US" sz="800" b="1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排名</a:t>
                      </a:r>
                      <a:endParaRPr lang="zh-CN" altLang="en-US" sz="800" b="1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党建系数</a:t>
                      </a:r>
                      <a:endParaRPr lang="zh-CN" altLang="en-US" sz="800" b="1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系数结果</a:t>
                      </a:r>
                      <a:endParaRPr lang="zh-CN" altLang="en-US" sz="800" b="1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</a:tr>
              <a:tr h="22034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沁阳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70.3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5.7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1.02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好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907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网络运营中心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70.2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5.85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2.5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92.55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1.02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好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907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党建工作部/工会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70.1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6.15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92.25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1.01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好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971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人力资源部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70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5.66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4.5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2.5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91.66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1.01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较好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971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温县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67.8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4.5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91.3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1.01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好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971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山阳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68.9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6.9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3.5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91.3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1.01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好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907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综合服务支撑中心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69.8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5.9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2.5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91.2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7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1.01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好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907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博爱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66.7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6.3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1.01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好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034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数字化与稽核中心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69.2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5.6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4.5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2.5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90.8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1.01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好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907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修武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69.3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5.4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2.5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90.2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1.01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较好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971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市场部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67.4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5.8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2.5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89.7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1.01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较好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907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政企客户事业部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6.12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4.5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89.62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1.01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好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034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派驻纪检/审计组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66.3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6.25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88.55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1.01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较好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907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财务部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5.9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4.5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88.4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1.01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好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3" name="表格 12"/>
          <p:cNvGraphicFramePr/>
          <p:nvPr/>
        </p:nvGraphicFramePr>
        <p:xfrm>
          <a:off x="6237605" y="2354580"/>
          <a:ext cx="5285105" cy="3395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4390"/>
                <a:gridCol w="747395"/>
                <a:gridCol w="354965"/>
                <a:gridCol w="728345"/>
                <a:gridCol w="616585"/>
                <a:gridCol w="356235"/>
                <a:gridCol w="581660"/>
                <a:gridCol w="354965"/>
                <a:gridCol w="355600"/>
                <a:gridCol w="354965"/>
              </a:tblGrid>
              <a:tr h="32131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支部名称</a:t>
                      </a:r>
                      <a:endParaRPr lang="zh-CN" altLang="en-US" sz="800" b="1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四季度综合考评</a:t>
                      </a:r>
                      <a:endParaRPr lang="zh-CN" altLang="en-US" sz="800" b="1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述职得分</a:t>
                      </a:r>
                      <a:endParaRPr lang="zh-CN" altLang="en-US" sz="800" b="1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本地化品牌得分</a:t>
                      </a:r>
                      <a:endParaRPr lang="zh-CN" altLang="en-US" sz="800" b="1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本立足岗位得分</a:t>
                      </a:r>
                      <a:endParaRPr lang="zh-CN" altLang="en-US" sz="800" b="1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双优得分</a:t>
                      </a:r>
                      <a:endParaRPr lang="zh-CN" altLang="en-US" sz="800" b="1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年度党建得分</a:t>
                      </a:r>
                      <a:endParaRPr lang="zh-CN" altLang="en-US" sz="800" b="1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排名</a:t>
                      </a:r>
                      <a:endParaRPr lang="zh-CN" altLang="en-US" sz="800" b="1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党建系数</a:t>
                      </a:r>
                      <a:endParaRPr lang="zh-CN" altLang="en-US" sz="800" b="1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系数结果</a:t>
                      </a:r>
                      <a:endParaRPr lang="zh-CN" altLang="en-US" sz="800" b="1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</a:tr>
              <a:tr h="1917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办公室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65.4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4.5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2.5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88.4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1.</a:t>
                      </a:r>
                      <a:r>
                        <a:rPr lang="en-US" altLang="zh-CN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01</a:t>
                      </a:r>
                      <a:endParaRPr lang="en-US" altLang="zh-CN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好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17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交付中心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66.8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5.85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2.5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88.15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较好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240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机动通信局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65.1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2.52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86.62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17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较好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17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客户服务部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65.4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5.9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2.5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85.8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较好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17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网络部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64.1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4.5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85.6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较好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131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企业客户营销中心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63.5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6.2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2.5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85.2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20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较好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17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中站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62.8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6.4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4.5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84.7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较好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17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创新支撑中心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62.2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5.9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84.1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较好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17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武陟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62.9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5.4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83.3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0.99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一般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17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孟州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61.6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6.5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4.5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2.5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83.1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0.99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一般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17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马村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63.3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5.9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3.5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82.7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0.99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一般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194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校园客户营销中心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61.1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5.9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0.99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一般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131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政要客户营销中心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57.7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6.4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2.5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79.6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27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0.98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一般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177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解放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59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6.3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79.3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0.98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8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一般</a:t>
                      </a:r>
                      <a:endParaRPr lang="zh-CN" altLang="en-US" sz="800" b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</a:txBody>
                  <a:tcPr marL="12700" marR="12700" marT="12700" vert="horz" anchor="b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/>
          <p:nvPr/>
        </p:nvSpPr>
        <p:spPr bwMode="auto">
          <a:xfrm>
            <a:off x="1524883" y="164253"/>
            <a:ext cx="8254153" cy="575733"/>
          </a:xfrm>
          <a:prstGeom prst="rect">
            <a:avLst/>
          </a:prstGeom>
          <a:noFill/>
          <a:ln>
            <a:noFill/>
          </a:ln>
        </p:spPr>
        <p:txBody>
          <a:bodyPr lIns="95488" tIns="47684" rIns="95488" bIns="47684" anchor="ctr"/>
          <a:lstStyle/>
          <a:p>
            <a:pPr defTabSz="681990">
              <a:defRPr/>
            </a:pPr>
            <a:endParaRPr lang="zh-CN" altLang="en-US" sz="3200" dirty="0" smtClean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标题 1"/>
          <p:cNvSpPr/>
          <p:nvPr/>
        </p:nvSpPr>
        <p:spPr bwMode="auto">
          <a:xfrm>
            <a:off x="1347083" y="307975"/>
            <a:ext cx="6444615" cy="497840"/>
          </a:xfrm>
          <a:prstGeom prst="rect">
            <a:avLst/>
          </a:prstGeom>
          <a:noFill/>
          <a:ln>
            <a:noFill/>
          </a:ln>
        </p:spPr>
        <p:txBody>
          <a:bodyPr lIns="71616" tIns="35763" rIns="71616" bIns="35763" anchor="ctr"/>
          <a:p>
            <a:pPr algn="l" defTabSz="681990">
              <a:lnSpc>
                <a:spcPct val="100000"/>
              </a:lnSpc>
              <a:buClrTx/>
              <a:buSzTx/>
              <a:buFontTx/>
              <a:defRPr/>
            </a:pPr>
            <a:r>
              <a:rPr lang="zh-CN"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年度考核结果应用</a:t>
            </a:r>
            <a:endParaRPr kumimoji="1"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8203" y="164465"/>
            <a:ext cx="9163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 3</a:t>
            </a:r>
            <a:endParaRPr lang="en-US" altLang="zh-CN" sz="4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294618" y="89852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268605" y="946150"/>
            <a:ext cx="11924030" cy="2694940"/>
          </a:xfrm>
          <a:prstGeom prst="rect">
            <a:avLst/>
          </a:prstGeom>
          <a:noFill/>
          <a:ln w="12700" cmpd="sng">
            <a:solidFill>
              <a:schemeClr val="bg1">
                <a:lumMod val="85000"/>
              </a:schemeClr>
            </a:solidFill>
            <a:prstDash val="solid"/>
          </a:ln>
        </p:spPr>
        <p:txBody>
          <a:bodyPr wrap="square" rtlCol="0">
            <a:noAutofit/>
          </a:bodyPr>
          <a:p>
            <a:pPr marL="285750" indent="-285750" fontAlgn="auto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n"/>
            </a:pPr>
            <a:r>
              <a:rPr lang="zh-CN" altLang="en-US" sz="1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经营业绩考核部门分组排名后二分之一的单位（向下取整），当年党建工作考核结果等次不得为</a:t>
            </a:r>
            <a:r>
              <a:rPr lang="en-US" altLang="zh-CN" sz="1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好</a:t>
            </a:r>
            <a:r>
              <a:rPr lang="en-US" altLang="zh-CN" sz="16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。修武、市场部、派驻纪检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审计组考核等次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好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调整为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较好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285750" indent="-285750" fontAlgn="auto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n"/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结果等次为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一般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zh-CN" altLang="en-US" sz="1600" b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武陟、孟州、解放、马村、校园、政要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党支部，班子成员个人年度考评等级不得为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优秀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，对支部书记进行约谈，并取消单位当年参加评优评先推荐资格。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/>
          <p:nvPr/>
        </p:nvSpPr>
        <p:spPr bwMode="auto">
          <a:xfrm>
            <a:off x="1524883" y="164253"/>
            <a:ext cx="8254153" cy="575733"/>
          </a:xfrm>
          <a:prstGeom prst="rect">
            <a:avLst/>
          </a:prstGeom>
          <a:noFill/>
          <a:ln>
            <a:noFill/>
          </a:ln>
        </p:spPr>
        <p:txBody>
          <a:bodyPr lIns="95488" tIns="47684" rIns="95488" bIns="47684" anchor="ctr"/>
          <a:lstStyle/>
          <a:p>
            <a:pPr defTabSz="681990">
              <a:defRPr/>
            </a:pPr>
            <a:endParaRPr lang="zh-CN" altLang="en-US" sz="3200" dirty="0" smtClean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标题 1"/>
          <p:cNvSpPr/>
          <p:nvPr/>
        </p:nvSpPr>
        <p:spPr bwMode="auto">
          <a:xfrm>
            <a:off x="1346835" y="307975"/>
            <a:ext cx="9394825" cy="497840"/>
          </a:xfrm>
          <a:prstGeom prst="rect">
            <a:avLst/>
          </a:prstGeom>
          <a:noFill/>
          <a:ln>
            <a:noFill/>
          </a:ln>
        </p:spPr>
        <p:txBody>
          <a:bodyPr lIns="71616" tIns="35763" rIns="71616" bIns="35763" anchor="ctr"/>
          <a:p>
            <a:pPr algn="l" defTabSz="681990">
              <a:lnSpc>
                <a:spcPct val="100000"/>
              </a:lnSpc>
              <a:buClrTx/>
              <a:buSzTx/>
              <a:buFontTx/>
              <a:defRPr/>
            </a:pPr>
            <a:r>
              <a:rPr lang="zh-CN"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年度考核结果（</a:t>
            </a:r>
            <a:r>
              <a:rPr lang="en-US" altLang="zh-CN" sz="2400" kern="0" dirty="0">
                <a:solidFill>
                  <a:srgbClr val="C00000"/>
                </a:solidFill>
                <a:sym typeface="+mn-ea"/>
              </a:rPr>
              <a:t> </a:t>
            </a:r>
            <a:r>
              <a:rPr lang="zh-CN" sz="2400" kern="0" dirty="0">
                <a:solidFill>
                  <a:srgbClr val="C00000"/>
                </a:solidFill>
                <a:sym typeface="+mn-ea"/>
              </a:rPr>
              <a:t>县（市、区)分公司</a:t>
            </a:r>
            <a:r>
              <a:rPr lang="en-US" altLang="zh-CN" sz="2400" kern="0" dirty="0">
                <a:solidFill>
                  <a:srgbClr val="C00000"/>
                </a:solidFill>
                <a:sym typeface="+mn-ea"/>
              </a:rPr>
              <a:t>KPI</a:t>
            </a:r>
            <a:r>
              <a:rPr lang="zh-CN" altLang="en-US" sz="2400" kern="0" dirty="0">
                <a:solidFill>
                  <a:srgbClr val="C00000"/>
                </a:solidFill>
                <a:sym typeface="+mn-ea"/>
              </a:rPr>
              <a:t>年度结果</a:t>
            </a:r>
            <a:r>
              <a:rPr lang="en-US" altLang="zh-CN" sz="2400" kern="0" dirty="0">
                <a:solidFill>
                  <a:srgbClr val="C00000"/>
                </a:solidFill>
                <a:sym typeface="+mn-ea"/>
              </a:rPr>
              <a:t>*</a:t>
            </a:r>
            <a:r>
              <a:rPr lang="zh-CN" altLang="en-US" sz="2400" kern="0" dirty="0">
                <a:solidFill>
                  <a:srgbClr val="C00000"/>
                </a:solidFill>
                <a:sym typeface="+mn-ea"/>
              </a:rPr>
              <a:t>党建系数</a:t>
            </a:r>
            <a:r>
              <a:rPr lang="zh-CN" sz="2400" kern="0" dirty="0">
                <a:solidFill>
                  <a:srgbClr val="C00000"/>
                </a:solidFill>
                <a:sym typeface="+mn-ea"/>
              </a:rPr>
              <a:t>情况</a:t>
            </a:r>
            <a:r>
              <a:rPr kumimoji="1"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kumimoji="1"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8203" y="164465"/>
            <a:ext cx="9163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 3</a:t>
            </a:r>
            <a:endParaRPr lang="en-US" altLang="zh-CN" sz="4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294618" y="89852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206375" y="1239520"/>
            <a:ext cx="9987915" cy="895350"/>
          </a:xfrm>
          <a:prstGeom prst="rect">
            <a:avLst/>
          </a:prstGeom>
          <a:noFill/>
          <a:ln w="12700" cmpd="sng">
            <a:solidFill>
              <a:schemeClr val="bg1">
                <a:lumMod val="85000"/>
              </a:schemeClr>
            </a:solidFill>
            <a:prstDash val="solid"/>
          </a:ln>
        </p:spPr>
        <p:txBody>
          <a:bodyPr wrap="square" rtlCol="0">
            <a:noAutofit/>
          </a:bodyPr>
          <a:p>
            <a:pPr marL="285750" indent="-285750" fontAlgn="auto">
              <a:lnSpc>
                <a:spcPts val="2900"/>
              </a:lnSpc>
              <a:buClr>
                <a:srgbClr val="C00000"/>
              </a:buClr>
              <a:buFont typeface="Wingdings" panose="05000000000000000000" charset="0"/>
              <a:buChar char="n"/>
            </a:pP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原始得分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*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党建系数得分情况：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县（市、区)分公司，换算前温县得分最高为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114.38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分，修武得分最低为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82.69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分。换算后最高得分温县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114.38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，最低得分修武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83.5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。整体排名保持不变。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2726055" y="2634615"/>
          <a:ext cx="5851525" cy="271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3825"/>
                <a:gridCol w="609600"/>
                <a:gridCol w="617538"/>
                <a:gridCol w="609600"/>
                <a:gridCol w="609600"/>
                <a:gridCol w="791845"/>
                <a:gridCol w="609917"/>
              </a:tblGrid>
              <a:tr h="8128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类型</a:t>
                      </a:r>
                      <a:endParaRPr lang="en-US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支部名称</a:t>
                      </a:r>
                      <a:endParaRPr lang="en-US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原始得分</a:t>
                      </a:r>
                      <a:endParaRPr lang="en-US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排名</a:t>
                      </a:r>
                      <a:endParaRPr lang="en-US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党建系数</a:t>
                      </a:r>
                      <a:endParaRPr lang="en-US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原始得分*党建系数得分</a:t>
                      </a:r>
                      <a:endParaRPr lang="zh-CN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 algn="ctr">
                        <a:buNone/>
                      </a:pPr>
                      <a:endParaRPr lang="en-US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系数后排名</a:t>
                      </a:r>
                      <a:endParaRPr lang="en-US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</a:tr>
              <a:tr h="190500">
                <a:tc rowSpan="10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县（市、区）分公司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武陟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86.1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0.99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85.23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5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修武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82.69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1.01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83.51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5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沁阳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93.08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1.02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94.94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5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孟州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100.7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0.99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99.69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5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温县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114.38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1.01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115.52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5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博爱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107.68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1.01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108.75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5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解放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92.04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0.98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90.19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5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山阳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101.17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1.01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102.18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5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中站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87.77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87.77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5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马村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90.66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0.99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89.75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/>
          <p:nvPr/>
        </p:nvSpPr>
        <p:spPr bwMode="auto">
          <a:xfrm>
            <a:off x="1524883" y="164253"/>
            <a:ext cx="8254153" cy="575733"/>
          </a:xfrm>
          <a:prstGeom prst="rect">
            <a:avLst/>
          </a:prstGeom>
          <a:noFill/>
          <a:ln>
            <a:noFill/>
          </a:ln>
        </p:spPr>
        <p:txBody>
          <a:bodyPr lIns="95488" tIns="47684" rIns="95488" bIns="47684" anchor="ctr"/>
          <a:lstStyle/>
          <a:p>
            <a:pPr defTabSz="681990">
              <a:defRPr/>
            </a:pPr>
            <a:endParaRPr lang="zh-CN" altLang="en-US" sz="3200" dirty="0" smtClean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标题 1"/>
          <p:cNvSpPr/>
          <p:nvPr/>
        </p:nvSpPr>
        <p:spPr bwMode="auto">
          <a:xfrm>
            <a:off x="1346835" y="477520"/>
            <a:ext cx="9832340" cy="497840"/>
          </a:xfrm>
          <a:prstGeom prst="rect">
            <a:avLst/>
          </a:prstGeom>
          <a:noFill/>
          <a:ln>
            <a:noFill/>
          </a:ln>
        </p:spPr>
        <p:txBody>
          <a:bodyPr lIns="71616" tIns="35763" rIns="71616" bIns="35763" anchor="ctr"/>
          <a:p>
            <a:pPr algn="l" defTabSz="681990">
              <a:lnSpc>
                <a:spcPct val="100000"/>
              </a:lnSpc>
              <a:buClrTx/>
              <a:buSzTx/>
              <a:buFontTx/>
              <a:defRPr/>
            </a:pPr>
            <a:r>
              <a:rPr lang="zh-CN"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年度考核结果（</a:t>
            </a:r>
            <a:r>
              <a:rPr lang="en-US" altLang="zh-CN" sz="2400" kern="0" dirty="0">
                <a:solidFill>
                  <a:srgbClr val="C00000"/>
                </a:solidFill>
                <a:sym typeface="+mn-ea"/>
              </a:rPr>
              <a:t> </a:t>
            </a:r>
            <a:r>
              <a:rPr lang="zh-CN" altLang="en-US" sz="2400" kern="0" dirty="0">
                <a:solidFill>
                  <a:srgbClr val="C00000"/>
                </a:solidFill>
                <a:sym typeface="+mn-ea"/>
              </a:rPr>
              <a:t>市</a:t>
            </a:r>
            <a:r>
              <a:rPr lang="zh-CN" sz="2400" kern="0" dirty="0">
                <a:solidFill>
                  <a:srgbClr val="C00000"/>
                </a:solidFill>
                <a:sym typeface="+mn-ea"/>
              </a:rPr>
              <a:t>公司运营中心</a:t>
            </a:r>
            <a:r>
              <a:rPr lang="en-US" altLang="zh-CN" sz="2400" kern="0" dirty="0">
                <a:solidFill>
                  <a:srgbClr val="C00000"/>
                </a:solidFill>
                <a:sym typeface="+mn-ea"/>
              </a:rPr>
              <a:t>KPI</a:t>
            </a:r>
            <a:r>
              <a:rPr lang="zh-CN" altLang="en-US" sz="2400" kern="0" dirty="0">
                <a:solidFill>
                  <a:srgbClr val="C00000"/>
                </a:solidFill>
                <a:sym typeface="+mn-ea"/>
              </a:rPr>
              <a:t>年度结果</a:t>
            </a:r>
            <a:r>
              <a:rPr lang="en-US" altLang="zh-CN" sz="2400" kern="0" dirty="0">
                <a:solidFill>
                  <a:srgbClr val="C00000"/>
                </a:solidFill>
                <a:sym typeface="+mn-ea"/>
              </a:rPr>
              <a:t>*</a:t>
            </a:r>
            <a:r>
              <a:rPr lang="zh-CN" altLang="en-US" sz="2400" kern="0" dirty="0">
                <a:solidFill>
                  <a:srgbClr val="C00000"/>
                </a:solidFill>
                <a:sym typeface="+mn-ea"/>
              </a:rPr>
              <a:t>党建系数</a:t>
            </a:r>
            <a:r>
              <a:rPr lang="zh-CN" sz="2400" kern="0" dirty="0">
                <a:solidFill>
                  <a:srgbClr val="C00000"/>
                </a:solidFill>
                <a:sym typeface="+mn-ea"/>
              </a:rPr>
              <a:t>情况</a:t>
            </a:r>
            <a:r>
              <a:rPr kumimoji="1"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kumimoji="1"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 defTabSz="681990">
              <a:lnSpc>
                <a:spcPct val="100000"/>
              </a:lnSpc>
              <a:buClrTx/>
              <a:buSzTx/>
              <a:buFontTx/>
              <a:defRPr/>
            </a:pPr>
            <a:endParaRPr kumimoji="1"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8203" y="164465"/>
            <a:ext cx="9163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 3</a:t>
            </a:r>
            <a:endParaRPr lang="en-US" altLang="zh-CN" sz="4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294618" y="89852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206375" y="1239520"/>
            <a:ext cx="11255375" cy="1432560"/>
          </a:xfrm>
          <a:prstGeom prst="rect">
            <a:avLst/>
          </a:prstGeom>
          <a:noFill/>
          <a:ln w="12700" cmpd="sng">
            <a:solidFill>
              <a:schemeClr val="bg1">
                <a:lumMod val="85000"/>
              </a:schemeClr>
            </a:solidFill>
            <a:prstDash val="solid"/>
          </a:ln>
        </p:spPr>
        <p:txBody>
          <a:bodyPr wrap="square" rtlCol="0">
            <a:noAutofit/>
          </a:bodyPr>
          <a:p>
            <a:pPr marL="285750" indent="-285750" fontAlgn="auto">
              <a:lnSpc>
                <a:spcPts val="2900"/>
              </a:lnSpc>
              <a:buClr>
                <a:srgbClr val="C00000"/>
              </a:buClr>
              <a:buFont typeface="Wingdings" panose="05000000000000000000" charset="0"/>
              <a:buChar char="n"/>
            </a:pP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原始得分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*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党建系数得分情况：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市公司运营中心，换算前数字化与稽核中心得分最高为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95.18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分，校园客户营销中心得分最低为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72.61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分。换算后最高得分数字化与稽核中心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96.1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，最低得分校园客户营销中心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71.9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。政要客户营销中心、企业客户营销中心、综合服务支撑中心、交付中心排名有变化。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2347912" y="3345180"/>
          <a:ext cx="6278880" cy="233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4725"/>
                <a:gridCol w="1555750"/>
                <a:gridCol w="609600"/>
                <a:gridCol w="609600"/>
                <a:gridCol w="609600"/>
                <a:gridCol w="700088"/>
                <a:gridCol w="609600"/>
              </a:tblGrid>
              <a:tr h="8128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类型</a:t>
                      </a:r>
                      <a:endParaRPr lang="en-US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支部名称</a:t>
                      </a:r>
                      <a:endParaRPr lang="en-US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原始得分</a:t>
                      </a:r>
                      <a:endParaRPr lang="en-US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排名</a:t>
                      </a:r>
                      <a:endParaRPr lang="en-US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党建系数</a:t>
                      </a:r>
                      <a:endParaRPr lang="en-US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原始得分*党建系数得分</a:t>
                      </a:r>
                      <a:endParaRPr lang="zh-CN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 algn="ctr">
                        <a:buNone/>
                      </a:pPr>
                      <a:endParaRPr lang="en-US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系数后排名</a:t>
                      </a:r>
                      <a:endParaRPr lang="en-US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</a:tr>
              <a:tr h="190500">
                <a:tc rowSpan="8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市公司运营中心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政要客户营销中心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75.89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0.98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74.37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5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企业客户营销中心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75.68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7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75.68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5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校园客户营销中心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72.61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0.99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71.88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5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创新支撑中心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93.9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0.99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92.96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5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综合服务支撑中心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91.93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1.01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92.84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5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数字化与稽核中心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95.18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1.01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96.13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5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网络运营中心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88.45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1.02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90.21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5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交付中心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92.48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92.48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/>
          <p:nvPr/>
        </p:nvSpPr>
        <p:spPr bwMode="auto">
          <a:xfrm>
            <a:off x="1524883" y="164253"/>
            <a:ext cx="8254153" cy="575733"/>
          </a:xfrm>
          <a:prstGeom prst="rect">
            <a:avLst/>
          </a:prstGeom>
          <a:noFill/>
          <a:ln>
            <a:noFill/>
          </a:ln>
        </p:spPr>
        <p:txBody>
          <a:bodyPr lIns="95488" tIns="47684" rIns="95488" bIns="47684" anchor="ctr"/>
          <a:lstStyle/>
          <a:p>
            <a:pPr defTabSz="681990">
              <a:defRPr/>
            </a:pPr>
            <a:endParaRPr lang="zh-CN" altLang="en-US" sz="3200" dirty="0" smtClean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标题 1"/>
          <p:cNvSpPr/>
          <p:nvPr/>
        </p:nvSpPr>
        <p:spPr bwMode="auto">
          <a:xfrm>
            <a:off x="1346835" y="307975"/>
            <a:ext cx="9060815" cy="497840"/>
          </a:xfrm>
          <a:prstGeom prst="rect">
            <a:avLst/>
          </a:prstGeom>
          <a:noFill/>
          <a:ln>
            <a:noFill/>
          </a:ln>
        </p:spPr>
        <p:txBody>
          <a:bodyPr lIns="71616" tIns="35763" rIns="71616" bIns="35763" anchor="ctr"/>
          <a:p>
            <a:pPr algn="l" defTabSz="681990">
              <a:lnSpc>
                <a:spcPct val="100000"/>
              </a:lnSpc>
              <a:buClrTx/>
              <a:buSzTx/>
              <a:buFontTx/>
              <a:defRPr/>
            </a:pPr>
            <a:r>
              <a:rPr lang="zh-CN"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年度考核结果</a:t>
            </a:r>
            <a:r>
              <a:rPr lang="zh-CN"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2400" kern="0" dirty="0">
                <a:solidFill>
                  <a:srgbClr val="C00000"/>
                </a:solidFill>
                <a:sym typeface="+mn-ea"/>
              </a:rPr>
              <a:t> </a:t>
            </a:r>
            <a:r>
              <a:rPr lang="zh-CN" altLang="en-US" sz="2400" kern="0" dirty="0">
                <a:solidFill>
                  <a:srgbClr val="C00000"/>
                </a:solidFill>
                <a:sym typeface="+mn-ea"/>
              </a:rPr>
              <a:t>支撑部门</a:t>
            </a:r>
            <a:r>
              <a:rPr lang="en-US" altLang="zh-CN" sz="2400" kern="0" dirty="0">
                <a:solidFill>
                  <a:srgbClr val="C00000"/>
                </a:solidFill>
                <a:sym typeface="+mn-ea"/>
              </a:rPr>
              <a:t>KPI</a:t>
            </a:r>
            <a:r>
              <a:rPr lang="zh-CN" altLang="en-US" sz="2400" kern="0" dirty="0">
                <a:solidFill>
                  <a:srgbClr val="C00000"/>
                </a:solidFill>
                <a:sym typeface="+mn-ea"/>
              </a:rPr>
              <a:t>年度结果</a:t>
            </a:r>
            <a:r>
              <a:rPr lang="en-US" altLang="zh-CN" sz="2400" kern="0" dirty="0">
                <a:solidFill>
                  <a:srgbClr val="C00000"/>
                </a:solidFill>
                <a:sym typeface="+mn-ea"/>
              </a:rPr>
              <a:t>*</a:t>
            </a:r>
            <a:r>
              <a:rPr lang="zh-CN" altLang="en-US" sz="2400" kern="0" dirty="0">
                <a:solidFill>
                  <a:srgbClr val="C00000"/>
                </a:solidFill>
                <a:sym typeface="+mn-ea"/>
              </a:rPr>
              <a:t>党建系数</a:t>
            </a:r>
            <a:r>
              <a:rPr lang="zh-CN" sz="2400" kern="0" dirty="0">
                <a:solidFill>
                  <a:srgbClr val="C00000"/>
                </a:solidFill>
                <a:sym typeface="+mn-ea"/>
              </a:rPr>
              <a:t>情况</a:t>
            </a:r>
            <a:r>
              <a:rPr kumimoji="1"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kumimoji="1"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8203" y="164465"/>
            <a:ext cx="9163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 3</a:t>
            </a:r>
            <a:endParaRPr lang="en-US" altLang="zh-CN" sz="4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294618" y="89852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206375" y="1239520"/>
            <a:ext cx="11255375" cy="1432560"/>
          </a:xfrm>
          <a:prstGeom prst="rect">
            <a:avLst/>
          </a:prstGeom>
          <a:noFill/>
          <a:ln w="12700" cmpd="sng">
            <a:solidFill>
              <a:schemeClr val="bg1">
                <a:lumMod val="85000"/>
              </a:schemeClr>
            </a:solidFill>
            <a:prstDash val="solid"/>
          </a:ln>
        </p:spPr>
        <p:txBody>
          <a:bodyPr wrap="square" rtlCol="0">
            <a:noAutofit/>
          </a:bodyPr>
          <a:p>
            <a:pPr marL="285750" indent="-285750" fontAlgn="auto">
              <a:lnSpc>
                <a:spcPts val="2900"/>
              </a:lnSpc>
              <a:buClr>
                <a:srgbClr val="C00000"/>
              </a:buClr>
              <a:buFont typeface="Wingdings" panose="05000000000000000000" charset="0"/>
              <a:buChar char="n"/>
            </a:pP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原始得分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*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党建系数得分情况：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支撑部门，换算前政企客户事业部得分最高为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94.58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分，市场部得分最低为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89.01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分。换算后最高得分政企客户事业部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95.5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，最低得分市场部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89.9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。整体排名保持不变。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2912428" y="3359785"/>
          <a:ext cx="5478145" cy="1765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/>
                <a:gridCol w="1119188"/>
                <a:gridCol w="609600"/>
                <a:gridCol w="609600"/>
                <a:gridCol w="609600"/>
                <a:gridCol w="701675"/>
                <a:gridCol w="609600"/>
              </a:tblGrid>
              <a:tr h="8128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类型</a:t>
                      </a:r>
                      <a:endParaRPr lang="en-US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支部名称</a:t>
                      </a:r>
                      <a:endParaRPr lang="en-US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原始得分</a:t>
                      </a:r>
                      <a:endParaRPr lang="en-US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排名</a:t>
                      </a:r>
                      <a:endParaRPr lang="en-US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党建系数</a:t>
                      </a:r>
                      <a:endParaRPr lang="en-US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原始得分*党建系数得分</a:t>
                      </a:r>
                      <a:endParaRPr lang="zh-CN" sz="1100" b="1">
                        <a:solidFill>
                          <a:srgbClr val="FFFFFF"/>
                        </a:solidFill>
                        <a:latin typeface="Arial" panose="020B0604020202020204" pitchFamily="34" charset="0"/>
                        <a:ea typeface="微软雅黑" panose="020B0503020204020204" charset="-122"/>
                      </a:endParaRPr>
                    </a:p>
                    <a:p>
                      <a:pPr indent="0" algn="ctr">
                        <a:buNone/>
                      </a:pPr>
                      <a:endParaRPr lang="en-US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系数后排名</a:t>
                      </a:r>
                      <a:endParaRPr lang="en-US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</a:tr>
              <a:tr h="190500">
                <a:tc rowSpan="5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支撑部门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市场部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89.01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1.01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89.90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5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政企客户事业部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94.58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1.01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95.52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5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客户服务部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92.9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92.9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5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网络部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90.3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90.3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5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财务部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93.71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1.01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94.64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/>
          <p:nvPr/>
        </p:nvSpPr>
        <p:spPr bwMode="auto">
          <a:xfrm>
            <a:off x="1524883" y="164253"/>
            <a:ext cx="8254153" cy="575733"/>
          </a:xfrm>
          <a:prstGeom prst="rect">
            <a:avLst/>
          </a:prstGeom>
          <a:noFill/>
          <a:ln>
            <a:noFill/>
          </a:ln>
        </p:spPr>
        <p:txBody>
          <a:bodyPr lIns="95488" tIns="47684" rIns="95488" bIns="47684" anchor="ctr"/>
          <a:lstStyle/>
          <a:p>
            <a:pPr defTabSz="681990">
              <a:defRPr/>
            </a:pPr>
            <a:endParaRPr lang="zh-CN" altLang="en-US" sz="3200" dirty="0" smtClean="0">
              <a:solidFill>
                <a:schemeClr val="bg2">
                  <a:lumMod val="1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标题 1"/>
          <p:cNvSpPr/>
          <p:nvPr/>
        </p:nvSpPr>
        <p:spPr bwMode="auto">
          <a:xfrm>
            <a:off x="1346835" y="307975"/>
            <a:ext cx="8371840" cy="497840"/>
          </a:xfrm>
          <a:prstGeom prst="rect">
            <a:avLst/>
          </a:prstGeom>
          <a:noFill/>
          <a:ln>
            <a:noFill/>
          </a:ln>
        </p:spPr>
        <p:txBody>
          <a:bodyPr lIns="71616" tIns="35763" rIns="71616" bIns="35763" anchor="ctr"/>
          <a:p>
            <a:pPr algn="l" defTabSz="681990">
              <a:lnSpc>
                <a:spcPct val="100000"/>
              </a:lnSpc>
              <a:buClrTx/>
              <a:buSzTx/>
              <a:buFontTx/>
              <a:defRPr/>
            </a:pPr>
            <a:r>
              <a:rPr lang="zh-CN"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年度考核结果</a:t>
            </a:r>
            <a:r>
              <a:rPr lang="zh-CN" sz="24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</a:t>
            </a:r>
            <a:r>
              <a:rPr lang="en-US" altLang="zh-CN" sz="2400" kern="0" dirty="0">
                <a:solidFill>
                  <a:srgbClr val="C00000"/>
                </a:solidFill>
                <a:sym typeface="+mn-ea"/>
              </a:rPr>
              <a:t> </a:t>
            </a:r>
            <a:r>
              <a:rPr lang="zh-CN" altLang="en-US" sz="2400" kern="0" dirty="0">
                <a:solidFill>
                  <a:srgbClr val="C00000"/>
                </a:solidFill>
                <a:sym typeface="+mn-ea"/>
              </a:rPr>
              <a:t>职能部门</a:t>
            </a:r>
            <a:r>
              <a:rPr lang="en-US" altLang="zh-CN" sz="2400" kern="0" dirty="0">
                <a:solidFill>
                  <a:srgbClr val="C00000"/>
                </a:solidFill>
                <a:sym typeface="+mn-ea"/>
              </a:rPr>
              <a:t>KPI</a:t>
            </a:r>
            <a:r>
              <a:rPr lang="zh-CN" altLang="en-US" sz="2400" kern="0" dirty="0">
                <a:solidFill>
                  <a:srgbClr val="C00000"/>
                </a:solidFill>
                <a:sym typeface="+mn-ea"/>
              </a:rPr>
              <a:t>年度结果</a:t>
            </a:r>
            <a:r>
              <a:rPr lang="en-US" altLang="zh-CN" sz="2400" kern="0" dirty="0">
                <a:solidFill>
                  <a:srgbClr val="C00000"/>
                </a:solidFill>
                <a:sym typeface="+mn-ea"/>
              </a:rPr>
              <a:t>*</a:t>
            </a:r>
            <a:r>
              <a:rPr lang="zh-CN" altLang="en-US" sz="2400" kern="0" dirty="0">
                <a:solidFill>
                  <a:srgbClr val="C00000"/>
                </a:solidFill>
                <a:sym typeface="+mn-ea"/>
              </a:rPr>
              <a:t>党建系数</a:t>
            </a:r>
            <a:r>
              <a:rPr lang="zh-CN" sz="2400" kern="0" dirty="0">
                <a:solidFill>
                  <a:srgbClr val="C00000"/>
                </a:solidFill>
                <a:sym typeface="+mn-ea"/>
              </a:rPr>
              <a:t>情况</a:t>
            </a:r>
            <a:r>
              <a:rPr kumimoji="1"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kumimoji="1"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8203" y="164465"/>
            <a:ext cx="9163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 3</a:t>
            </a:r>
            <a:endParaRPr lang="en-US" altLang="zh-CN" sz="4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294618" y="89852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206375" y="1239520"/>
            <a:ext cx="11255375" cy="1432560"/>
          </a:xfrm>
          <a:prstGeom prst="rect">
            <a:avLst/>
          </a:prstGeom>
          <a:noFill/>
          <a:ln w="12700" cmpd="sng">
            <a:solidFill>
              <a:schemeClr val="bg1">
                <a:lumMod val="85000"/>
              </a:schemeClr>
            </a:solidFill>
            <a:prstDash val="solid"/>
          </a:ln>
        </p:spPr>
        <p:txBody>
          <a:bodyPr wrap="square" rtlCol="0">
            <a:noAutofit/>
          </a:bodyPr>
          <a:p>
            <a:pPr marL="285750" indent="-285750" fontAlgn="auto">
              <a:lnSpc>
                <a:spcPts val="2900"/>
              </a:lnSpc>
              <a:buClr>
                <a:srgbClr val="C00000"/>
              </a:buClr>
              <a:buFont typeface="Wingdings" panose="05000000000000000000" charset="0"/>
              <a:buChar char="n"/>
            </a:pP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原始得分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*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党建系数得分情况：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职能部门，换算前办公室得分最高为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95.35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分，派驻审计组得分最低为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92.04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分。换算后办公室最高得分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96.3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，最低得分派驻审计组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92.96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3173095" y="3575050"/>
          <a:ext cx="5121275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66800"/>
                <a:gridCol w="609600"/>
                <a:gridCol w="609600"/>
                <a:gridCol w="609600"/>
                <a:gridCol w="701675"/>
                <a:gridCol w="609600"/>
              </a:tblGrid>
              <a:tr h="6096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类型</a:t>
                      </a:r>
                      <a:endParaRPr lang="en-US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单位</a:t>
                      </a:r>
                      <a:endParaRPr lang="en-US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原始得分</a:t>
                      </a:r>
                      <a:endParaRPr lang="en-US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排名</a:t>
                      </a:r>
                      <a:endParaRPr lang="en-US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党建系数</a:t>
                      </a:r>
                      <a:endParaRPr lang="en-US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原始得分*党建系数得分</a:t>
                      </a:r>
                      <a:endParaRPr lang="en-US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排名</a:t>
                      </a:r>
                      <a:endParaRPr lang="en-US" altLang="en-US"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0000"/>
                    </a:solidFill>
                  </a:tcPr>
                </a:tc>
              </a:tr>
              <a:tr h="241300">
                <a:tc rowSpan="6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职能部门</a:t>
                      </a:r>
                      <a:endParaRPr lang="en-US" altLang="en-US" sz="1100" b="1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党群工作部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94.74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1.01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95.68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2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59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工会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92.49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1.01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93.41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4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59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派驻审计组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92.04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1.01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92.96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5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59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办公室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95.35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1.01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96.30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59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人力资源部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94.59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1.01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95.53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3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59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200" b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微软雅黑" panose="020B0503020204020204" charset="-122"/>
                        </a:rPr>
                        <a:t>派驻纪检组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0">
                          <a:solidFill>
                            <a:srgbClr val="000000"/>
                          </a:solidFill>
                          <a:latin typeface="微软雅黑" panose="020B0503020204020204" charset="-122"/>
                        </a:rPr>
                        <a:t>93.84</a:t>
                      </a: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1100" b="0">
                        <a:solidFill>
                          <a:srgbClr val="000000"/>
                        </a:solidFill>
                        <a:latin typeface="微软雅黑" panose="020B0503020204020204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1118631" y="2846281"/>
            <a:ext cx="993338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014095" eaLnBrk="0" hangingPunct="0">
              <a:lnSpc>
                <a:spcPct val="150000"/>
              </a:lnSpc>
              <a:defRPr/>
            </a:pPr>
            <a:r>
              <a:rPr lang="zh-CN" altLang="en-US" sz="4800" b="1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谢谢</a:t>
            </a:r>
            <a:endParaRPr lang="en-US" altLang="zh-CN" sz="48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235.47700787401573,&quot;left&quot;:452.41952755905515,&quot;top&quot;:156.67299212598425,&quot;width&quot;:459.75}"/>
</p:tagLst>
</file>

<file path=ppt/tags/tag2.xml><?xml version="1.0" encoding="utf-8"?>
<p:tagLst xmlns:p="http://schemas.openxmlformats.org/presentationml/2006/main">
  <p:tag name="KSO_WM_FULL_TEXT_BEAUTIFY_COPY_ID" val="48"/>
  <p:tag name="KSO_WM_DIAGRAM_VIRTUALLY_FRAME" val="{&quot;height&quot;:235.47700787401573,&quot;left&quot;:452.41952755905515,&quot;top&quot;:156.67299212598425,&quot;width&quot;:459.75}"/>
</p:tagLst>
</file>

<file path=ppt/tags/tag3.xml><?xml version="1.0" encoding="utf-8"?>
<p:tagLst xmlns:p="http://schemas.openxmlformats.org/presentationml/2006/main">
  <p:tag name="KSO_WM_FULL_TEXT_BEAUTIFY_COPY_ID" val="49"/>
  <p:tag name="KSO_WM_DIAGRAM_VIRTUALLY_FRAME" val="{&quot;height&quot;:235.47700787401573,&quot;left&quot;:452.41952755905515,&quot;top&quot;:156.67299212598425,&quot;width&quot;:459.75}"/>
</p:tagLst>
</file>

<file path=ppt/tags/tag4.xml><?xml version="1.0" encoding="utf-8"?>
<p:tagLst xmlns:p="http://schemas.openxmlformats.org/presentationml/2006/main">
  <p:tag name="KSO_WM_DIAGRAM_VIRTUALLY_FRAME" val="{&quot;height&quot;:235.47700787401573,&quot;left&quot;:452.41952755905515,&quot;top&quot;:156.67299212598425,&quot;width&quot;:459.75}"/>
</p:tagLst>
</file>

<file path=ppt/tags/tag5.xml><?xml version="1.0" encoding="utf-8"?>
<p:tagLst xmlns:p="http://schemas.openxmlformats.org/presentationml/2006/main">
  <p:tag name="KSO_WM_FULL_TEXT_BEAUTIFY_COPY_ID" val="51"/>
  <p:tag name="KSO_WM_DIAGRAM_VIRTUALLY_FRAME" val="{&quot;height&quot;:235.47700787401573,&quot;left&quot;:452.41952755905515,&quot;top&quot;:156.67299212598425,&quot;width&quot;:459.75}"/>
</p:tagLst>
</file>

<file path=ppt/tags/tag6.xml><?xml version="1.0" encoding="utf-8"?>
<p:tagLst xmlns:p="http://schemas.openxmlformats.org/presentationml/2006/main">
  <p:tag name="KSO_WM_FULL_TEXT_BEAUTIFY_COPY_ID" val="52"/>
  <p:tag name="KSO_WM_DIAGRAM_VIRTUALLY_FRAME" val="{&quot;height&quot;:235.47700787401573,&quot;left&quot;:452.41952755905515,&quot;top&quot;:156.67299212598425,&quot;width&quot;:459.75}"/>
</p:tagLst>
</file>

<file path=ppt/tags/tag7.xml><?xml version="1.0" encoding="utf-8"?>
<p:tagLst xmlns:p="http://schemas.openxmlformats.org/presentationml/2006/main">
  <p:tag name="KSO_WM_DIAGRAM_VIRTUALLY_FRAME" val="{&quot;height&quot;:235.47700787401573,&quot;left&quot;:452.41952755905515,&quot;top&quot;:156.67299212598425,&quot;width&quot;:459.75}"/>
</p:tagLst>
</file>

<file path=ppt/tags/tag8.xml><?xml version="1.0" encoding="utf-8"?>
<p:tagLst xmlns:p="http://schemas.openxmlformats.org/presentationml/2006/main">
  <p:tag name="KSO_WM_FULL_TEXT_BEAUTIFY_COPY_ID" val="51"/>
  <p:tag name="KSO_WM_DIAGRAM_VIRTUALLY_FRAME" val="{&quot;height&quot;:235.47700787401573,&quot;left&quot;:452.41952755905515,&quot;top&quot;:156.67299212598425,&quot;width&quot;:459.75}"/>
</p:tagLst>
</file>

<file path=ppt/tags/tag9.xml><?xml version="1.0" encoding="utf-8"?>
<p:tagLst xmlns:p="http://schemas.openxmlformats.org/presentationml/2006/main">
  <p:tag name="KSO_WM_FULL_TEXT_BEAUTIFY_COPY_ID" val="52"/>
  <p:tag name="KSO_WM_DIAGRAM_VIRTUALLY_FRAME" val="{&quot;height&quot;:235.47700787401573,&quot;left&quot;:452.41952755905515,&quot;top&quot;:156.67299212598425,&quot;width&quot;:459.75}"/>
</p:tagLst>
</file>

<file path=ppt/tags/tag10.xml><?xml version="1.0" encoding="utf-8"?>
<p:tagLst xmlns:p="http://schemas.openxmlformats.org/presentationml/2006/main">
  <p:tag name="KSO_WM_DIAGRAM_VIRTUALLY_FRAME" val="{&quot;height&quot;:250.3,&quot;left&quot;:452.41952755905515,&quot;top&quot;:151.6,&quot;width&quot;:459.75}"/>
</p:tagLst>
</file>

<file path=ppt/tags/tag11.xml><?xml version="1.0" encoding="utf-8"?>
<p:tagLst xmlns:p="http://schemas.openxmlformats.org/presentationml/2006/main">
  <p:tag name="KSO_WM_FULL_TEXT_BEAUTIFY_COPY_ID" val="48"/>
  <p:tag name="KSO_WM_DIAGRAM_VIRTUALLY_FRAME" val="{&quot;height&quot;:250.3,&quot;left&quot;:452.41952755905515,&quot;top&quot;:151.6,&quot;width&quot;:459.75}"/>
</p:tagLst>
</file>

<file path=ppt/tags/tag12.xml><?xml version="1.0" encoding="utf-8"?>
<p:tagLst xmlns:p="http://schemas.openxmlformats.org/presentationml/2006/main">
  <p:tag name="KSO_WM_FULL_TEXT_BEAUTIFY_COPY_ID" val="49"/>
  <p:tag name="KSO_WM_DIAGRAM_VIRTUALLY_FRAME" val="{&quot;height&quot;:250.3,&quot;left&quot;:452.41952755905515,&quot;top&quot;:151.6,&quot;width&quot;:459.75}"/>
</p:tagLst>
</file>

<file path=ppt/tags/tag13.xml><?xml version="1.0" encoding="utf-8"?>
<p:tagLst xmlns:p="http://schemas.openxmlformats.org/presentationml/2006/main">
  <p:tag name="KSO_WM_DIAGRAM_VIRTUALLY_FRAME" val="{&quot;height&quot;:250.3,&quot;left&quot;:452.41952755905515,&quot;top&quot;:151.6,&quot;width&quot;:459.75}"/>
</p:tagLst>
</file>

<file path=ppt/tags/tag14.xml><?xml version="1.0" encoding="utf-8"?>
<p:tagLst xmlns:p="http://schemas.openxmlformats.org/presentationml/2006/main">
  <p:tag name="KSO_WM_FULL_TEXT_BEAUTIFY_COPY_ID" val="51"/>
  <p:tag name="KSO_WM_DIAGRAM_VIRTUALLY_FRAME" val="{&quot;height&quot;:250.3,&quot;left&quot;:452.41952755905515,&quot;top&quot;:151.6,&quot;width&quot;:459.75}"/>
</p:tagLst>
</file>

<file path=ppt/tags/tag15.xml><?xml version="1.0" encoding="utf-8"?>
<p:tagLst xmlns:p="http://schemas.openxmlformats.org/presentationml/2006/main">
  <p:tag name="KSO_WM_FULL_TEXT_BEAUTIFY_COPY_ID" val="52"/>
  <p:tag name="KSO_WM_DIAGRAM_VIRTUALLY_FRAME" val="{&quot;height&quot;:250.3,&quot;left&quot;:452.41952755905515,&quot;top&quot;:151.6,&quot;width&quot;:459.75}"/>
</p:tagLst>
</file>

<file path=ppt/tags/tag16.xml><?xml version="1.0" encoding="utf-8"?>
<p:tagLst xmlns:p="http://schemas.openxmlformats.org/presentationml/2006/main">
  <p:tag name="KSO_WM_DIAGRAM_VIRTUALLY_FRAME" val="{&quot;height&quot;:250.3,&quot;left&quot;:452.41952755905515,&quot;top&quot;:151.6,&quot;width&quot;:459.75}"/>
</p:tagLst>
</file>

<file path=ppt/tags/tag17.xml><?xml version="1.0" encoding="utf-8"?>
<p:tagLst xmlns:p="http://schemas.openxmlformats.org/presentationml/2006/main">
  <p:tag name="KSO_WM_FULL_TEXT_BEAUTIFY_COPY_ID" val="51"/>
  <p:tag name="KSO_WM_DIAGRAM_VIRTUALLY_FRAME" val="{&quot;height&quot;:250.3,&quot;left&quot;:452.41952755905515,&quot;top&quot;:151.6,&quot;width&quot;:459.75}"/>
</p:tagLst>
</file>

<file path=ppt/tags/tag18.xml><?xml version="1.0" encoding="utf-8"?>
<p:tagLst xmlns:p="http://schemas.openxmlformats.org/presentationml/2006/main">
  <p:tag name="KSO_WM_FULL_TEXT_BEAUTIFY_COPY_ID" val="52"/>
  <p:tag name="KSO_WM_DIAGRAM_VIRTUALLY_FRAME" val="{&quot;height&quot;:250.3,&quot;left&quot;:452.41952755905515,&quot;top&quot;:151.6,&quot;width&quot;:459.75}"/>
</p:tagLst>
</file>

<file path=ppt/tags/tag19.xml><?xml version="1.0" encoding="utf-8"?>
<p:tagLst xmlns:p="http://schemas.openxmlformats.org/presentationml/2006/main">
  <p:tag name="KSO_WM_DIAGRAM_VIRTUALLY_FRAME" val="{&quot;height&quot;:108.85,&quot;left&quot;:335.11952755905514,&quot;top&quot;:388.45,&quot;width&quot;:500.95}"/>
</p:tagLst>
</file>

<file path=ppt/tags/tag20.xml><?xml version="1.0" encoding="utf-8"?>
<p:tagLst xmlns:p="http://schemas.openxmlformats.org/presentationml/2006/main">
  <p:tag name="KSO_WM_DIAGRAM_VIRTUALLY_FRAME" val="{&quot;height&quot;:108.85,&quot;left&quot;:335.11952755905514,&quot;top&quot;:388.45,&quot;width&quot;:500.95}"/>
</p:tagLst>
</file>

<file path=ppt/tags/tag21.xml><?xml version="1.0" encoding="utf-8"?>
<p:tagLst xmlns:p="http://schemas.openxmlformats.org/presentationml/2006/main">
  <p:tag name="KSO_WM_DIAGRAM_VIRTUALLY_FRAME" val="{&quot;height&quot;:108.85,&quot;left&quot;:335.11952755905514,&quot;top&quot;:388.45,&quot;width&quot;:500.95}"/>
</p:tagLst>
</file>

<file path=ppt/tags/tag22.xml><?xml version="1.0" encoding="utf-8"?>
<p:tagLst xmlns:p="http://schemas.openxmlformats.org/presentationml/2006/main">
  <p:tag name="KSO_WM_DIAGRAM_VIRTUALLY_FRAME" val="{&quot;height&quot;:108.85,&quot;left&quot;:335.11952755905514,&quot;top&quot;:388.45,&quot;width&quot;:500.95}"/>
</p:tagLst>
</file>

<file path=ppt/tags/tag23.xml><?xml version="1.0" encoding="utf-8"?>
<p:tagLst xmlns:p="http://schemas.openxmlformats.org/presentationml/2006/main">
  <p:tag name="KSO_WM_DIAGRAM_VIRTUALLY_FRAME" val="{&quot;height&quot;:108.85,&quot;left&quot;:335.11952755905514,&quot;top&quot;:388.45,&quot;width&quot;:500.95}"/>
</p:tagLst>
</file>

<file path=ppt/tags/tag24.xml><?xml version="1.0" encoding="utf-8"?>
<p:tagLst xmlns:p="http://schemas.openxmlformats.org/presentationml/2006/main">
  <p:tag name="KSO_WM_DIAGRAM_VIRTUALLY_FRAME" val="{&quot;height&quot;:108.85,&quot;left&quot;:335.11952755905514,&quot;top&quot;:388.45,&quot;width&quot;:500.95}"/>
</p:tagLst>
</file>

<file path=ppt/tags/tag25.xml><?xml version="1.0" encoding="utf-8"?>
<p:tagLst xmlns:p="http://schemas.openxmlformats.org/presentationml/2006/main">
  <p:tag name="KSO_WM_DIAGRAM_VIRTUALLY_FRAME" val="{&quot;height&quot;:108.85,&quot;left&quot;:335.11952755905514,&quot;top&quot;:388.45,&quot;width&quot;:500.95}"/>
</p:tagLst>
</file>

<file path=ppt/tags/tag26.xml><?xml version="1.0" encoding="utf-8"?>
<p:tagLst xmlns:p="http://schemas.openxmlformats.org/presentationml/2006/main">
  <p:tag name="KSO_WM_DIAGRAM_VIRTUALLY_FRAME" val="{&quot;height&quot;:108.85,&quot;left&quot;:335.11952755905514,&quot;top&quot;:388.45,&quot;width&quot;:500.95}"/>
</p:tagLst>
</file>

<file path=ppt/tags/tag27.xml><?xml version="1.0" encoding="utf-8"?>
<p:tagLst xmlns:p="http://schemas.openxmlformats.org/presentationml/2006/main">
  <p:tag name="KSO_WM_DIAGRAM_VIRTUALLY_FRAME" val="{&quot;height&quot;:108.85,&quot;left&quot;:335.11952755905514,&quot;top&quot;:388.45,&quot;width&quot;:500.95}"/>
</p:tagLst>
</file>

<file path=ppt/tags/tag28.xml><?xml version="1.0" encoding="utf-8"?>
<p:tagLst xmlns:p="http://schemas.openxmlformats.org/presentationml/2006/main">
  <p:tag name="TABLE_ENDDRAG_ORIGIN_RECT" val="445*345"/>
  <p:tag name="TABLE_ENDDRAG_RECT" val="506*165*445*345"/>
</p:tagLst>
</file>

<file path=ppt/tags/tag29.xml><?xml version="1.0" encoding="utf-8"?>
<p:tagLst xmlns:p="http://schemas.openxmlformats.org/presentationml/2006/main">
  <p:tag name="TABLE_ENDDRAG_ORIGIN_RECT" val="548*353"/>
  <p:tag name="TABLE_ENDDRAG_RECT" val="120*143*549*353"/>
</p:tagLst>
</file>

<file path=ppt/tags/tag30.xml><?xml version="1.0" encoding="utf-8"?>
<p:tagLst xmlns:p="http://schemas.openxmlformats.org/presentationml/2006/main">
  <p:tag name="KSO_WM_DIAGRAM_VIRTUALLY_FRAME" val="{&quot;height&quot;:280.4729921259842,&quot;left&quot;:452.9190551181102,&quot;top&quot;:123.1,&quot;width&quot;:459.2504724409449}"/>
</p:tagLst>
</file>

<file path=ppt/tags/tag31.xml><?xml version="1.0" encoding="utf-8"?>
<p:tagLst xmlns:p="http://schemas.openxmlformats.org/presentationml/2006/main">
  <p:tag name="KSO_WM_FULL_TEXT_BEAUTIFY_COPY_ID" val="51"/>
  <p:tag name="KSO_WM_DIAGRAM_VIRTUALLY_FRAME" val="{&quot;height&quot;:280.4729921259842,&quot;left&quot;:452.9190551181102,&quot;top&quot;:123.1,&quot;width&quot;:459.2504724409449}"/>
</p:tagLst>
</file>

<file path=ppt/tags/tag32.xml><?xml version="1.0" encoding="utf-8"?>
<p:tagLst xmlns:p="http://schemas.openxmlformats.org/presentationml/2006/main">
  <p:tag name="KSO_WM_FULL_TEXT_BEAUTIFY_COPY_ID" val="52"/>
  <p:tag name="KSO_WM_DIAGRAM_VIRTUALLY_FRAME" val="{&quot;height&quot;:280.4729921259842,&quot;left&quot;:452.9190551181102,&quot;top&quot;:123.1,&quot;width&quot;:459.2504724409449}"/>
</p:tagLst>
</file>

<file path=ppt/tags/tag33.xml><?xml version="1.0" encoding="utf-8"?>
<p:tagLst xmlns:p="http://schemas.openxmlformats.org/presentationml/2006/main">
  <p:tag name="KSO_WM_DIAGRAM_VIRTUALLY_FRAME" val="{&quot;height&quot;:280.4729921259842,&quot;left&quot;:452.9190551181102,&quot;top&quot;:123.1,&quot;width&quot;:459.2504724409449}"/>
</p:tagLst>
</file>

<file path=ppt/tags/tag34.xml><?xml version="1.0" encoding="utf-8"?>
<p:tagLst xmlns:p="http://schemas.openxmlformats.org/presentationml/2006/main">
  <p:tag name="KSO_WM_FULL_TEXT_BEAUTIFY_COPY_ID" val="51"/>
  <p:tag name="KSO_WM_DIAGRAM_VIRTUALLY_FRAME" val="{&quot;height&quot;:280.4729921259842,&quot;left&quot;:452.9190551181102,&quot;top&quot;:123.1,&quot;width&quot;:459.2504724409449}"/>
</p:tagLst>
</file>

<file path=ppt/tags/tag35.xml><?xml version="1.0" encoding="utf-8"?>
<p:tagLst xmlns:p="http://schemas.openxmlformats.org/presentationml/2006/main">
  <p:tag name="KSO_WM_FULL_TEXT_BEAUTIFY_COPY_ID" val="52"/>
  <p:tag name="KSO_WM_DIAGRAM_VIRTUALLY_FRAME" val="{&quot;height&quot;:280.4729921259842,&quot;left&quot;:452.9190551181102,&quot;top&quot;:123.1,&quot;width&quot;:459.2504724409449}"/>
</p:tagLst>
</file>

<file path=ppt/tags/tag36.xml><?xml version="1.0" encoding="utf-8"?>
<p:tagLst xmlns:p="http://schemas.openxmlformats.org/presentationml/2006/main">
  <p:tag name="KSO_WM_DIAGRAM_VIRTUALLY_FRAME" val="{&quot;height&quot;:280.4729921259842,&quot;left&quot;:452.9190551181102,&quot;top&quot;:123.1,&quot;width&quot;:459.2504724409449}"/>
</p:tagLst>
</file>

<file path=ppt/tags/tag37.xml><?xml version="1.0" encoding="utf-8"?>
<p:tagLst xmlns:p="http://schemas.openxmlformats.org/presentationml/2006/main">
  <p:tag name="KSO_WM_FULL_TEXT_BEAUTIFY_COPY_ID" val="48"/>
  <p:tag name="KSO_WM_DIAGRAM_VIRTUALLY_FRAME" val="{&quot;height&quot;:280.4729921259842,&quot;left&quot;:452.9190551181102,&quot;top&quot;:123.1,&quot;width&quot;:459.2504724409449}"/>
</p:tagLst>
</file>

<file path=ppt/tags/tag38.xml><?xml version="1.0" encoding="utf-8"?>
<p:tagLst xmlns:p="http://schemas.openxmlformats.org/presentationml/2006/main">
  <p:tag name="KSO_WM_FULL_TEXT_BEAUTIFY_COPY_ID" val="49"/>
  <p:tag name="KSO_WM_DIAGRAM_VIRTUALLY_FRAME" val="{&quot;height&quot;:280.4729921259842,&quot;left&quot;:452.9190551181102,&quot;top&quot;:123.1,&quot;width&quot;:459.2504724409449}"/>
</p:tagLst>
</file>

<file path=ppt/tags/tag39.xml><?xml version="1.0" encoding="utf-8"?>
<p:tagLst xmlns:p="http://schemas.openxmlformats.org/presentationml/2006/main">
  <p:tag name="TABLE_ENDDRAG_ORIGIN_RECT" val="449*266"/>
  <p:tag name="TABLE_ENDDRAG_RECT" val="32*185*449*266"/>
</p:tagLst>
</file>

<file path=ppt/tags/tag40.xml><?xml version="1.0" encoding="utf-8"?>
<p:tagLst xmlns:p="http://schemas.openxmlformats.org/presentationml/2006/main">
  <p:tag name="KSO_WPP_MARK_KEY" val="30ab1867-3c9d-47af-acb5-67301b79eaa6"/>
  <p:tag name="COMMONDATA" val="eyJoZGlkIjoiMWVjNmQxMjEzOTE2ZTJiMzNkNTZlYTE5Mjk4ZTM0ODMifQ=="/>
  <p:tag name="commondata" val="eyJoZGlkIjoiMzE3Y2M3ZjRjMGMzYTRmM2FjMTU4MDc5M2U2YWFlYTAifQ==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8639</Words>
  <Application>WPS 演示</Application>
  <PresentationFormat>宽屏</PresentationFormat>
  <Paragraphs>3596</Paragraphs>
  <Slides>20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43" baseType="lpstr">
      <vt:lpstr>Arial</vt:lpstr>
      <vt:lpstr>宋体</vt:lpstr>
      <vt:lpstr>Wingdings</vt:lpstr>
      <vt:lpstr>Calibri</vt:lpstr>
      <vt:lpstr>微软雅黑</vt:lpstr>
      <vt:lpstr>Helvetica</vt:lpstr>
      <vt:lpstr>HYDaHeiJ</vt:lpstr>
      <vt:lpstr>汉仪大黑简</vt:lpstr>
      <vt:lpstr>黑体</vt:lpstr>
      <vt:lpstr>华文中宋</vt:lpstr>
      <vt:lpstr>Times New Roman</vt:lpstr>
      <vt:lpstr>楷体_GB2312</vt:lpstr>
      <vt:lpstr>新宋体</vt:lpstr>
      <vt:lpstr>Tahoma</vt:lpstr>
      <vt:lpstr>inpin heiti</vt:lpstr>
      <vt:lpstr>Wingdings</vt:lpstr>
      <vt:lpstr>Calibri</vt:lpstr>
      <vt:lpstr>Arial Unicode MS</vt:lpstr>
      <vt:lpstr>Calibri Light</vt:lpstr>
      <vt:lpstr>等线</vt:lpstr>
      <vt:lpstr>1_Office Theme</vt:lpstr>
      <vt:lpstr>Excel.Sheet.12</vt:lpstr>
      <vt:lpstr>Package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河南省分公司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张静</dc:creator>
  <cp:lastModifiedBy>祝文娟</cp:lastModifiedBy>
  <cp:revision>134</cp:revision>
  <dcterms:created xsi:type="dcterms:W3CDTF">2019-09-19T02:01:00Z</dcterms:created>
  <dcterms:modified xsi:type="dcterms:W3CDTF">2026-02-10T01:52:25Z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2052-11.8.2.12085</vt:lpwstr>
  </property>
  <property fmtid="{D5CDD505-2E9C-101B-9397-08002B2CF9AE}" pid="3" name="ICV">
    <vt:lpwstr>9AEAEE8E05014A9BAB267E3971D7A7FD</vt:lpwstr>
  </property>
</Properties>
</file>