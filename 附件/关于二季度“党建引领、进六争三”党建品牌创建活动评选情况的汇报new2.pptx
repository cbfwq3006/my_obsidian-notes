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x" ContentType="application/vnd.openxmlformats-officedocument.spreadsheetml.sheet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"/>
  </p:notesMasterIdLst>
  <p:handoutMasterIdLst>
    <p:handoutMasterId r:id="rId13"/>
  </p:handoutMasterIdLst>
  <p:sldIdLst>
    <p:sldId id="11096347" r:id="rId3"/>
    <p:sldId id="11096931" r:id="rId4"/>
    <p:sldId id="11096925" r:id="rId6"/>
    <p:sldId id="11096924" r:id="rId7"/>
    <p:sldId id="11096926" r:id="rId8"/>
    <p:sldId id="11096932" r:id="rId9"/>
    <p:sldId id="11096927" r:id="rId10"/>
    <p:sldId id="11096928" r:id="rId11"/>
    <p:sldId id="11096904" r:id="rId12"/>
  </p:sldIdLst>
  <p:sldSz cx="12192000" cy="6858000"/>
  <p:notesSz cx="6858000" cy="9144000"/>
  <p:custDataLst>
    <p:tags r:id="rId18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4" userDrawn="1">
          <p15:clr>
            <a:srgbClr val="A4A3A4"/>
          </p15:clr>
        </p15:guide>
        <p15:guide id="2" pos="34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健君" initials="" lastIdx="2" clrIdx="0"/>
  <p:cmAuthor id="1" name="634274005@qq.com" initials="6" lastIdx="1" clrIdx="0"/>
  <p:cmAuthor id="2" name="lenovo" initials="l" lastIdx="1" clrIdx="1"/>
  <p:cmAuthor id="3" name="张向征" initials="牛滢滢" lastIdx="1" clrIdx="2"/>
  <p:cmAuthor id="4" name="王习习" initials="王" lastIdx="2" clrIdx="0"/>
  <p:cmAuthor id="5" name="宋洁然" initials="宋" lastIdx="2" clrIdx="1"/>
  <p:cmAuthor id="191251535" name="沈霄雷" initials="沈" lastIdx="833089" clrIdx="0"/>
  <p:cmAuthor id="6" name="ming qiu" initials="m" lastIdx="17" clrIdx="1"/>
  <p:cmAuthor id="191251536" name="李奇" initials="奇奇" lastIdx="1" clrIdx="23"/>
  <p:cmAuthor id="7" name="1206988966@qq.com" initials="1" lastIdx="1" clrIdx="2"/>
  <p:cmAuthor id="191251537" name="郭 浩" initials="郭" lastIdx="2" clrIdx="25"/>
  <p:cmAuthor id="8" name="姜伟光" initials="姜" lastIdx="1" clrIdx="0"/>
  <p:cmAuthor id="191251538" name="渠沛" initials="渠" lastIdx="1" clrIdx="35"/>
  <p:cmAuthor id="9" name="董 荟" initials="董" lastIdx="1" clrIdx="3"/>
  <p:cmAuthor id="10" name="Admin" initials="A" lastIdx="1" clrIdx="9"/>
  <p:cmAuthor id="11" name="刘 波" initials="刘" lastIdx="0" clrIdx="0"/>
  <p:cmAuthor id="12" name="dd" initials="d" lastIdx="44" clrIdx="11"/>
  <p:cmAuthor id="13" name="Administrator" initials="A" lastIdx="1" clrIdx="12"/>
  <p:cmAuthor id="14" name="刘永国" initials="刘" lastIdx="1" clrIdx="13"/>
  <p:cmAuthor id="15" name="13686" initials="1" lastIdx="1" clrIdx="14"/>
  <p:cmAuthor id="16" name="FAN" initials="F" lastIdx="1" clrIdx="15"/>
  <p:cmAuthor id="17" name="黄黎" initials="黄" lastIdx="1" clrIdx="16"/>
  <p:cmAuthor id="18" name="sx_xuzx" initials="s" lastIdx="26" clrIdx="17"/>
  <p:cmAuthor id="19" name="tplife" initials="t" lastIdx="2" clrIdx="0"/>
  <p:cmAuthor id="20" name="孟 昕" initials="孟" lastIdx="1" clrIdx="18"/>
  <p:cmAuthor id="21" name="楷彦" initials="l" lastIdx="1" clrIdx="20"/>
  <p:cmAuthor id="22" name="wangql56" initials="w" lastIdx="1" clrIdx="21"/>
  <p:cmAuthor id="2000" name="潘永学_zqEffEZJ" initials="authorId_234645887" lastIdx="1115237080" clrIdx="0"/>
  <p:cmAuthor id="23" name="lyf" initials="l" lastIdx="1" clrIdx="22"/>
  <p:cmAuthor id="2001" name="潘 晨" initials="潘" lastIdx="2" clrIdx="18"/>
  <p:cmAuthor id="2002" name="song manyi" initials="sm" lastIdx="4" clrIdx="19"/>
  <p:cmAuthor id="24" name="XiHu木鱼" initials="X" lastIdx="1" clrIdx="23"/>
  <p:cmAuthor id="25" name="朱芳芳" initials="朱" lastIdx="1" clrIdx="24"/>
  <p:cmAuthor id="26" name="王倩" initials="王" lastIdx="1" clrIdx="25"/>
  <p:cmAuthor id="27" name="yl" initials="y" lastIdx="1" clrIdx="26"/>
  <p:cmAuthor id="31" name="Author" initials="A" lastIdx="0" clrIdx="30"/>
  <p:cmAuthor id="75" name="作者" initials="A" lastIdx="0" clrIdx="24"/>
  <p:cmAuthor id="32" name="李楠10047711" initials="李楠10047711" lastIdx="2" clrIdx="31"/>
  <p:cmAuthor id="76" name="go640" initials="g" lastIdx="1" clrIdx="25"/>
  <p:cmAuthor id="77" name="zheng zheng" initials="zz" lastIdx="1" clrIdx="26"/>
  <p:cmAuthor id="78" name="xingwei hou" initials="xh" lastIdx="6" clrIdx="34"/>
  <p:cmAuthor id="35" name="吕娜娜" initials="吕" lastIdx="1" clrIdx="34"/>
  <p:cmAuthor id="39" name="段英英" initials="段" lastIdx="1" clrIdx="38"/>
  <p:cmAuthor id="28" name="IKKI" initials="I" lastIdx="1" clrIdx="0"/>
  <p:cmAuthor id="29" name="於宝泉" initials="於" lastIdx="0" clrIdx="2"/>
  <p:cmAuthor id="33" name="李金夏" initials="李" lastIdx="1" clrIdx="32"/>
  <p:cmAuthor id="34" name="马媛" initials="马" lastIdx="1" clrIdx="33"/>
  <p:cmAuthor id="43" name="liubh" initials="l" lastIdx="1" clrIdx="42"/>
  <p:cmAuthor id="36" name="My" initials="M" lastIdx="1" clrIdx="36"/>
  <p:cmAuthor id="38" name="hami251" initials="h" lastIdx="2" clrIdx="37"/>
  <p:cmAuthor id="41" name="123123" initials="1" lastIdx="2" clrIdx="40"/>
  <p:cmAuthor id="42" name="liu" initials="l" lastIdx="1" clrIdx="41"/>
  <p:cmAuthor id="53" name="牛滢滢" initials="牛" lastIdx="1" clrIdx="52"/>
  <p:cmAuthor id="2003" name="梁鹏" initials="u" lastIdx="1" clrIdx="35"/>
  <p:cmAuthor id="2004" name="范 斌" initials="范" lastIdx="1" clrIdx="36"/>
  <p:cmAuthor id="2005" name="毕邺" initials="党委办公室" lastIdx="2" clrIdx="37"/>
  <p:cmAuthor id="2006" name="jiaru tiger" initials="jt" lastIdx="2" clrIdx="38"/>
  <p:cmAuthor id="30" name="10056791" initials="ZTE" lastIdx="1" clrIdx="29"/>
  <p:cmAuthor id="47" name="雷宇" initials="雷" lastIdx="1" clrIdx="46"/>
  <p:cmAuthor id="691587970" name="小延魔法师" initials="小" lastIdx="1126286" clrIdx="0"/>
  <p:cmAuthor id="1411827" name="黄晓平" initials="黄" lastIdx="0" clrIdx="0"/>
  <p:cmAuthor id="37" name="张燕00036635" initials="张燕00036635" lastIdx="1" clrIdx="37"/>
  <p:cmAuthor id="40" name="10054047" initials="1" lastIdx="1" clrIdx="39"/>
  <p:cmAuthor id="56" name="连艳利" initials="连" lastIdx="1" clrIdx="55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287643681" name="殷格非" initials="殷" lastIdx="2" clrIdx="0"/>
  <p:cmAuthor id="287643682" name="z r" initials="zr" lastIdx="5" clrIdx="12"/>
  <p:cmAuthor id="44" name="10092163" initials="1" lastIdx="2" clrIdx="43"/>
  <p:cmAuthor id="45" name="10157624" initials="1" lastIdx="1" clrIdx="44"/>
  <p:cmAuthor id="46" name="未知的使用者79" initials="" lastIdx="0" clrIdx="1"/>
  <p:cmAuthor id="48" name="未知的使用者80" initials="" lastIdx="0" clrIdx="0"/>
  <p:cmAuthor id="49" name="未知用户51" initials="" lastIdx="1" clrIdx="1"/>
  <p:cmAuthor id="50" name="未知的使用者82" initials="" lastIdx="1" clrIdx="0"/>
  <p:cmAuthor id="52" name="未知的使用者83" initials="" lastIdx="1" clrIdx="0"/>
  <p:cmAuthor id="54" name="未知的使用者84" initials="" lastIdx="1" clrIdx="1"/>
  <p:cmAuthor id="55" name="未知的使用者70" initials="" lastIdx="1" clrIdx="0"/>
  <p:cmAuthor id="57" name="未知的使用者40" initials="" lastIdx="1" clrIdx="0"/>
  <p:cmAuthor id="58" name="未知的使用者87" initials="" lastIdx="1" clrIdx="0"/>
  <p:cmAuthor id="59" name="曾红" initials="" lastIdx="0" clrIdx="0"/>
  <p:cmAuthor id="60" name="未知的使用者90" initials="" lastIdx="8" clrIdx="0"/>
  <p:cmAuthor id="61" name="未知的使用者29" initials="" lastIdx="1" clrIdx="0"/>
  <p:cmAuthor id="62" name="未知的使用者91" initials="" lastIdx="1" clrIdx="0"/>
  <p:cmAuthor id="63" name="未知的使用者98" initials="" lastIdx="1" clrIdx="0"/>
  <p:cmAuthor id="64" name="CHRISYU" initials="" lastIdx="1" clrIdx="0"/>
  <p:cmAuthor id="65" name="未知的使用者113" initials="" lastIdx="1" clrIdx="2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1" name="未知用户19" initials="" lastIdx="1" clrIdx="0"/>
  <p:cmAuthor id="122" name="周宏達JerryChou" initials="" lastIdx="6" clrIdx="2"/>
  <p:cmAuthor id="124" name="未知用户7" initials="" lastIdx="1" clrIdx="0"/>
  <p:cmAuthor id="125" name="未知的使用者56" initials="" lastIdx="1" clrIdx="0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691587972" name="li hui" initials="lh" lastIdx="1" clrIdx="50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2" name="Daniel Wuu" initials="" lastIdx="1" clrIdx="0"/>
  <p:cmAuthor id="213" name="未知用户56" initials="" lastIdx="1" clrIdx="0"/>
  <p:cmAuthor id="214" name="未知的使用者14" initials="" lastIdx="2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1411828" name="徐琳00159163" initials="徐琳00159163" lastIdx="1" clrIdx="37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691587971" name="徐 安柯" initials="徐" lastIdx="2" clrIdx="41"/>
  <p:cmAuthor id="328" name="李竞" initials="李" lastIdx="2" clrIdx="327"/>
  <p:cmAuthor id="691587973" name="ZHAI TING" initials="ZT" lastIdx="1" clrIdx="57"/>
  <p:cmAuthor id="51" name="董雪娥" initials="董" lastIdx="1" clrIdx="50"/>
  <p:cmAuthor id="324" name="李锦" initials="李" lastIdx="2" clrIdx="323"/>
  <p:cmAuthor id="191251539" name="席琛" initials="" lastIdx="0" clrIdx="58"/>
  <p:cmAuthor id="146566726" name="高飞" initials="高" lastIdx="0" clrIdx="0"/>
  <p:cmAuthor id="146566727" name="xzb1" initials="x" lastIdx="1" clrIdx="1"/>
  <p:cmAuthor id="210492765" name="施普希（菜菜）" initials="施" lastIdx="0" clrIdx="0"/>
  <p:cmAuthor id="210492766" name="yu 1" initials="y1" lastIdx="1" clrIdx="19"/>
  <p:cmAuthor id="210492767" name="李 嘉" initials="李" lastIdx="1" clrIdx="26"/>
  <p:cmAuthor id="8535702" name="曾蓓/贝贝" initials="曾" lastIdx="0" clrIdx="0"/>
  <p:cmAuthor id="322" name="K4-IML" initials="K" lastIdx="1" clrIdx="321"/>
  <p:cmAuthor id="691587974" name="陈文华" initials="u" lastIdx="0" clrIdx="322"/>
  <p:cmAuthor id="47245820" name="Windows 用户" initials="W用" lastIdx="1" clrIdx="16"/>
  <p:cmAuthor id="47245821" name="江莉萍|jiangliping" initials="W用" lastIdx="4" clrIdx="26"/>
  <p:cmAuthor id="329" name="LENOVO" initials="L" lastIdx="4" clrIdx="328"/>
  <p:cmAuthor id="331" name="liutAO" initials="l" lastIdx="1" clrIdx="330"/>
  <p:cmAuthor id="345" name="孟闪飞" initials="孟" lastIdx="1" clrIdx="344"/>
  <p:cmAuthor id="343" name="杜秋玲" initials="杜" lastIdx="1" clrIdx="342"/>
  <p:cmAuthor id="287643683" name="王 曦" initials="王" lastIdx="1" clrIdx="13"/>
  <p:cmAuthor id="327" name="liuq" initials="l" lastIdx="1" clrIdx="326"/>
  <p:cmAuthor id="191251540" name="韩剑侠" initials="P" lastIdx="1" clrIdx="41"/>
  <p:cmAuthor id="91" name="范作霖" initials="范" lastIdx="1" clrIdx="22"/>
  <p:cmAuthor id="109" name="刘豹" initials="刘" lastIdx="0" clrIdx="0"/>
  <p:cmAuthor id="120" name="郑汝鸿" initials="郑" lastIdx="2" clrIdx="0"/>
  <p:cmAuthor id="123" name="邢辰凤" initials="邢" lastIdx="45" clrIdx="7"/>
  <p:cmAuthor id="126" name="未知用户46" initials="未" lastIdx="1" clrIdx="1"/>
  <p:cmAuthor id="394525608" name="仇怿俊" initials="仇" lastIdx="0" clrIdx="0"/>
  <p:cmAuthor id="353158055" name="韩雨" initials="韩" lastIdx="0" clrIdx="0"/>
  <p:cmAuthor id="335" name="杜晓云" initials="杜" lastIdx="1" clrIdx="334"/>
  <p:cmAuthor id="287643684" name="韩 俊" initials="韩" lastIdx="1" clrIdx="33"/>
  <p:cmAuthor id="394525610" name="10356" initials="1" lastIdx="2" clrIdx="45"/>
  <p:cmAuthor id="330" name="guanxiaoyu" initials="g" lastIdx="1" clrIdx="329"/>
  <p:cmAuthor id="340" name="CZLTFZ002" initials="C" lastIdx="1" clrIdx="339"/>
  <p:cmAuthor id="334" name="何伟" initials="何" lastIdx="1" clrIdx="333"/>
  <p:cmAuthor id="323" name="ethel" initials="e" lastIdx="2" clrIdx="322"/>
  <p:cmAuthor id="325" name="25720" initials="2" lastIdx="1" clrIdx="324"/>
  <p:cmAuthor id="326" name="10546" initials="1" lastIdx="1" clrIdx="325"/>
  <p:cmAuthor id="691587975" name="junqing li" initials="jl" lastIdx="1" clrIdx="331"/>
  <p:cmAuthor id="333" name="曹辰" initials="曹" lastIdx="2" clrIdx="332"/>
  <p:cmAuthor id="475196944" name="姚琳" initials="姚" lastIdx="1133934" clrIdx="0"/>
  <p:cmAuthor id="475196945" name="chen" initials="c" lastIdx="1" clrIdx="2"/>
  <p:cmAuthor id="332" name="Liu, Hongqing (NSB - CN/Shanghai)" initials="L" lastIdx="1" clrIdx="41"/>
  <p:cmAuthor id="348" name="鲁晓芳" initials="鲁" lastIdx="1" clrIdx="347"/>
  <p:cmAuthor id="1411829" name="任涛10036216" initials="任涛10036216" lastIdx="1" clrIdx="41"/>
  <p:cmAuthor id="351" name="王奎" initials="王" lastIdx="1" clrIdx="350"/>
  <p:cmAuthor id="359" name="投诉中心" initials="投" lastIdx="3" clrIdx="358"/>
  <p:cmAuthor id="336" name="王一哲" initials="wyz" lastIdx="1" clrIdx="335"/>
  <p:cmAuthor id="47245819" name="群智集" initials="群" lastIdx="0" clrIdx="0"/>
  <p:cmAuthor id="210492768" name="gus9@chinaunicom.cn" initials="g" lastIdx="4" clrIdx="27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589" name="未知用户295" initials="未" lastIdx="1" clrIdx="0"/>
  <p:cmAuthor id="590" name="未知用户297" initials="未" lastIdx="1" clrIdx="0"/>
  <p:cmAuthor id="591" name="panjm" initials="p" lastIdx="1" clrIdx="0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3" name="Carol Kelly" initials="C" lastIdx="1" clrIdx="0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4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7" name="未知用户311" initials="未" lastIdx="2" clrIdx="0"/>
  <p:cmAuthor id="668" name="未知用户312" initials="未" lastIdx="1" clrIdx="0"/>
  <p:cmAuthor id="670" name="未知用户314" initials="未" lastIdx="1" clrIdx="1"/>
  <p:cmAuthor id="671" name="晓  曲" initials="晓" lastIdx="1" clrIdx="0"/>
  <p:cmAuthor id="673" name="未知用户216" initials="未" lastIdx="1" clrIdx="0"/>
  <p:cmAuthor id="674" name="孟连磊" initials="孟" lastIdx="1" clrIdx="0"/>
  <p:cmAuthor id="676" name="未知的使用者177" initials="未" lastIdx="8" clrIdx="0"/>
  <p:cmAuthor id="197" name="alpha" initials="a" lastIdx="1" clrIdx="0"/>
  <p:cmAuthor id="394525609" name="Xiaosu Wang" initials="XW" lastIdx="1" clrIdx="24"/>
  <p:cmAuthor id="337" name="raymond luan" initials="r" lastIdx="0" clrIdx="0"/>
  <p:cmAuthor id="341" name="未知的使用者155" initials="未" lastIdx="1" clrIdx="0"/>
  <p:cmAuthor id="346" name="PC" initials="P" lastIdx="4" clrIdx="0"/>
  <p:cmAuthor id="349" name="未知的使用者183" initials="未" lastIdx="5" clrIdx="1"/>
  <p:cmAuthor id="350" name="未知的使用者182" initials="未" lastIdx="1" clrIdx="1"/>
  <p:cmAuthor id="352" name="未知的使用者161" initials="未" lastIdx="1" clrIdx="0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的使用者148" initials="未" lastIdx="8" clrIdx="0"/>
  <p:cmAuthor id="377" name="未知的使用者149" initials="未" lastIdx="8" clrIdx="0"/>
  <p:cmAuthor id="379" name="刘云轩" initials="刘" lastIdx="1" clrIdx="0"/>
  <p:cmAuthor id="380" name="sharon" initials="s" lastIdx="1" clrIdx="84"/>
  <p:cmAuthor id="381" name="未知用户131" initials="未" lastIdx="1" clrIdx="2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7" name="未知用户136" initials="未" lastIdx="1" clrIdx="1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8" name="未知的使用者204" initials="未" lastIdx="1" clrIdx="0"/>
  <p:cmAuthor id="399" name="未知的使用者225" initials="" lastIdx="1" clrIdx="0"/>
  <p:cmAuthor id="402" name="未知用户133" initials="未" lastIdx="1" clrIdx="0"/>
  <p:cmAuthor id="409" name="zhangbin" initials="z" lastIdx="6" clrIdx="0"/>
  <p:cmAuthor id="410" name="未知的使用者232" initials="" lastIdx="8" clrIdx="0"/>
  <p:cmAuthor id="412" name="未知用户330" initials="未" lastIdx="5" clrIdx="0"/>
  <p:cmAuthor id="414" name="未知用户177" initials="未" lastIdx="2" clrIdx="0"/>
  <p:cmAuthor id="415" name="未知用户184" initials="未" lastIdx="1" clrIdx="1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59" name="未知用户143" initials="未" lastIdx="1" clrIdx="0"/>
  <p:cmAuthor id="460" name="未知用户144" initials="未" lastIdx="1" clrIdx="0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486" name="未知的使用者190" initials="未" lastIdx="1" clrIdx="1"/>
  <p:cmAuthor id="487" name="未知的使用者191" initials="未" lastIdx="1" clrIdx="0"/>
  <p:cmAuthor id="488" name="未知的使用者192" initials="未" lastIdx="1" clrIdx="0"/>
  <p:cmAuthor id="489" name="未知的使用者193" initials="未" lastIdx="2" clrIdx="0"/>
  <p:cmAuthor id="490" name="未知的使用者209" initials="未" lastIdx="8" clrIdx="0"/>
  <p:cmAuthor id="491" name="未知的使用者210" initials="未" lastIdx="1" clrIdx="0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339" name="曾素灵" initials="曾" lastIdx="1" clrIdx="338"/>
  <p:cmAuthor id="338" name="郭卫军" initials="郭" lastIdx="1" clrIdx="337"/>
  <p:cmAuthor id="185" name="未知的使用者92" initials="未" lastIdx="1" clrIdx="0"/>
  <p:cmAuthor id="211" name="未知的使用者136" initials="未" lastIdx="1" clrIdx="0"/>
  <p:cmAuthor id="216" name="未知的使用者197" initials="未" lastIdx="8" clrIdx="0"/>
  <p:cmAuthor id="691587976" name="8618608404186" initials="" lastIdx="1" clrIdx="634"/>
  <p:cmAuthor id="634" name="马月" initials="马" lastIdx="1" clrIdx="633"/>
  <p:cmAuthor id="342" name="李 剑峰" initials="李" lastIdx="5" clrIdx="23"/>
  <p:cmAuthor id="347" name="李晓波" initials="李" lastIdx="1" clrIdx="346"/>
  <p:cmAuthor id="47245823" name="刘海娜|liuhaina" initials="W用" lastIdx="1" clrIdx="36"/>
  <p:cmAuthor id="47245824" name="Ball Snow" initials="BS" lastIdx="3" clrIdx="51"/>
  <p:cmAuthor id="353" name="封殊龙" initials="封" lastIdx="2" clrIdx="352"/>
  <p:cmAuthor id="287643685" name="13709759491@139.com" initials="1" lastIdx="1" clrIdx="49"/>
  <p:cmAuthor id="344" name="10072673" initials="1" lastIdx="3" clrIdx="343"/>
  <p:cmAuthor id="648" name="姚翔" initials="姚" lastIdx="1" clrIdx="647"/>
  <p:cmAuthor id="47245822" name="晓琳 李" initials="晓琳" lastIdx="1" clrIdx="40"/>
  <p:cmAuthor id="29922660" name="杨强" initials="杨" lastIdx="0" clrIdx="0"/>
  <p:cmAuthor id="29922661" name="檀晟 陈" initials="檀晟" lastIdx="1" clrIdx="10"/>
  <p:cmAuthor id="691587977" name="玥 谭" initials="玥谭" lastIdx="1" clrIdx="635"/>
  <p:cmAuthor id="172" name="梁亚栋" initials="梁" lastIdx="776053" clrIdx="0"/>
  <p:cmAuthor id="367" name="HUAWEI" initials="H" lastIdx="2" clrIdx="366"/>
  <p:cmAuthor id="394" name="罗玉碧" initials="罗" lastIdx="10" clrIdx="393"/>
  <p:cmAuthor id="378" name="姚雪亮" initials="姚" lastIdx="1" clrIdx="377"/>
  <p:cmAuthor id="659" name="63173" initials="6" lastIdx="1" clrIdx="65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F2F2F2"/>
    <a:srgbClr val="E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63" autoAdjust="0"/>
    <p:restoredTop sz="94460" autoAdjust="0"/>
  </p:normalViewPr>
  <p:slideViewPr>
    <p:cSldViewPr snapToGrid="0" showGuides="1">
      <p:cViewPr>
        <p:scale>
          <a:sx n="120" d="100"/>
          <a:sy n="120" d="100"/>
        </p:scale>
        <p:origin x="520" y="-24"/>
      </p:cViewPr>
      <p:guideLst>
        <p:guide orient="horz" pos="1624"/>
        <p:guide pos="34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25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B09E585-6508-421B-823F-707C309E9C95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二级</a:t>
            </a:r>
            <a:endParaRPr lang="zh-CN" altLang="en-US" noProof="0"/>
          </a:p>
          <a:p>
            <a:pPr lvl="2"/>
            <a:r>
              <a:rPr lang="zh-CN" altLang="en-US" noProof="0"/>
              <a:t>三级</a:t>
            </a:r>
            <a:endParaRPr lang="zh-CN" altLang="en-US" noProof="0"/>
          </a:p>
          <a:p>
            <a:pPr lvl="3"/>
            <a:r>
              <a:rPr lang="zh-CN" altLang="en-US" noProof="0"/>
              <a:t>四级</a:t>
            </a:r>
            <a:endParaRPr lang="zh-CN" altLang="en-US" noProof="0"/>
          </a:p>
          <a:p>
            <a:pPr lvl="4"/>
            <a:r>
              <a:rPr lang="zh-CN" altLang="en-US" noProof="0"/>
              <a:t>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B4373238-B3F0-417C-A8EF-E5DFE22F8943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/>
          <p:cNvSpPr>
            <a:spLocks noGrp="1" noRot="1" noChangeAspect="1" noTextEdit="1"/>
          </p:cNvSpPr>
          <p:nvPr>
            <p:ph type="sldImg" idx="4294967295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文本占位符 2"/>
          <p:cNvSpPr>
            <a:spLocks noGrp="1"/>
          </p:cNvSpPr>
          <p:nvPr>
            <p:ph type="body" idx="9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png"/><Relationship Id="rId4" Type="http://schemas.openxmlformats.org/officeDocument/2006/relationships/tags" Target="../tags/tag1.xml"/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2E9A4D-03E4-4FC1-AF59-73DB79BAA37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89D87E-2AF4-4B16-B343-53F5018C575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BE4395-7E9D-4075-96D0-A74AF520B0C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EB6FE-583E-4A9B-B2F5-F8B9279F362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FDAF01-F376-4D50-8B3E-2C22CD1F1D8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110304-0B4C-47A5-9B21-D5BC10642A0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3061B-50E1-429F-91A5-B21343D397A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235CDC-A263-4CE6-AF86-85455FD1207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4F67A-C533-4560-8CAA-84A7276AED1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92AF18-D336-4E9F-8570-B3CA760EBDF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8FD3F-D7FA-4D54-ABE2-BFA441A4FB3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冬奥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"/>
          <p:cNvGrpSpPr/>
          <p:nvPr userDrawn="1"/>
        </p:nvGrpSpPr>
        <p:grpSpPr bwMode="auto">
          <a:xfrm>
            <a:off x="6350" y="123825"/>
            <a:ext cx="12185650" cy="876300"/>
            <a:chOff x="9" y="196"/>
            <a:chExt cx="19190" cy="1378"/>
          </a:xfrm>
        </p:grpSpPr>
        <p:pic>
          <p:nvPicPr>
            <p:cNvPr id="13" name="图片 2" descr="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图片 4" descr="7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" y="196"/>
              <a:ext cx="14381" cy="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5" name="文本框 3"/>
          <p:cNvSpPr txBox="1">
            <a:spLocks noChangeArrowheads="1"/>
          </p:cNvSpPr>
          <p:nvPr userDrawn="1"/>
        </p:nvSpPr>
        <p:spPr bwMode="auto">
          <a:xfrm>
            <a:off x="6350" y="6561138"/>
            <a:ext cx="5014913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200">
                <a:solidFill>
                  <a:srgbClr val="7F7F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IT</a:t>
            </a:r>
            <a:r>
              <a:rPr lang="zh-CN" altLang="en-US" sz="1200">
                <a:solidFill>
                  <a:srgbClr val="7F7F7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系统五经六脉疏通，数据血液千场万景贯通，敏捷赋能三个一切畅通</a:t>
            </a:r>
            <a:endParaRPr lang="zh-CN" altLang="en-US" sz="1200">
              <a:solidFill>
                <a:srgbClr val="7F7F7F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48581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24421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2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24417" y="431760"/>
            <a:ext cx="3168248" cy="432564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40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3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624421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4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624421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5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624421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048586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87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1048588" name="Text Placeholder 17"/>
          <p:cNvSpPr>
            <a:spLocks noGrp="1"/>
          </p:cNvSpPr>
          <p:nvPr>
            <p:ph type="body" sz="quarter" idx="18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89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1048590" name="Text Placeholder 23"/>
          <p:cNvSpPr>
            <a:spLocks noGrp="1"/>
          </p:cNvSpPr>
          <p:nvPr>
            <p:ph type="body" sz="quarter" idx="20"/>
          </p:nvPr>
        </p:nvSpPr>
        <p:spPr>
          <a:xfrm>
            <a:off x="9956619" y="6480452"/>
            <a:ext cx="1536700" cy="80686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85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 err="1"/>
              <a:t>单击此处编辑母版文本样式</a:t>
            </a:r>
            <a:endParaRPr lang="zh-CN" altLang="en-US" dirty="0" err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390998"/>
            <a:ext cx="12192634" cy="519102"/>
            <a:chOff x="0" y="2301"/>
            <a:chExt cx="19227" cy="737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2960"/>
              <a:ext cx="19227" cy="28"/>
            </a:xfrm>
            <a:prstGeom prst="line">
              <a:avLst/>
            </a:prstGeom>
            <a:ln w="60325">
              <a:solidFill>
                <a:srgbClr val="E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5411" y="2301"/>
              <a:ext cx="2695" cy="737"/>
            </a:xfrm>
            <a:prstGeom prst="rect">
              <a:avLst/>
            </a:prstGeom>
          </p:spPr>
        </p:pic>
      </p:grpSp>
      <p:sp>
        <p:nvSpPr>
          <p:cNvPr id="11" name="矩形 10"/>
          <p:cNvSpPr/>
          <p:nvPr userDrawn="1"/>
        </p:nvSpPr>
        <p:spPr>
          <a:xfrm>
            <a:off x="0" y="0"/>
            <a:ext cx="1181735" cy="855345"/>
          </a:xfrm>
          <a:prstGeom prst="rect">
            <a:avLst/>
          </a:prstGeom>
          <a:solidFill>
            <a:srgbClr val="E80000"/>
          </a:solidFill>
          <a:ln>
            <a:noFill/>
          </a:ln>
        </p:spPr>
        <p:txBody>
          <a:bodyPr wrap="square" anchor="ctr" anchorCtr="1">
            <a:noAutofit/>
          </a:bodyPr>
          <a:lstStyle/>
          <a:p>
            <a:pPr algn="l" fontAlgn="b"/>
            <a:endParaRPr lang="en-US" altLang="zh-CN" sz="1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灯片编号占位符 1"/>
          <p:cNvSpPr txBox="1"/>
          <p:nvPr userDrawn="1"/>
        </p:nvSpPr>
        <p:spPr bwMode="auto">
          <a:xfrm>
            <a:off x="11760183" y="6581001"/>
            <a:ext cx="43154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36000" tIns="45720" rIns="36000" bIns="45720" numCol="1" anchor="ctr" anchorCtr="0" compatLnSpc="1">
            <a:spAutoFit/>
          </a:bodyPr>
          <a:lstStyle>
            <a:defPPr>
              <a:defRPr lang="zh-CN"/>
            </a:defPPr>
            <a:lvl1pPr algn="r" rtl="0" fontAlgn="base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sz="1100" b="1" kern="1200"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30000"/>
              </a:spcAft>
              <a:buClr>
                <a:srgbClr val="CC0000"/>
              </a:buClr>
              <a:buSzPct val="90000"/>
              <a:buFont typeface="Wingdings" panose="05000000000000000000" pitchFamily="2" charset="2"/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5pPr>
            <a:lvl6pPr marL="22860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6pPr>
            <a:lvl7pPr marL="27432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7pPr>
            <a:lvl8pPr marL="32004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8pPr>
            <a:lvl9pPr marL="3657600" algn="l" defTabSz="914400" rtl="0" eaLnBrk="1" latinLnBrk="0" hangingPunct="1">
              <a:defRPr sz="1400" b="1" kern="1200">
                <a:solidFill>
                  <a:schemeClr val="tx1"/>
                </a:solidFill>
                <a:latin typeface="Times New Roman" panose="02020603050405020304" pitchFamily="18" charset="0"/>
                <a:ea typeface="楷体_GB2312" panose="02010609030101010101" pitchFamily="49" charset="-122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C9040C6-963D-4B80-83DC-4E43C55D1E51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/>
        </p:nvGrpSpPr>
        <p:grpSpPr>
          <a:xfrm>
            <a:off x="0" y="230408"/>
            <a:ext cx="12192634" cy="681101"/>
            <a:chOff x="0" y="2073"/>
            <a:chExt cx="19227" cy="967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0" y="2960"/>
              <a:ext cx="19227" cy="28"/>
            </a:xfrm>
            <a:prstGeom prst="line">
              <a:avLst/>
            </a:prstGeom>
            <a:ln w="60325">
              <a:solidFill>
                <a:srgbClr val="E8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" name="图片 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5411" y="2073"/>
              <a:ext cx="3260" cy="967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开始页">
    <p:bg>
      <p:bgPr>
        <a:solidFill>
          <a:srgbClr val="E600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联通版-分隔页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635" y="0"/>
            <a:ext cx="12305030" cy="6882765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0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范例一-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365" cy="87503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-635" y="0"/>
            <a:ext cx="1960880" cy="875030"/>
          </a:xfrm>
          <a:prstGeom prst="rect">
            <a:avLst/>
          </a:prstGeom>
          <a:solidFill>
            <a:srgbClr val="DE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7"/>
          <p:cNvPicPr>
            <a:picLocks noChangeAspect="1"/>
          </p:cNvPicPr>
          <p:nvPr userDrawn="1"/>
        </p:nvPicPr>
        <p:blipFill>
          <a:blip r:embed="rId2" cstate="print"/>
          <a:srcRect r="28326"/>
          <a:stretch>
            <a:fillRect/>
          </a:stretch>
        </p:blipFill>
        <p:spPr>
          <a:xfrm>
            <a:off x="5549265" y="0"/>
            <a:ext cx="5989955" cy="8750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26065" y="-635"/>
            <a:ext cx="1639570" cy="89027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冬奥联通版范例一-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6"/>
          <p:cNvGrpSpPr/>
          <p:nvPr userDrawn="1"/>
        </p:nvGrpSpPr>
        <p:grpSpPr bwMode="auto">
          <a:xfrm>
            <a:off x="6350" y="123825"/>
            <a:ext cx="12185650" cy="876300"/>
            <a:chOff x="9" y="196"/>
            <a:chExt cx="19190" cy="1378"/>
          </a:xfrm>
        </p:grpSpPr>
        <p:pic>
          <p:nvPicPr>
            <p:cNvPr id="20" name="图片 7" descr="7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1" name="图片 8" descr="7"/>
            <p:cNvPicPr>
              <a:picLocks noChangeAspect="1"/>
            </p:cNvPicPr>
            <p:nvPr userDrawn="1"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81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24421" y="20574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24417" y="431760"/>
            <a:ext cx="3168248" cy="432564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2400" baseline="0"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624421" y="2585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624421" y="311450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624421" y="3604950"/>
            <a:ext cx="1649231" cy="27758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5" name="Text Placeholder 17"/>
          <p:cNvSpPr>
            <a:spLocks noGrp="1"/>
          </p:cNvSpPr>
          <p:nvPr>
            <p:ph type="body" sz="quarter" idx="16"/>
          </p:nvPr>
        </p:nvSpPr>
        <p:spPr>
          <a:xfrm>
            <a:off x="2561516" y="20574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7"/>
          </p:nvPr>
        </p:nvSpPr>
        <p:spPr>
          <a:xfrm>
            <a:off x="2561516" y="2585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</p:txBody>
      </p:sp>
      <p:sp>
        <p:nvSpPr>
          <p:cNvPr id="17" name="Text Placeholder 17"/>
          <p:cNvSpPr>
            <a:spLocks noGrp="1"/>
          </p:cNvSpPr>
          <p:nvPr>
            <p:ph type="body" sz="quarter" idx="18"/>
          </p:nvPr>
        </p:nvSpPr>
        <p:spPr>
          <a:xfrm>
            <a:off x="2561512" y="311450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2561512" y="3604950"/>
            <a:ext cx="3572213" cy="277584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内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"/>
          <p:cNvGrpSpPr/>
          <p:nvPr userDrawn="1"/>
        </p:nvGrpSpPr>
        <p:grpSpPr bwMode="auto">
          <a:xfrm>
            <a:off x="6350" y="123825"/>
            <a:ext cx="12185650" cy="876300"/>
            <a:chOff x="9" y="196"/>
            <a:chExt cx="19190" cy="1378"/>
          </a:xfrm>
        </p:grpSpPr>
        <p:pic>
          <p:nvPicPr>
            <p:cNvPr id="3" name="图片 7" descr="7"/>
            <p:cNvPicPr>
              <a:picLocks noChangeAspect="1"/>
            </p:cNvPicPr>
            <p:nvPr userDrawn="1"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" name="图片 8" descr="7"/>
            <p:cNvPicPr>
              <a:picLocks noChangeAspect="1"/>
            </p:cNvPicPr>
            <p:nvPr userDrawn="1"/>
          </p:nvPicPr>
          <p:blipFill>
            <a:blip r:embed="rId2" cstate="email"/>
            <a:srcRect/>
            <a:stretch>
              <a:fillRect/>
            </a:stretch>
          </p:blipFill>
          <p:spPr bwMode="auto">
            <a:xfrm>
              <a:off x="4819" y="196"/>
              <a:ext cx="14381" cy="13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5" name="灯片编号占位符 2"/>
          <p:cNvSpPr txBox="1"/>
          <p:nvPr userDrawn="1"/>
        </p:nvSpPr>
        <p:spPr>
          <a:xfrm>
            <a:off x="11568113" y="6453188"/>
            <a:ext cx="460375" cy="365125"/>
          </a:xfrm>
          <a:prstGeom prst="rect">
            <a:avLst/>
          </a:prstGeom>
        </p:spPr>
        <p:txBody>
          <a:bodyPr lIns="91423" tIns="45714" rIns="91423" bIns="45714" anchor="ctr"/>
          <a:lstStyle/>
          <a:p>
            <a:pPr algn="ctr" eaLnBrk="1" hangingPunct="1"/>
            <a:fld id="{B2C8CAFF-DAB8-4B5F-A162-D42FDBCA511F}" type="slidenum">
              <a:rPr kumimoji="1" lang="zh-CN" altLang="en-US" sz="110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kumimoji="1" lang="en-US" altLang="zh-CN" sz="110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6" name="任意多边形: 形状 13"/>
          <p:cNvSpPr/>
          <p:nvPr userDrawn="1"/>
        </p:nvSpPr>
        <p:spPr>
          <a:xfrm>
            <a:off x="0" y="0"/>
            <a:ext cx="1250950" cy="1000125"/>
          </a:xfrm>
          <a:custGeom>
            <a:avLst/>
            <a:gdLst>
              <a:gd name="connsiteX0" fmla="*/ 0 w 890016"/>
              <a:gd name="connsiteY0" fmla="*/ 0 h 630947"/>
              <a:gd name="connsiteX1" fmla="*/ 622341 w 890016"/>
              <a:gd name="connsiteY1" fmla="*/ 0 h 630947"/>
              <a:gd name="connsiteX2" fmla="*/ 890016 w 890016"/>
              <a:gd name="connsiteY2" fmla="*/ 630947 h 630947"/>
              <a:gd name="connsiteX3" fmla="*/ 168896 w 890016"/>
              <a:gd name="connsiteY3" fmla="*/ 630947 h 630947"/>
              <a:gd name="connsiteX4" fmla="*/ 0 w 890016"/>
              <a:gd name="connsiteY4" fmla="*/ 630947 h 630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016" h="630947">
                <a:moveTo>
                  <a:pt x="0" y="0"/>
                </a:moveTo>
                <a:lnTo>
                  <a:pt x="622341" y="0"/>
                </a:lnTo>
                <a:lnTo>
                  <a:pt x="890016" y="630947"/>
                </a:lnTo>
                <a:lnTo>
                  <a:pt x="168896" y="630947"/>
                </a:lnTo>
                <a:lnTo>
                  <a:pt x="0" y="630947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Arial" panose="020B0604020202020204" pitchFamily="34" charset="0"/>
              <a:ea typeface="黑体" panose="0201060906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联通PPT模板 1_画板 1 副本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985" y="0"/>
            <a:ext cx="12198985" cy="6859231"/>
          </a:xfrm>
          <a:prstGeom prst="rect">
            <a:avLst/>
          </a:prstGeom>
        </p:spPr>
      </p:pic>
      <p:sp>
        <p:nvSpPr>
          <p:cNvPr id="8" name="文本占位符 13"/>
          <p:cNvSpPr>
            <a:spLocks noGrp="1"/>
          </p:cNvSpPr>
          <p:nvPr>
            <p:ph type="body" sz="quarter" idx="13" hasCustomPrompt="1"/>
          </p:nvPr>
        </p:nvSpPr>
        <p:spPr>
          <a:xfrm>
            <a:off x="3321050" y="2284413"/>
            <a:ext cx="5549900" cy="82708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dist">
              <a:buNone/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联通工作汇报标题文字</a:t>
            </a:r>
            <a:endParaRPr lang="zh-CN" altLang="en-US" dirty="0"/>
          </a:p>
        </p:txBody>
      </p:sp>
      <p:sp>
        <p:nvSpPr>
          <p:cNvPr id="9" name="文本占位符 15"/>
          <p:cNvSpPr>
            <a:spLocks noGrp="1"/>
          </p:cNvSpPr>
          <p:nvPr>
            <p:ph type="body" sz="quarter" idx="14" hasCustomPrompt="1"/>
          </p:nvPr>
        </p:nvSpPr>
        <p:spPr>
          <a:xfrm>
            <a:off x="3321050" y="3203576"/>
            <a:ext cx="5549900" cy="5889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部门名称</a:t>
            </a:r>
            <a:endParaRPr lang="zh-CN" altLang="en-US" dirty="0"/>
          </a:p>
        </p:txBody>
      </p:sp>
      <p:sp>
        <p:nvSpPr>
          <p:cNvPr id="10" name="文本占位符 17"/>
          <p:cNvSpPr>
            <a:spLocks noGrp="1"/>
          </p:cNvSpPr>
          <p:nvPr>
            <p:ph type="body" sz="quarter" idx="15" hasCustomPrompt="1"/>
          </p:nvPr>
        </p:nvSpPr>
        <p:spPr>
          <a:xfrm>
            <a:off x="3321050" y="4203700"/>
            <a:ext cx="5549900" cy="3651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2022.5.6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256" y="278267"/>
            <a:ext cx="2819794" cy="1076475"/>
          </a:xfrm>
          <a:prstGeom prst="rect">
            <a:avLst/>
          </a:prstGeom>
        </p:spPr>
      </p:pic>
      <p:pic>
        <p:nvPicPr>
          <p:cNvPr id="14" name="图片 13" descr="2022新logo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9186726" y="132991"/>
            <a:ext cx="2401366" cy="1199595"/>
          </a:xfrm>
          <a:prstGeom prst="rect">
            <a:avLst/>
          </a:prstGeom>
          <a:solidFill>
            <a:srgbClr val="FFFFFF"/>
          </a:solidFill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462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-27940" y="1942465"/>
            <a:ext cx="12228830" cy="284988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  <a:prstDash val="dash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endParaRPr lang="zh-CN" altLang="en-US" sz="20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7" Type="http://schemas.openxmlformats.org/officeDocument/2006/relationships/theme" Target="../theme/theme1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pPr>
              <a:defRPr/>
            </a:pPr>
            <a:fld id="{EEEDB396-17E6-4C0F-A528-FA69C75CDB47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13.xml"/><Relationship Id="rId5" Type="http://schemas.openxmlformats.org/officeDocument/2006/relationships/image" Target="../media/image12.wmf"/><Relationship Id="rId4" Type="http://schemas.openxmlformats.org/officeDocument/2006/relationships/package" Target="../embeddings/Workbook1.xlsx"/><Relationship Id="rId3" Type="http://schemas.openxmlformats.org/officeDocument/2006/relationships/image" Target="../media/image11.wmf"/><Relationship Id="rId2" Type="http://schemas.openxmlformats.org/officeDocument/2006/relationships/oleObject" Target="../embeddings/oleObject1.bin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slide" Target="slide1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tags" Target="../tags/tag10.xml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tags" Target="../tags/tag9.xml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tags" Target="../tags/tag8.xml"/><Relationship Id="rId13" Type="http://schemas.openxmlformats.org/officeDocument/2006/relationships/notesSlide" Target="../notesSlides/notesSlide4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1.xml"/><Relationship Id="rId10" Type="http://schemas.openxmlformats.org/officeDocument/2006/relationships/image" Target="../media/image18.svg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15.xml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tags" Target="../tags/tag14.xml"/><Relationship Id="rId4" Type="http://schemas.openxmlformats.org/officeDocument/2006/relationships/image" Target="../media/image20.svg"/><Relationship Id="rId3" Type="http://schemas.openxmlformats.org/officeDocument/2006/relationships/image" Target="../media/image19.png"/><Relationship Id="rId2" Type="http://schemas.openxmlformats.org/officeDocument/2006/relationships/tags" Target="../tags/tag13.xml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3.xml"/><Relationship Id="rId11" Type="http://schemas.openxmlformats.org/officeDocument/2006/relationships/tags" Target="../tags/tag16.xml"/><Relationship Id="rId10" Type="http://schemas.openxmlformats.org/officeDocument/2006/relationships/image" Target="../media/image24.sv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tags" Target="../tags/tag19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tags" Target="../tags/tag18.xml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5" Type="http://schemas.openxmlformats.org/officeDocument/2006/relationships/notesSlide" Target="../notesSlides/notesSlide6.xml"/><Relationship Id="rId14" Type="http://schemas.openxmlformats.org/officeDocument/2006/relationships/slideLayout" Target="../slideLayouts/slideLayout13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tags" Target="../tags/tag17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13.xml"/><Relationship Id="rId4" Type="http://schemas.openxmlformats.org/officeDocument/2006/relationships/image" Target="../media/image25.wmf"/><Relationship Id="rId3" Type="http://schemas.openxmlformats.org/officeDocument/2006/relationships/package" Target="../embeddings/Workbook2.xlsx"/><Relationship Id="rId2" Type="http://schemas.openxmlformats.org/officeDocument/2006/relationships/slide" Target="slide1.xml"/><Relationship Id="rId1" Type="http://schemas.openxmlformats.org/officeDocument/2006/relationships/tags" Target="../tags/tag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>
          <a:xfrm>
            <a:off x="3321050" y="5110480"/>
            <a:ext cx="5549900" cy="688340"/>
          </a:xfrm>
        </p:spPr>
        <p:txBody>
          <a:bodyPr/>
          <a:lstStyle/>
          <a:p>
            <a:r>
              <a:rPr lang="zh-CN" altLang="en-US" sz="1800" dirty="0">
                <a:solidFill>
                  <a:schemeClr val="tx1"/>
                </a:solidFill>
              </a:rPr>
              <a:t>党</a:t>
            </a:r>
            <a:r>
              <a:rPr lang="zh-CN" altLang="en-US" sz="1800" dirty="0">
                <a:solidFill>
                  <a:schemeClr val="tx1"/>
                </a:solidFill>
              </a:rPr>
              <a:t>建工作部 </a:t>
            </a:r>
            <a:endParaRPr lang="en-US" altLang="zh-CN" sz="1800" dirty="0">
              <a:solidFill>
                <a:schemeClr val="tx1"/>
              </a:solidFill>
            </a:endParaRPr>
          </a:p>
          <a:p>
            <a:r>
              <a:rPr lang="en-US" altLang="zh-CN" sz="1800" b="0" dirty="0">
                <a:solidFill>
                  <a:schemeClr val="tx1"/>
                </a:solidFill>
              </a:rPr>
              <a:t>2026</a:t>
            </a:r>
            <a:r>
              <a:rPr lang="zh-CN" altLang="en-US" sz="1800" b="0" dirty="0">
                <a:solidFill>
                  <a:schemeClr val="tx1"/>
                </a:solidFill>
              </a:rPr>
              <a:t>年</a:t>
            </a:r>
            <a:r>
              <a:rPr lang="en-US" altLang="zh-CN" sz="1800" b="0" dirty="0">
                <a:solidFill>
                  <a:schemeClr val="tx1"/>
                </a:solidFill>
              </a:rPr>
              <a:t> 7 </a:t>
            </a:r>
            <a:r>
              <a:rPr lang="zh-CN" altLang="en-US" sz="1800" b="0" dirty="0">
                <a:solidFill>
                  <a:schemeClr val="tx1"/>
                </a:solidFill>
              </a:rPr>
              <a:t>月</a:t>
            </a:r>
            <a:endParaRPr lang="zh-CN" altLang="en-US" sz="1800" b="0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20725" y="2426970"/>
            <a:ext cx="11090910" cy="1509395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p>
            <a:pPr algn="ctr"/>
            <a:r>
              <a:rPr lang="zh-CN" altLang="en-US" sz="4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关于二季度“党建引领、进六争三”</a:t>
            </a:r>
            <a:endParaRPr lang="zh-CN" altLang="en-US" sz="4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/>
            <a:r>
              <a:rPr lang="zh-CN" altLang="en-US" sz="40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党建品牌创建活动评选情况的汇报</a:t>
            </a:r>
            <a:endParaRPr lang="zh-CN" altLang="en-US" sz="40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党建品牌创建活动</a:t>
            </a:r>
            <a:endParaRPr kumimoji="1" lang="zh-CN" altLang="en-US" sz="280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57200" y="1057275"/>
            <a:ext cx="11313160" cy="978535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>
            <a:noAutofit/>
          </a:bodyPr>
          <a:p>
            <a:pPr marL="285750" indent="-285750" fontAlgn="auto">
              <a:lnSpc>
                <a:spcPct val="150000"/>
              </a:lnSpc>
              <a:buClr>
                <a:srgbClr val="C0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开展“党建引领、进六争三”党建品牌创建活动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，不断提高焦作联通基层党组织的凝聚力、战斗力和创造力，引导全体党员立足岗位、敬业奉献，不断推进党建与中心工作深度融合。</a:t>
            </a:r>
            <a:endParaRPr lang="zh-CN" altLang="en-US" sz="1600" b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0535" y="2210435"/>
            <a:ext cx="11271250" cy="1476375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</p:spPr>
        <p:txBody>
          <a:bodyPr wrap="square" rtlCol="0">
            <a:noAutofit/>
          </a:bodyPr>
          <a:p>
            <a:pPr indent="0" algn="ctr" fontAlgn="auto">
              <a:lnSpc>
                <a:spcPct val="150000"/>
              </a:lnSpc>
            </a:pP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党建引领、进六争三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en-US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党建品牌创建</a:t>
            </a:r>
            <a:endParaRPr lang="en-US" altLang="zh-CN" sz="3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ctr" fontAlgn="auto">
              <a:lnSpc>
                <a:spcPct val="150000"/>
              </a:lnSpc>
            </a:pPr>
            <a:endParaRPr lang="zh-CN" altLang="en-US" sz="2000" b="1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0" y="4071620"/>
            <a:ext cx="8386445" cy="401955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>
            <a:noAutofit/>
          </a:bodyPr>
          <a:p>
            <a:pPr indent="0" algn="l"/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增收攻坚、服务暖心</a:t>
            </a:r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”行动：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联网业务</a:t>
            </a:r>
            <a:r>
              <a:rPr lang="en-US" alt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争</a:t>
            </a:r>
            <a:r>
              <a:rPr lang="en-US" alt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3”</a:t>
            </a:r>
            <a:r>
              <a:rPr 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服务口碑</a:t>
            </a:r>
            <a:r>
              <a:rPr lang="en-US" alt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“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争</a:t>
            </a:r>
            <a:r>
              <a:rPr lang="en-US" alt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3”</a:t>
            </a:r>
            <a:r>
              <a:rPr 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endParaRPr lang="zh-CN" altLang="en-US"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ctr"/>
            <a:endParaRPr lang="zh-CN" altLang="en-US" sz="14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95400" y="4097655"/>
            <a:ext cx="1148080" cy="3683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市场线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514600" y="4653915"/>
            <a:ext cx="8387080" cy="36830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>
            <a:spAutoFit/>
          </a:bodyPr>
          <a:p>
            <a:pPr indent="0" algn="l"/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份额争先、提质争先</a:t>
            </a:r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”行动：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公开市场份额攻坚</a:t>
            </a:r>
            <a:r>
              <a:rPr 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大企业市场攻坚</a:t>
            </a:r>
            <a:r>
              <a:rPr 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sz="1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95400" y="4653915"/>
            <a:ext cx="1148080" cy="3683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</a:t>
            </a:r>
            <a:endParaRPr lang="zh-CN" altLang="en-US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14600" y="5210175"/>
            <a:ext cx="8387080" cy="36830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>
            <a:spAutoFit/>
          </a:bodyPr>
          <a:p>
            <a:pPr indent="0" algn="l"/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标杆引领、安全筑底、质效双优</a:t>
            </a:r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”行动：</a:t>
            </a:r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创标杆</a:t>
            </a:r>
            <a:r>
              <a:rPr lang="zh-CN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护安全</a:t>
            </a:r>
            <a:r>
              <a:rPr lang="zh-CN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、</a:t>
            </a:r>
            <a:r>
              <a:rPr lang="zh-CN" altLang="en-US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提质效</a:t>
            </a:r>
            <a:r>
              <a:rPr lang="zh-CN" sz="14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sz="1400" b="1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95400" y="5210175"/>
            <a:ext cx="1148080" cy="3683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网络线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513965" y="5766435"/>
            <a:ext cx="8387080" cy="36830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>
            <a:spAutoFit/>
          </a:bodyPr>
          <a:p>
            <a:pPr indent="0" algn="l"/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党建引领、提质增效</a:t>
            </a:r>
            <a:r>
              <a:rPr lang="zh-CN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”行动：</a:t>
            </a:r>
            <a:r>
              <a:rPr lang="zh-CN" altLang="en-US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以精细化管理的抓手，打好降本增效组合拳</a:t>
            </a:r>
            <a:r>
              <a:rPr lang="zh-CN" sz="1400" b="1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。</a:t>
            </a:r>
            <a:endParaRPr lang="zh-CN" sz="1400" b="1">
              <a:solidFill>
                <a:srgbClr val="00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294765" y="5766435"/>
            <a:ext cx="1148080" cy="368300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t">
            <a:sp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职能线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57200" y="3771900"/>
            <a:ext cx="11284585" cy="2917825"/>
          </a:xfrm>
          <a:prstGeom prst="rect">
            <a:avLst/>
          </a:prstGeom>
          <a:noFill/>
          <a:ln w="12700" cmpd="sng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10225" y="8255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2" imgW="971550" imgH="800100" progId="Package">
                  <p:embed/>
                </p:oleObj>
              </mc:Choice>
              <mc:Fallback>
                <p:oleObj name="" showAsIcon="1" r:id="rId2" imgW="971550" imgH="800100" progId="Package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610225" y="8255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178040" y="8255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showAsIcon="1" r:id="rId4" imgW="971550" imgH="800100" progId="Excel.Sheet.12">
                  <p:embed/>
                </p:oleObj>
              </mc:Choice>
              <mc:Fallback>
                <p:oleObj name="" showAsIcon="1" r:id="rId4" imgW="971550" imgH="800100" progId="Excel.Sheet.12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178040" y="8255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考核指标</a:t>
            </a:r>
            <a:endParaRPr lang="zh-CN" altLang="en-US" sz="28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71140" y="2652395"/>
            <a:ext cx="9103995" cy="81026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大企业市场攻坚占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，公开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市场份额攻坚占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50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4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政要中心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校园中心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创新中心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解放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山阳公开市场运营商中标份额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100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分，</a:t>
            </a:r>
            <a:r>
              <a:rPr 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季度考核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4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endParaRPr lang="zh-CN" altLang="en-US" sz="1600" b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endParaRPr lang="zh-CN" altLang="en-US" sz="1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04925" y="1556385"/>
            <a:ext cx="1148080" cy="560705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</a:t>
            </a:r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线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71140" y="1590040"/>
            <a:ext cx="9103995" cy="88773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联网业务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争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3”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占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0分，服务口碑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争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3”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占</a:t>
            </a:r>
            <a:r>
              <a:rPr lang="en-US" altLang="zh-CN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600" b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0分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市场部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客服部</a:t>
            </a:r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按六县四区指标完成均值得分</a:t>
            </a:r>
            <a:endParaRPr lang="zh-CN" altLang="en-US" sz="1600" b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771140" y="3796030"/>
            <a:ext cx="9104630" cy="86868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创标杆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40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护安全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提质效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30</a:t>
            </a:r>
            <a:r>
              <a:rPr lang="zh-CN" altLang="en-US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网络部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网络运营中心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交付中心全省排名每低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名扣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</a:t>
            </a: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季度考核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endParaRPr lang="en-US" altLang="zh-CN" sz="1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71775" y="4926965"/>
            <a:ext cx="9103995" cy="636270"/>
          </a:xfrm>
          <a:prstGeom prst="rect">
            <a:avLst/>
          </a:prstGeom>
          <a:noFill/>
          <a:ln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600" b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年度考核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1600" b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289050" y="2683510"/>
            <a:ext cx="1148080" cy="560705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4925" y="3805555"/>
            <a:ext cx="1148080" cy="560705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网络线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04925" y="4927600"/>
            <a:ext cx="1148080" cy="560705"/>
          </a:xfrm>
          <a:prstGeom prst="rect">
            <a:avLst/>
          </a:prstGeom>
          <a:solidFill>
            <a:srgbClr val="C00000"/>
          </a:solidFill>
        </p:spPr>
        <p:txBody>
          <a:bodyPr wrap="square" rtlCol="0" anchor="ctr" anchorCtr="0">
            <a:noAutofit/>
          </a:bodyPr>
          <a:p>
            <a:pPr algn="ctr"/>
            <a:r>
              <a:rPr 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职能线</a:t>
            </a:r>
            <a:endParaRPr 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公众线“增收攻坚、服务暖心”行动</a:t>
            </a:r>
            <a:endParaRPr kumimoji="1"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>
            <a:hlinkClick r:id="rId2" action="ppaction://hlinksldjump"/>
          </p:cNvPr>
          <p:cNvSpPr txBox="1"/>
          <p:nvPr/>
        </p:nvSpPr>
        <p:spPr>
          <a:xfrm>
            <a:off x="895350" y="1516380"/>
            <a:ext cx="10509250" cy="4022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marR="0" lvl="1" indent="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None/>
              <a:defRPr/>
            </a:pPr>
            <a:endParaRPr kumimoji="1" lang="zh-CN" altLang="en-US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8" name="文本框 27"/>
          <p:cNvSpPr txBox="1"/>
          <p:nvPr>
            <p:custDataLst>
              <p:tags r:id="rId3"/>
            </p:custDataLst>
          </p:nvPr>
        </p:nvSpPr>
        <p:spPr>
          <a:xfrm>
            <a:off x="644525" y="758825"/>
            <a:ext cx="10896600" cy="38671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p>
            <a:pPr marL="285750" indent="-28575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SzTx/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团队激励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4"/>
            </p:custDataLst>
          </p:nvPr>
        </p:nvSpPr>
        <p:spPr>
          <a:xfrm>
            <a:off x="662940" y="1558925"/>
            <a:ext cx="11323320" cy="7766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 marL="285750" indent="-28575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评选结果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Font typeface="Wingdings" panose="05000000000000000000" charset="0"/>
              <a:buNone/>
            </a:pPr>
            <a:r>
              <a:rPr lang="en-US" altLang="zh-CN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经市场线综合评估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六县四区结果排名（市场部、客服部按六县四区指标完成均值得分</a:t>
            </a:r>
            <a:r>
              <a:rPr lang="en-US" altLang="zh-CN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“增收攻坚、服务暖心”行动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前三名：马村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、修武、温县，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后三名：中站、武陟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、博爱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400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Font typeface="Wingdings" panose="05000000000000000000" charset="0"/>
              <a:buNone/>
            </a:pP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Font typeface="Wingdings" panose="05000000000000000000" charset="0"/>
              <a:buChar char="n"/>
            </a:pPr>
            <a:endParaRPr lang="zh-CN" altLang="en-US" sz="18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8645" y="1072515"/>
            <a:ext cx="11471275" cy="70294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p>
            <a:pPr marL="0" indent="0" latinLnBrk="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　</a:t>
            </a:r>
            <a:r>
              <a:rPr lang="en-US" altLang="zh-CN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按照各支部得分进行季度排名，季度累计积分并应用至年度党建考核；年度综合排名前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名的党支部，给予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1500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元党建费用额度奖励，用于支部活动经费，并授予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增收攻坚、服务暖心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荣誉称号。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10" name="表格 9"/>
          <p:cNvGraphicFramePr/>
          <p:nvPr/>
        </p:nvGraphicFramePr>
        <p:xfrm>
          <a:off x="183515" y="2394585"/>
          <a:ext cx="10053320" cy="4464050"/>
        </p:xfrm>
        <a:graphic>
          <a:graphicData uri="http://schemas.openxmlformats.org/drawingml/2006/table">
            <a:tbl>
              <a:tblPr/>
              <a:tblGrid>
                <a:gridCol w="339725"/>
                <a:gridCol w="429260"/>
                <a:gridCol w="487045"/>
                <a:gridCol w="424180"/>
                <a:gridCol w="339725"/>
                <a:gridCol w="499110"/>
                <a:gridCol w="396240"/>
                <a:gridCol w="396240"/>
                <a:gridCol w="508635"/>
                <a:gridCol w="452755"/>
                <a:gridCol w="339090"/>
                <a:gridCol w="339725"/>
                <a:gridCol w="339090"/>
                <a:gridCol w="339090"/>
                <a:gridCol w="339090"/>
                <a:gridCol w="339725"/>
                <a:gridCol w="390525"/>
                <a:gridCol w="304165"/>
                <a:gridCol w="340360"/>
                <a:gridCol w="338455"/>
                <a:gridCol w="339725"/>
                <a:gridCol w="339725"/>
                <a:gridCol w="338455"/>
                <a:gridCol w="339725"/>
                <a:gridCol w="466725"/>
                <a:gridCol w="546735"/>
              </a:tblGrid>
              <a:tr h="611505"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移宽增量收入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移宽存量收入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社区市场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（解放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7.5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商户市场</a:t>
                      </a:r>
                      <a:b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（解放</a:t>
                      </a:r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7.5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分）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农村市场（解放不考核）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铁军达标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客户服务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231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完成值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拍照收入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完成值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综合评价得分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综合评价得分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份额破局目标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完成值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完成率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营业员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渠道经理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智家工程师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TCSI</a:t>
                      </a:r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综合满意度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服务工单综合评价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工信部来量压降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春雷服务工单投诉压降</a:t>
                      </a:r>
                      <a:endParaRPr lang="zh-CN" altLang="en-US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6695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161.40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134.86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83.56%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3671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3550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3528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99.38%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11.90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33.3%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72.42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675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158.57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139.32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87.86%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3349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3238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3203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98.92%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9.60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67.37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79.2%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4.75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6.79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83.83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146.15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117.84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80.63%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12.09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3497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3382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3378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99.88%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14.41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60.24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69.5%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6.45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75.48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31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167.73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150.84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89.93%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13.49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3841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3714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3700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99.62%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76.2%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86.31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675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214.01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191.69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89.57%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13.44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5361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5184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5159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99.52%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47.04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33.7%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5.74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69.72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129.71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96.91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74.71%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2864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2769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2764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99.82%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58.96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32.8%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86.62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39.66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39.53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99.67%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14.95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99.06%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10.28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77.02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24.6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66.47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37.45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31.38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83.79%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1021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992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100.51%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56.77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88.67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675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163.11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152.61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93.56%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14.03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4088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3953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3934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99.52%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12.60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52.79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26.9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9.94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74.23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040">
                <a:tc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133.63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131.43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98.35%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14.75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3130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3027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2995 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98.94%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9.71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44.12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  <a:endParaRPr lang="en-US" altLang="zh-CN" sz="800" b="1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3.46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8.75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79.88</a:t>
                      </a:r>
                      <a:endParaRPr lang="en-US" altLang="zh-CN" sz="8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10325100" y="2394585"/>
          <a:ext cx="1601470" cy="4465955"/>
        </p:xfrm>
        <a:graphic>
          <a:graphicData uri="http://schemas.openxmlformats.org/drawingml/2006/table">
            <a:tbl>
              <a:tblPr/>
              <a:tblGrid>
                <a:gridCol w="525145"/>
                <a:gridCol w="525780"/>
                <a:gridCol w="550545"/>
              </a:tblGrid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分数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88.67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86.62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86.31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83.83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市场部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80.23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79.88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客服部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78.20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75.48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74.23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72.42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69.72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353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66.47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1271270" y="228600"/>
            <a:ext cx="11532235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政企线“党旗领航、提质争先”行动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7" name="图片 6" descr="32313537353836363b32313537353835313bcdbcb2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6045" y="4880610"/>
            <a:ext cx="442595" cy="442595"/>
          </a:xfrm>
          <a:prstGeom prst="rect">
            <a:avLst/>
          </a:prstGeom>
        </p:spPr>
      </p:pic>
      <p:pic>
        <p:nvPicPr>
          <p:cNvPr id="32" name="图片 31" descr="32313537353836363b32313537353835373bcec4bcfebcd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5060" y="4879975"/>
            <a:ext cx="442595" cy="442595"/>
          </a:xfrm>
          <a:prstGeom prst="rect">
            <a:avLst/>
          </a:prstGeom>
        </p:spPr>
      </p:pic>
      <p:pic>
        <p:nvPicPr>
          <p:cNvPr id="33" name="图片 32" descr="32313537353836363b32313537353836303bc8d5c0fa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4075" y="4879975"/>
            <a:ext cx="443230" cy="4432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287655" y="828675"/>
            <a:ext cx="11680825" cy="4057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p>
            <a:pPr marL="285750" indent="-28575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团队激励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2740" y="1694180"/>
            <a:ext cx="11393170" cy="702945"/>
          </a:xfrm>
          <a:prstGeom prst="rect">
            <a:avLst/>
          </a:prstGeom>
        </p:spPr>
        <p:txBody>
          <a:bodyPr wrap="none" rtlCol="0">
            <a:noAutofit/>
          </a:bodyPr>
          <a:p>
            <a:pPr marL="285750" indent="-285750" algn="l" latinLnBrk="0">
              <a:lnSpc>
                <a:spcPct val="100000"/>
              </a:lnSpc>
              <a:buClr>
                <a:srgbClr val="E8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评选结果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00000"/>
              </a:lnSpc>
              <a:buClr>
                <a:srgbClr val="E80000"/>
              </a:buClr>
              <a:buFont typeface="Wingdings" panose="05000000000000000000" charset="0"/>
              <a:buNone/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政企线“党旗领航、提质争先”行动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前三名：马村、政企部、企业，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后三名：山阳、解放、中站。</a:t>
            </a:r>
            <a:endParaRPr lang="zh-CN" altLang="en-US" sz="1400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50000"/>
              </a:lnSpc>
              <a:buClr>
                <a:srgbClr val="E80000"/>
              </a:buClr>
              <a:buFont typeface="Wingdings" panose="05000000000000000000" charset="0"/>
              <a:buNone/>
            </a:pP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latinLnBrk="0">
              <a:lnSpc>
                <a:spcPct val="150000"/>
              </a:lnSpc>
              <a:buClr>
                <a:srgbClr val="E80000"/>
              </a:buClr>
              <a:buFont typeface="Wingdings" panose="05000000000000000000" charset="0"/>
              <a:buNone/>
            </a:pPr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5125" y="1125220"/>
            <a:ext cx="11826875" cy="78486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p>
            <a:pPr marL="0" indent="0" latinLnBrk="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对年度公开市场运营商中标份额超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50%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的支部进行排名，排名前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3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的党支部分别给予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2000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1500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1000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元党建费用额度奖励，用于支部活动经费，并授予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大企业市场提质先进党支部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荣誉称号。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latinLnBrk="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							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2188210" y="2470785"/>
          <a:ext cx="6729095" cy="3980180"/>
        </p:xfrm>
        <a:graphic>
          <a:graphicData uri="http://schemas.openxmlformats.org/drawingml/2006/table">
            <a:tbl>
              <a:tblPr/>
              <a:tblGrid>
                <a:gridCol w="542290"/>
                <a:gridCol w="542925"/>
                <a:gridCol w="405130"/>
                <a:gridCol w="674370"/>
                <a:gridCol w="509270"/>
                <a:gridCol w="728980"/>
                <a:gridCol w="586105"/>
                <a:gridCol w="608965"/>
                <a:gridCol w="612775"/>
                <a:gridCol w="554355"/>
                <a:gridCol w="295910"/>
                <a:gridCol w="273685"/>
                <a:gridCol w="394335"/>
              </a:tblGrid>
              <a:tr h="565785"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大企业市场收入同比增幅（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TOP321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客户联网收入同比增幅（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TOP321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客户专线业务渗透率（</a:t>
                      </a:r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分）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大企业标杆客户拓展完成率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794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同比增幅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同比增幅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495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15.34%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69.88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8.14%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16.28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9.95%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17.60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0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65.73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8.46%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16.93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64.00%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12.80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57.76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1.76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11.01%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-7.26%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17.13%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-14.96%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16.12%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-2.88%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40.92%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52.92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-2.64%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13.01%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84.62%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16.92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48.58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5.98%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11.96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8.31%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16.62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-10.63%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-0.64%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110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5745">
                <a:tc>
                  <a:txBody>
                    <a:bodyPr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10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10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>
            <p:custDataLst>
              <p:tags r:id="rId1"/>
            </p:custDataLst>
          </p:nvPr>
        </p:nvSpPr>
        <p:spPr>
          <a:xfrm>
            <a:off x="1271270" y="228600"/>
            <a:ext cx="11532235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政企线“党建引领、份额争先”行动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pic>
        <p:nvPicPr>
          <p:cNvPr id="7" name="图片 6" descr="32313537353836363b32313537353835313bcdbcb2e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56045" y="4880610"/>
            <a:ext cx="442595" cy="442595"/>
          </a:xfrm>
          <a:prstGeom prst="rect">
            <a:avLst/>
          </a:prstGeom>
        </p:spPr>
      </p:pic>
      <p:pic>
        <p:nvPicPr>
          <p:cNvPr id="32" name="图片 31" descr="32313537353836363b32313537353835373bcec4bcfebcd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5060" y="4879975"/>
            <a:ext cx="442595" cy="442595"/>
          </a:xfrm>
          <a:prstGeom prst="rect">
            <a:avLst/>
          </a:prstGeom>
        </p:spPr>
      </p:pic>
      <p:pic>
        <p:nvPicPr>
          <p:cNvPr id="33" name="图片 32" descr="32313537353836363b32313537353836303bc8d5c0fa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74075" y="4879975"/>
            <a:ext cx="443230" cy="44323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1"/>
            </p:custDataLst>
          </p:nvPr>
        </p:nvSpPr>
        <p:spPr>
          <a:xfrm>
            <a:off x="287655" y="828675"/>
            <a:ext cx="11680825" cy="40576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p>
            <a:pPr marL="285750" indent="-28575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团队激励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13690" y="1675130"/>
            <a:ext cx="11877675" cy="702945"/>
          </a:xfrm>
          <a:prstGeom prst="rect">
            <a:avLst/>
          </a:prstGeom>
        </p:spPr>
        <p:txBody>
          <a:bodyPr wrap="none" rtlCol="0">
            <a:noAutofit/>
          </a:bodyPr>
          <a:p>
            <a:pPr marL="285750" indent="-285750" algn="l" latinLnBrk="0">
              <a:lnSpc>
                <a:spcPct val="100000"/>
              </a:lnSpc>
              <a:buClr>
                <a:srgbClr val="E80000"/>
              </a:buClr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评选结果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00000"/>
              </a:lnSpc>
              <a:buClr>
                <a:srgbClr val="E80000"/>
              </a:buClr>
              <a:buFont typeface="Wingdings" panose="05000000000000000000" charset="0"/>
              <a:buNone/>
            </a:pPr>
            <a:r>
              <a:rPr lang="en-US" altLang="zh-CN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en-US" altLang="zh-CN" sz="16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政企线“党建引领、份额争先”行动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前三名：政要、孟州、解放（已在攻坚一获奖的单位不参与攻坚二评选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后三名：马村、</a:t>
            </a:r>
            <a:endParaRPr lang="zh-CN" altLang="en-US" sz="1400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00000"/>
              </a:lnSpc>
              <a:buClr>
                <a:srgbClr val="E80000"/>
              </a:buClr>
              <a:buFont typeface="Wingdings" panose="05000000000000000000" charset="0"/>
              <a:buNone/>
            </a:pP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中站、修武。</a:t>
            </a:r>
            <a:endParaRPr lang="zh-CN" altLang="en-US" sz="1400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l" latinLnBrk="0">
              <a:lnSpc>
                <a:spcPct val="150000"/>
              </a:lnSpc>
              <a:buClr>
                <a:srgbClr val="E80000"/>
              </a:buClr>
              <a:buFont typeface="Wingdings" panose="05000000000000000000" charset="0"/>
              <a:buNone/>
            </a:pPr>
            <a:r>
              <a:rPr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  </a:t>
            </a:r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latinLnBrk="0">
              <a:lnSpc>
                <a:spcPct val="150000"/>
              </a:lnSpc>
              <a:buClr>
                <a:srgbClr val="E80000"/>
              </a:buClr>
              <a:buFont typeface="Wingdings" panose="05000000000000000000" charset="0"/>
              <a:buNone/>
            </a:pPr>
            <a:endParaRPr lang="zh-CN" altLang="en-US" sz="1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5125" y="1125220"/>
            <a:ext cx="11826875" cy="78486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p>
            <a:pPr marL="0" indent="0" latinLnBrk="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各攻坚行动工作组按综合目标完成率进行排名，年度综合排名前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3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名的党支部给予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2000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1500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1000 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元党建费用额度奖励，用于支部活动经费，并授予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政企份额争先先进党支部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荣誉称号。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						</a:t>
            </a:r>
            <a:endParaRPr lang="en-US" altLang="zh-CN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3651885" y="2358390"/>
          <a:ext cx="4449445" cy="3970020"/>
        </p:xfrm>
        <a:graphic>
          <a:graphicData uri="http://schemas.openxmlformats.org/drawingml/2006/table">
            <a:tbl>
              <a:tblPr/>
              <a:tblGrid>
                <a:gridCol w="738505"/>
                <a:gridCol w="737235"/>
                <a:gridCol w="738505"/>
                <a:gridCol w="738505"/>
                <a:gridCol w="758190"/>
                <a:gridCol w="738505"/>
              </a:tblGrid>
              <a:tr h="552450">
                <a:tc rowSpan="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单位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合计得分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排名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公开市场运营商中标份额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33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目标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完成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得分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政要</a:t>
                      </a:r>
                      <a:endParaRPr lang="zh-CN" altLang="en-US" sz="12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企业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81.00%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孟州</a:t>
                      </a:r>
                      <a:endParaRPr lang="zh-CN" altLang="en-US" sz="12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解放</a:t>
                      </a:r>
                      <a:endParaRPr lang="zh-CN" altLang="en-US" sz="12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68.00%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创新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政企部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校园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53.00%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武陟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272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沁阳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温县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山阳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博爱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99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13360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马村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12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32313537353836363b32313537353835313bcdbcb2e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9870" y="4853940"/>
            <a:ext cx="442595" cy="442595"/>
          </a:xfrm>
          <a:prstGeom prst="rect">
            <a:avLst/>
          </a:prstGeom>
        </p:spPr>
      </p:pic>
      <p:pic>
        <p:nvPicPr>
          <p:cNvPr id="32" name="图片 31" descr="32313537353836363b32313537353835373bcec4bcfebcd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88885" y="4853305"/>
            <a:ext cx="442595" cy="442595"/>
          </a:xfrm>
          <a:prstGeom prst="rect">
            <a:avLst/>
          </a:prstGeom>
        </p:spPr>
      </p:pic>
      <p:pic>
        <p:nvPicPr>
          <p:cNvPr id="33" name="图片 32" descr="32313537353836363b32313537353836303bc8d5c0fa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97900" y="4853305"/>
            <a:ext cx="443230" cy="443230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0"/>
            </p:custDataLst>
          </p:nvPr>
        </p:nvSpPr>
        <p:spPr>
          <a:xfrm>
            <a:off x="1223645" y="328930"/>
            <a:ext cx="11532235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网络线“标杆引领、安全筑底、质效双优”行动</a:t>
            </a:r>
            <a:endParaRPr lang="zh-CN" altLang="en-US" sz="2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31" name="椭圆 8"/>
          <p:cNvSpPr/>
          <p:nvPr>
            <p:custDataLst>
              <p:tags r:id="rId11"/>
            </p:custDataLst>
          </p:nvPr>
        </p:nvSpPr>
        <p:spPr>
          <a:xfrm rot="16200000" flipH="1">
            <a:off x="1375451" y="2368975"/>
            <a:ext cx="286662" cy="283539"/>
          </a:xfrm>
          <a:custGeom>
            <a:avLst/>
            <a:gdLst>
              <a:gd name="T0" fmla="*/ 1247 w 2853"/>
              <a:gd name="T1" fmla="*/ 216 h 2826"/>
              <a:gd name="T2" fmla="*/ 108 w 2853"/>
              <a:gd name="T3" fmla="*/ 2485 h 2826"/>
              <a:gd name="T4" fmla="*/ 335 w 2853"/>
              <a:gd name="T5" fmla="*/ 2765 h 2826"/>
              <a:gd name="T6" fmla="*/ 1444 w 2853"/>
              <a:gd name="T7" fmla="*/ 2473 h 2826"/>
              <a:gd name="T8" fmla="*/ 2517 w 2853"/>
              <a:gd name="T9" fmla="*/ 2762 h 2826"/>
              <a:gd name="T10" fmla="*/ 2747 w 2853"/>
              <a:gd name="T11" fmla="*/ 2483 h 2826"/>
              <a:gd name="T12" fmla="*/ 1636 w 2853"/>
              <a:gd name="T13" fmla="*/ 218 h 2826"/>
              <a:gd name="T14" fmla="*/ 1247 w 2853"/>
              <a:gd name="T15" fmla="*/ 216 h 2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53" h="2826">
                <a:moveTo>
                  <a:pt x="1247" y="216"/>
                </a:moveTo>
                <a:lnTo>
                  <a:pt x="108" y="2485"/>
                </a:lnTo>
                <a:cubicBezTo>
                  <a:pt x="0" y="2701"/>
                  <a:pt x="101" y="2826"/>
                  <a:pt x="335" y="2765"/>
                </a:cubicBezTo>
                <a:lnTo>
                  <a:pt x="1444" y="2473"/>
                </a:lnTo>
                <a:lnTo>
                  <a:pt x="2517" y="2762"/>
                </a:lnTo>
                <a:cubicBezTo>
                  <a:pt x="2750" y="2825"/>
                  <a:pt x="2853" y="2700"/>
                  <a:pt x="2747" y="2483"/>
                </a:cubicBezTo>
                <a:lnTo>
                  <a:pt x="1636" y="218"/>
                </a:lnTo>
                <a:cubicBezTo>
                  <a:pt x="1530" y="1"/>
                  <a:pt x="1356" y="0"/>
                  <a:pt x="1247" y="2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4" name="椭圆 9"/>
          <p:cNvSpPr/>
          <p:nvPr>
            <p:custDataLst>
              <p:tags r:id="rId12"/>
            </p:custDataLst>
          </p:nvPr>
        </p:nvSpPr>
        <p:spPr>
          <a:xfrm rot="5400000">
            <a:off x="10777533" y="3949669"/>
            <a:ext cx="286662" cy="283539"/>
          </a:xfrm>
          <a:custGeom>
            <a:avLst/>
            <a:gdLst>
              <a:gd name="T0" fmla="*/ 1247 w 2853"/>
              <a:gd name="T1" fmla="*/ 216 h 2826"/>
              <a:gd name="T2" fmla="*/ 108 w 2853"/>
              <a:gd name="T3" fmla="*/ 2485 h 2826"/>
              <a:gd name="T4" fmla="*/ 335 w 2853"/>
              <a:gd name="T5" fmla="*/ 2765 h 2826"/>
              <a:gd name="T6" fmla="*/ 1444 w 2853"/>
              <a:gd name="T7" fmla="*/ 2473 h 2826"/>
              <a:gd name="T8" fmla="*/ 2517 w 2853"/>
              <a:gd name="T9" fmla="*/ 2762 h 2826"/>
              <a:gd name="T10" fmla="*/ 2747 w 2853"/>
              <a:gd name="T11" fmla="*/ 2483 h 2826"/>
              <a:gd name="T12" fmla="*/ 1636 w 2853"/>
              <a:gd name="T13" fmla="*/ 218 h 2826"/>
              <a:gd name="T14" fmla="*/ 1247 w 2853"/>
              <a:gd name="T15" fmla="*/ 216 h 2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853" h="2826">
                <a:moveTo>
                  <a:pt x="1247" y="216"/>
                </a:moveTo>
                <a:lnTo>
                  <a:pt x="108" y="2485"/>
                </a:lnTo>
                <a:cubicBezTo>
                  <a:pt x="0" y="2701"/>
                  <a:pt x="101" y="2826"/>
                  <a:pt x="335" y="2765"/>
                </a:cubicBezTo>
                <a:lnTo>
                  <a:pt x="1444" y="2473"/>
                </a:lnTo>
                <a:lnTo>
                  <a:pt x="2517" y="2762"/>
                </a:lnTo>
                <a:cubicBezTo>
                  <a:pt x="2750" y="2825"/>
                  <a:pt x="2853" y="2700"/>
                  <a:pt x="2747" y="2483"/>
                </a:cubicBezTo>
                <a:lnTo>
                  <a:pt x="1636" y="218"/>
                </a:lnTo>
                <a:cubicBezTo>
                  <a:pt x="1530" y="1"/>
                  <a:pt x="1356" y="0"/>
                  <a:pt x="1247" y="2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398780" y="889000"/>
            <a:ext cx="4025900" cy="2057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noAutofit/>
          </a:bodyPr>
          <a:lstStyle/>
          <a:p>
            <a:pPr marL="285750" indent="-28575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80000"/>
              </a:buClr>
              <a:buSzTx/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团队激励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8780" y="1094740"/>
            <a:ext cx="11563350" cy="53657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 anchor="t">
            <a:noAutofit/>
          </a:bodyPr>
          <a:p>
            <a:pPr marL="0" indent="0" latinLnBrk="0">
              <a:lnSpc>
                <a:spcPct val="10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　　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根据评价细则，按照各支部得分进行季度排名，季度累计积分并应用至年度党建考核；年度综合排名前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名的党支部，给予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2000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1500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元、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1000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元党建费用额度奖励，用于支部活动经费，并授予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优质网络先进党支部</a:t>
            </a: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荣誉称号。</a:t>
            </a:r>
            <a:endParaRPr lang="zh-CN" altLang="en-US" sz="1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en-US" altLang="zh-CN" sz="1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398780" y="1517650"/>
            <a:ext cx="11603355" cy="542925"/>
          </a:xfrm>
          <a:prstGeom prst="rect">
            <a:avLst/>
          </a:prstGeom>
        </p:spPr>
        <p:txBody>
          <a:bodyPr wrap="none" rtlCol="0">
            <a:noAutofit/>
          </a:bodyPr>
          <a:p>
            <a:pPr marL="285750" indent="-285750" algn="l" latinLnBrk="0">
              <a:lnSpc>
                <a:spcPct val="100000"/>
              </a:lnSpc>
              <a:buClr>
                <a:srgbClr val="E80000"/>
              </a:buClr>
              <a:buSzTx/>
              <a:buFont typeface="Wingdings" panose="05000000000000000000" charset="0"/>
              <a:buChar char="n"/>
            </a:pPr>
            <a:r>
              <a:rPr lang="zh-CN" altLang="en-US" sz="16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评选结果</a:t>
            </a:r>
            <a:endParaRPr lang="zh-CN" altLang="en-US" sz="16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 algn="l" latinLnBrk="0">
              <a:lnSpc>
                <a:spcPct val="100000"/>
              </a:lnSpc>
              <a:buClr>
                <a:srgbClr val="E80000"/>
              </a:buClr>
              <a:buSzTx/>
              <a:buFont typeface="Wingdings" panose="05000000000000000000" charset="0"/>
              <a:buNone/>
            </a:pPr>
            <a:r>
              <a:rPr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    </a:t>
            </a: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网络线“标杆引领、安全筑底、质效双优”行动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前三名：沁阳</a:t>
            </a:r>
            <a:r>
              <a:rPr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、山马、解中，</a:t>
            </a:r>
            <a:r>
              <a:rPr lang="zh-CN" altLang="en-US" sz="1400" b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后三名：武陟、修武、网运中心。</a:t>
            </a:r>
            <a:endParaRPr lang="zh-CN" altLang="en-US" sz="1400" b="1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0" y="2085975"/>
          <a:ext cx="9187815" cy="4892040"/>
        </p:xfrm>
        <a:graphic>
          <a:graphicData uri="http://schemas.openxmlformats.org/drawingml/2006/table">
            <a:tbl>
              <a:tblPr/>
              <a:tblGrid>
                <a:gridCol w="737870"/>
                <a:gridCol w="403860"/>
                <a:gridCol w="815975"/>
                <a:gridCol w="405765"/>
                <a:gridCol w="401955"/>
                <a:gridCol w="404495"/>
                <a:gridCol w="403860"/>
                <a:gridCol w="403860"/>
                <a:gridCol w="405130"/>
                <a:gridCol w="402590"/>
                <a:gridCol w="403860"/>
                <a:gridCol w="405130"/>
                <a:gridCol w="403860"/>
                <a:gridCol w="403225"/>
                <a:gridCol w="405130"/>
                <a:gridCol w="403225"/>
                <a:gridCol w="405130"/>
                <a:gridCol w="403225"/>
                <a:gridCol w="584200"/>
                <a:gridCol w="585470"/>
              </a:tblGrid>
              <a:tr h="183515">
                <a:tc gridSpan="2"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考核维度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考核指标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网运中心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网络部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交付中心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修武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博爱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武陟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温县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山阳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解放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马村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中站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山马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7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解中</a:t>
                      </a:r>
                      <a:endParaRPr lang="zh-CN" altLang="en-US" sz="7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8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核心功能（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45%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网络运营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故障管控（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9.10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能力提升（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网络服务提升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移动网络满意度（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宽固网络满意度（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5.65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73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智家工程师满意度（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2.39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6.24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7.12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网运成本管控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网络相关成本占收比（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5.40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铁塔差异管控（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能耗成本（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1790">
                <a:tc rowSpan="15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运营提升   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( 55%)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网络质量提升专项行动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工匠行动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工匠行动年度得分排名（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5052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网络质量提升专项行动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极简网络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极简网络年度综合评价（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网络质量提升专项行动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网络运营安全深化年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同路由整治处理（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417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网络安全事件（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网络服务提升专项行动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移网质量提升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重点场景提升（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796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移网问题栅格改善（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业务感知提升（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1.38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移网资源利用率（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4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网络服务提升专项行动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智家网络服务提升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交付质量提升（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3.19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2.55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3.63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2.81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73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宽带资源效能提升（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客户感知提升（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2.79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2.92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2.66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1.69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1.95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1.71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050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网络服务提升专项行动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-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政企双线网络服务提升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政企双线交付及时率（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1873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政企双线故障管控（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0.36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8732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政企双线资源治理（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端网业协同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端网业协同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5G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登网率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千兆化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2.42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公司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KPI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保障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公司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KPI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保障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科技创新（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分）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反诈治理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(1.20)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(1.20)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(1.20)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(1.20)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(1.20)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(0.80)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(0.80)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(0.80)</a:t>
                      </a:r>
                      <a:endParaRPr lang="en-US" altLang="zh-CN" sz="600" b="0" i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-0.40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7325"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8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县区</a:t>
                      </a:r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KPI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endParaRPr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约束事项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约束事项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6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正负项激励</a:t>
                      </a:r>
                      <a:endParaRPr lang="zh-CN" altLang="en-US" sz="6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52.01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49.75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52.22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52.31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58.68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9540">
                <a:tc gridSpan="3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原始分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89.21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94.27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93.51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93.11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90.84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85.53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91.75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82.97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96.94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88.40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91.68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95.54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94.48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92.09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91.32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93.81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92.90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9540">
                <a:tc gridSpan="3">
                  <a:txBody>
                    <a:bodyPr/>
                    <a:p>
                      <a:pPr algn="ctr" fontAlgn="ctr"/>
                      <a:r>
                        <a:rPr lang="zh-CN" altLang="en-US" sz="8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换算后总分</a:t>
                      </a:r>
                      <a:endParaRPr lang="zh-CN" altLang="en-US" sz="8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89.21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93.63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90.84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88.17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94.59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85.53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99.94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91.14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94.51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98.50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97.41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94.94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94.15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96.72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6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95.78 </a:t>
                      </a:r>
                      <a:endParaRPr lang="en-US" altLang="zh-CN" sz="600" b="0" i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9429750" y="2152015"/>
          <a:ext cx="2532380" cy="4686300"/>
        </p:xfrm>
        <a:graphic>
          <a:graphicData uri="http://schemas.openxmlformats.org/drawingml/2006/table">
            <a:tbl>
              <a:tblPr/>
              <a:tblGrid>
                <a:gridCol w="744220"/>
                <a:gridCol w="1043940"/>
                <a:gridCol w="744220"/>
              </a:tblGrid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单位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得分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排名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沁阳</a:t>
                      </a:r>
                      <a:endParaRPr lang="zh-CN" altLang="en-US" sz="11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99.94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山马</a:t>
                      </a:r>
                      <a:endParaRPr lang="zh-CN" altLang="en-US" sz="11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96.72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FF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解中</a:t>
                      </a:r>
                      <a:endParaRPr lang="zh-CN" altLang="en-US" sz="1100" b="1" i="0">
                        <a:solidFill>
                          <a:srgbClr val="FF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95.78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博爱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94.59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温县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94.51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网络部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93.63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孟州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91.14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交付中心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90.84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网运中心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89.21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修武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88.17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0525">
                <a:tc>
                  <a:txBody>
                    <a:bodyPr/>
                    <a:p>
                      <a:pPr algn="ctr" fontAlgn="ctr"/>
                      <a:r>
                        <a:rPr lang="zh-CN" altLang="en-US" sz="11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武陟</a:t>
                      </a:r>
                      <a:endParaRPr lang="zh-CN" altLang="en-US" sz="11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85.53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2"/>
          <p:cNvSpPr txBox="1"/>
          <p:nvPr>
            <p:custDataLst>
              <p:tags r:id="rId1"/>
            </p:custDataLst>
          </p:nvPr>
        </p:nvSpPr>
        <p:spPr>
          <a:xfrm>
            <a:off x="1393825" y="261620"/>
            <a:ext cx="8423910" cy="50292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tx1"/>
                </a:solidFill>
                <a:latin typeface="Helvetica" pitchFamily="2" charset="0"/>
                <a:ea typeface="HYDaHeiJ" panose="0201060000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800" b="1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推荐结果</a:t>
            </a:r>
            <a:endParaRPr kumimoji="1" lang="zh-CN" altLang="en-US" sz="2800" b="1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>
            <a:hlinkClick r:id="rId2" action="ppaction://hlinksldjump"/>
          </p:cNvPr>
          <p:cNvSpPr txBox="1"/>
          <p:nvPr/>
        </p:nvSpPr>
        <p:spPr>
          <a:xfrm>
            <a:off x="491490" y="1544320"/>
            <a:ext cx="10555605" cy="31286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市场线：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马村、修武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、温县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政企线攻坚一：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马村、政企部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、企业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政企线攻坚二：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政要、孟州、解放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网络线：</a:t>
            </a:r>
            <a:r>
              <a:rPr lang="zh-CN" sz="20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沁阳、山马、解中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marR="0" lvl="1" indent="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None/>
              <a:defRPr/>
            </a:pPr>
            <a:endParaRPr lang="zh-CN" altLang="en-US" sz="20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marR="0" lvl="1" indent="-285750" algn="just" defTabSz="91376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0010"/>
              </a:buClr>
              <a:buSzTx/>
              <a:buFont typeface="Wingdings" panose="05000000000000000000" charset="0"/>
              <a:buChar char="p"/>
              <a:defRPr/>
            </a:pPr>
            <a:endParaRPr kumimoji="1" lang="zh-CN" altLang="en-US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128905"/>
            <a:ext cx="12236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6</a:t>
            </a:r>
            <a:endParaRPr 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2" name="对象 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7306945" y="35560"/>
          <a:ext cx="9715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" imgW="971550" imgH="800100" progId="Excel.Sheet.12">
                  <p:embed/>
                </p:oleObj>
              </mc:Choice>
              <mc:Fallback>
                <p:oleObj name="" showAsIcon="1" r:id="rId3" imgW="971550" imgH="800100" progId="Excel.Sheet.12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06945" y="35560"/>
                        <a:ext cx="97155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470785" y="2809240"/>
            <a:ext cx="7452995" cy="193738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noAutofit/>
          </a:bodyPr>
          <a:p>
            <a:pPr marL="0" indent="0" algn="ctr">
              <a:lnSpc>
                <a:spcPct val="150000"/>
              </a:lnSpc>
              <a:spcBef>
                <a:spcPts val="300"/>
              </a:spcBef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守正创新</a:t>
            </a:r>
            <a:r>
              <a:rPr lang="en-US" altLang="zh-CN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行稳致远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729,&quot;width&quot;:3946}"/>
</p:tagLst>
</file>

<file path=ppt/tags/tag2.xml><?xml version="1.0" encoding="utf-8"?>
<p:tagLst xmlns:p="http://schemas.openxmlformats.org/presentationml/2006/main">
  <p:tag name="KSO_WM_FULL_TEXT_BEAUTIFY_COPY_ID" val="8"/>
</p:tagLst>
</file>

<file path=ppt/tags/tag3.xml><?xml version="1.0" encoding="utf-8"?>
<p:tagLst xmlns:p="http://schemas.openxmlformats.org/presentationml/2006/main">
  <p:tag name="KSO_WM_FULL_TEXT_BEAUTIFY_COPY_ID" val="8"/>
</p:tagLst>
</file>

<file path=ppt/tags/tag4.xml><?xml version="1.0" encoding="utf-8"?>
<p:tagLst xmlns:p="http://schemas.openxmlformats.org/presentationml/2006/main">
  <p:tag name="KSO_WM_FULL_TEXT_BEAUTIFY_COPY_ID" val="8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FULL_TEXT_BEAUTIFY_COPY_ID" val="8"/>
</p:tagLst>
</file>

<file path=ppt/tags/tag25.xml><?xml version="1.0" encoding="utf-8"?>
<p:tagLst xmlns:p="http://schemas.openxmlformats.org/presentationml/2006/main">
  <p:tag name="KSO_WPP_MARK_KEY" val="f52ea893-6e4d-4e93-b2fc-1c30c87d03b5"/>
  <p:tag name="COMMONDATA" val="eyJoZGlkIjoiMWVjNmQxMjEzOTE2ZTJiMzNkNTZlYTE5Mjk4ZTM0ODMifQ=="/>
  <p:tag name="commondata" val="eyJoZGlkIjoiMzE3Y2M3ZjRjMGMzYTRmM2FjMTU4MDc5M2U2YWFlYTAifQ=="/>
</p:tagLst>
</file>

<file path=ppt/theme/theme1.xml><?xml version="1.0" encoding="utf-8"?>
<a:theme xmlns:a="http://schemas.openxmlformats.org/drawingml/2006/main" name="Office 主题​​">
  <a:themeElements>
    <a:clrScheme name="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00000"/>
        </a:solidFill>
        <a:ln>
          <a:noFill/>
        </a:ln>
      </a:spPr>
      <a:bodyPr wrap="square" anchor="ctr" anchorCtr="1">
        <a:noAutofit/>
      </a:bodyPr>
      <a:lstStyle>
        <a:defPPr algn="l" fontAlgn="b">
          <a:defRPr lang="en-US" altLang="zh-CN" sz="1600" b="1" dirty="0" smtClean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  <a:cs typeface="微软雅黑" panose="020B0503020204020204" pitchFamily="34" charset="-122"/>
          </a:defRPr>
        </a:defPPr>
      </a:lstStyle>
    </a:spDef>
    <a:txDef>
      <a:spPr>
        <a:noFill/>
        <a:ln>
          <a:noFill/>
          <a:prstDash val="dash"/>
        </a:ln>
      </a:spPr>
      <a:bodyPr wrap="square" rtlCol="0">
        <a:noAutofit/>
      </a:bodyPr>
      <a:lstStyle>
        <a:defPPr marL="0" indent="0">
          <a:lnSpc>
            <a:spcPct val="150000"/>
          </a:lnSpc>
          <a:spcBef>
            <a:spcPts val="300"/>
          </a:spcBef>
          <a:buClr>
            <a:srgbClr val="C00000"/>
          </a:buClr>
          <a:buSzTx/>
          <a:buFont typeface="Wingdings" panose="05000000000000000000" charset="0"/>
          <a:buNone/>
          <a:defRPr lang="zh-CN" altLang="en-US" sz="2000" b="1" dirty="0">
            <a:solidFill>
              <a:prstClr val="black"/>
            </a:solidFill>
            <a:latin typeface="微软雅黑" panose="020B0503020204020204" pitchFamily="34" charset="-122"/>
            <a:ea typeface="微软雅黑" panose="020B0503020204020204" pitchFamily="34" charset="-122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7609</Words>
  <Application>WPS 演示</Application>
  <PresentationFormat>宽屏</PresentationFormat>
  <Paragraphs>2618</Paragraphs>
  <Slides>9</Slides>
  <Notes>17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9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</vt:lpstr>
      <vt:lpstr>等线</vt:lpstr>
      <vt:lpstr>等线 Light</vt:lpstr>
      <vt:lpstr>楷体</vt:lpstr>
      <vt:lpstr>Helvetica</vt:lpstr>
      <vt:lpstr>汉仪大黑简</vt:lpstr>
      <vt:lpstr>黑体</vt:lpstr>
      <vt:lpstr>Times New Roman</vt:lpstr>
      <vt:lpstr>楷体_GB2312</vt:lpstr>
      <vt:lpstr>新宋体</vt:lpstr>
      <vt:lpstr>HYDaHeiJ</vt:lpstr>
      <vt:lpstr>Times New Roman</vt:lpstr>
      <vt:lpstr>Arial Unicode MS</vt:lpstr>
      <vt:lpstr>Office 主题​​</vt:lpstr>
      <vt:lpstr>Excel.Sheet.12</vt:lpstr>
      <vt:lpstr>Excel.Sheet.12</vt:lpstr>
      <vt:lpstr>Package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王宏宇</dc:creator>
  <cp:lastModifiedBy> </cp:lastModifiedBy>
  <cp:revision>2924</cp:revision>
  <dcterms:created xsi:type="dcterms:W3CDTF">2022-04-26T02:25:00Z</dcterms:created>
  <dcterms:modified xsi:type="dcterms:W3CDTF">2026-07-25T02:12:54Z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FA7469DA7C7C4108B95B25EA5A8100B2_13</vt:lpwstr>
  </property>
  <property fmtid="{D5CDD505-2E9C-101B-9397-08002B2CF9AE}" pid="3" name="KSOProductBuildVer">
    <vt:lpwstr>2052-12.1.0.24657</vt:lpwstr>
  </property>
</Properties>
</file>